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Problem and background" id="{e7333962-9f21-5047-d5da-48444515e902}">
          <p14:sldIdLst>
            <p14:sldId id="256"/>
            <p14:sldId id="257"/>
            <p14:sldId id="258"/>
            <p14:sldId id="259"/>
            <p14:sldId id="260"/>
          </p14:sldIdLst>
        </p14:section>
        <p14:section name="Part 2 · System and method" id="{58c0d495-e2b1-97fa-27c6-1e744d8b9dc8}">
          <p14:sldIdLst>
            <p14:sldId id="261"/>
            <p14:sldId id="262"/>
            <p14:sldId id="263"/>
          </p14:sldIdLst>
        </p14:section>
        <p14:section name="Part 3 · Results" id="{370fdd78-8a36-da80-7b10-1475e57765ad}">
          <p14:sldIdLst>
            <p14:sldId id="264"/>
            <p14:sldId id="265"/>
            <p14:sldId id="266"/>
            <p14:sldId id="267"/>
          </p14:sldIdLst>
        </p14:section>
        <p14:section name="Part 4 · Live system, demo and conclusion" id="{a8c2ce0a-139d-12e3-c271-a0b238e39c9f}">
          <p14:sldIdLst>
            <p14:sldId id="268"/>
            <p14:sldId id="269"/>
          </p14:sldIdLst>
        </p14:section>
        <p14:section name="Backup · Expected questions" id="{fef63dda-9bf5-4d08-afaf-8f1a870f6c19}">
          <p14:sldIdLst>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2"/>
          <c:y val="0.08"/>
          <c:w val="0.96"/>
          <c:h val="0.84"/>
        </c:manualLayout>
      </c:layout>
      <c:lineChart>
        <c:varyColors val="0"/>
        <c:ser>
          <c:idx val="0"/>
          <c:order val="0"/>
          <c:tx>
            <c:strRef>
              <c:f>Sheet1!$B$1</c:f>
              <c:strCache>
                <c:ptCount val="1"/>
                <c:pt idx="0">
                  <c:v>error</c:v>
                </c:pt>
              </c:strCache>
            </c:strRef>
          </c:tx>
          <c:spPr>
            <a:solidFill>
              <a:srgbClr val="5FA0EA"/>
            </a:solidFill>
            <a:ln w="19050" cap="flat">
              <a:solidFill>
                <a:srgbClr val="5FA0E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FA0EA"/>
              </a:solidFill>
              <a:ln w="9525" cap="flat">
                <a:solidFill>
                  <a:srgbClr val="5FA0EA"/>
                </a:solidFill>
                <a:prstDash val="solid"/>
                <a:round/>
              </a:ln>
              <a:effectLst/>
            </c:spPr>
          </c:marker>
          <c:cat>
            <c:multiLvlStrRef>
              <c:f>Sheet1!$A$2:$A$198</c:f>
              <c:multiLvlStrCache>
                <c:ptCount val="197"/>
                <c:lvl>
                  <c:pt idx="0">
                    <c:v>300</c:v>
                  </c:pt>
                  <c:pt idx="1">
                    <c:v>400</c:v>
                  </c:pt>
                  <c:pt idx="2">
                    <c:v>500</c:v>
                  </c:pt>
                  <c:pt idx="3">
                    <c:v>600</c:v>
                  </c:pt>
                  <c:pt idx="4">
                    <c:v>700</c:v>
                  </c:pt>
                  <c:pt idx="5">
                    <c:v>800</c:v>
                  </c:pt>
                  <c:pt idx="6">
                    <c:v>900</c:v>
                  </c:pt>
                  <c:pt idx="7">
                    <c:v>1000</c:v>
                  </c:pt>
                  <c:pt idx="8">
                    <c:v>1100</c:v>
                  </c:pt>
                  <c:pt idx="9">
                    <c:v>1200</c:v>
                  </c:pt>
                  <c:pt idx="10">
                    <c:v>1300</c:v>
                  </c:pt>
                  <c:pt idx="11">
                    <c:v>1400</c:v>
                  </c:pt>
                  <c:pt idx="12">
                    <c:v>1500</c:v>
                  </c:pt>
                  <c:pt idx="13">
                    <c:v>1600</c:v>
                  </c:pt>
                  <c:pt idx="14">
                    <c:v>1700</c:v>
                  </c:pt>
                  <c:pt idx="15">
                    <c:v>1800</c:v>
                  </c:pt>
                  <c:pt idx="16">
                    <c:v>1900</c:v>
                  </c:pt>
                  <c:pt idx="17">
                    <c:v>2000</c:v>
                  </c:pt>
                  <c:pt idx="18">
                    <c:v>2100</c:v>
                  </c:pt>
                  <c:pt idx="19">
                    <c:v>2200</c:v>
                  </c:pt>
                  <c:pt idx="20">
                    <c:v>2300</c:v>
                  </c:pt>
                  <c:pt idx="21">
                    <c:v>2400</c:v>
                  </c:pt>
                  <c:pt idx="22">
                    <c:v>2500</c:v>
                  </c:pt>
                  <c:pt idx="23">
                    <c:v>2600</c:v>
                  </c:pt>
                  <c:pt idx="24">
                    <c:v>2700</c:v>
                  </c:pt>
                  <c:pt idx="25">
                    <c:v>2800</c:v>
                  </c:pt>
                  <c:pt idx="26">
                    <c:v>2900</c:v>
                  </c:pt>
                  <c:pt idx="27">
                    <c:v>3000</c:v>
                  </c:pt>
                  <c:pt idx="28">
                    <c:v>3100</c:v>
                  </c:pt>
                  <c:pt idx="29">
                    <c:v>3200</c:v>
                  </c:pt>
                  <c:pt idx="30">
                    <c:v>3300</c:v>
                  </c:pt>
                  <c:pt idx="31">
                    <c:v>3400</c:v>
                  </c:pt>
                  <c:pt idx="32">
                    <c:v>3500</c:v>
                  </c:pt>
                  <c:pt idx="33">
                    <c:v>3600</c:v>
                  </c:pt>
                  <c:pt idx="34">
                    <c:v>3700</c:v>
                  </c:pt>
                  <c:pt idx="35">
                    <c:v>3800</c:v>
                  </c:pt>
                  <c:pt idx="36">
                    <c:v>3900</c:v>
                  </c:pt>
                  <c:pt idx="37">
                    <c:v>4000</c:v>
                  </c:pt>
                  <c:pt idx="38">
                    <c:v>4100</c:v>
                  </c:pt>
                  <c:pt idx="39">
                    <c:v>4200</c:v>
                  </c:pt>
                  <c:pt idx="40">
                    <c:v>4300</c:v>
                  </c:pt>
                  <c:pt idx="41">
                    <c:v>4400</c:v>
                  </c:pt>
                  <c:pt idx="42">
                    <c:v>4500</c:v>
                  </c:pt>
                  <c:pt idx="43">
                    <c:v>4600</c:v>
                  </c:pt>
                  <c:pt idx="44">
                    <c:v>4700</c:v>
                  </c:pt>
                  <c:pt idx="45">
                    <c:v>4800</c:v>
                  </c:pt>
                  <c:pt idx="46">
                    <c:v>4900</c:v>
                  </c:pt>
                  <c:pt idx="47">
                    <c:v>5000</c:v>
                  </c:pt>
                  <c:pt idx="48">
                    <c:v>5100</c:v>
                  </c:pt>
                  <c:pt idx="49">
                    <c:v>5200</c:v>
                  </c:pt>
                  <c:pt idx="50">
                    <c:v>5300</c:v>
                  </c:pt>
                  <c:pt idx="51">
                    <c:v>5400</c:v>
                  </c:pt>
                  <c:pt idx="52">
                    <c:v>5500</c:v>
                  </c:pt>
                  <c:pt idx="53">
                    <c:v>5600</c:v>
                  </c:pt>
                  <c:pt idx="54">
                    <c:v>5700</c:v>
                  </c:pt>
                  <c:pt idx="55">
                    <c:v>5800</c:v>
                  </c:pt>
                  <c:pt idx="56">
                    <c:v>5900</c:v>
                  </c:pt>
                  <c:pt idx="57">
                    <c:v>6000</c:v>
                  </c:pt>
                  <c:pt idx="58">
                    <c:v>6100</c:v>
                  </c:pt>
                  <c:pt idx="59">
                    <c:v>6200</c:v>
                  </c:pt>
                  <c:pt idx="60">
                    <c:v>6300</c:v>
                  </c:pt>
                  <c:pt idx="61">
                    <c:v>6400</c:v>
                  </c:pt>
                  <c:pt idx="62">
                    <c:v>6500</c:v>
                  </c:pt>
                  <c:pt idx="63">
                    <c:v>6600</c:v>
                  </c:pt>
                  <c:pt idx="64">
                    <c:v>6700</c:v>
                  </c:pt>
                  <c:pt idx="65">
                    <c:v>6800</c:v>
                  </c:pt>
                  <c:pt idx="66">
                    <c:v>6900</c:v>
                  </c:pt>
                  <c:pt idx="67">
                    <c:v>7000</c:v>
                  </c:pt>
                  <c:pt idx="68">
                    <c:v>7100</c:v>
                  </c:pt>
                  <c:pt idx="69">
                    <c:v>7200</c:v>
                  </c:pt>
                  <c:pt idx="70">
                    <c:v>7300</c:v>
                  </c:pt>
                  <c:pt idx="71">
                    <c:v>7400</c:v>
                  </c:pt>
                  <c:pt idx="72">
                    <c:v>7500</c:v>
                  </c:pt>
                  <c:pt idx="73">
                    <c:v>7600</c:v>
                  </c:pt>
                  <c:pt idx="74">
                    <c:v>7700</c:v>
                  </c:pt>
                  <c:pt idx="75">
                    <c:v>7800</c:v>
                  </c:pt>
                  <c:pt idx="76">
                    <c:v>7900</c:v>
                  </c:pt>
                  <c:pt idx="77">
                    <c:v>8000</c:v>
                  </c:pt>
                  <c:pt idx="78">
                    <c:v>8100</c:v>
                  </c:pt>
                  <c:pt idx="79">
                    <c:v>8200</c:v>
                  </c:pt>
                  <c:pt idx="80">
                    <c:v>8300</c:v>
                  </c:pt>
                  <c:pt idx="81">
                    <c:v>8400</c:v>
                  </c:pt>
                  <c:pt idx="82">
                    <c:v>8500</c:v>
                  </c:pt>
                  <c:pt idx="83">
                    <c:v>8600</c:v>
                  </c:pt>
                  <c:pt idx="84">
                    <c:v>8700</c:v>
                  </c:pt>
                  <c:pt idx="85">
                    <c:v>8800</c:v>
                  </c:pt>
                  <c:pt idx="86">
                    <c:v>8900</c:v>
                  </c:pt>
                  <c:pt idx="87">
                    <c:v>9000</c:v>
                  </c:pt>
                  <c:pt idx="88">
                    <c:v>9100</c:v>
                  </c:pt>
                  <c:pt idx="89">
                    <c:v>9200</c:v>
                  </c:pt>
                  <c:pt idx="90">
                    <c:v>9300</c:v>
                  </c:pt>
                  <c:pt idx="91">
                    <c:v>9400</c:v>
                  </c:pt>
                  <c:pt idx="92">
                    <c:v>9500</c:v>
                  </c:pt>
                  <c:pt idx="93">
                    <c:v>9600</c:v>
                  </c:pt>
                  <c:pt idx="94">
                    <c:v>9700</c:v>
                  </c:pt>
                  <c:pt idx="95">
                    <c:v>9800</c:v>
                  </c:pt>
                  <c:pt idx="96">
                    <c:v>9900</c:v>
                  </c:pt>
                  <c:pt idx="97">
                    <c:v>10000</c:v>
                  </c:pt>
                  <c:pt idx="98">
                    <c:v>10100</c:v>
                  </c:pt>
                  <c:pt idx="99">
                    <c:v>10200</c:v>
                  </c:pt>
                  <c:pt idx="100">
                    <c:v>10300</c:v>
                  </c:pt>
                  <c:pt idx="101">
                    <c:v>10400</c:v>
                  </c:pt>
                  <c:pt idx="102">
                    <c:v>10500</c:v>
                  </c:pt>
                  <c:pt idx="103">
                    <c:v>10600</c:v>
                  </c:pt>
                  <c:pt idx="104">
                    <c:v>10700</c:v>
                  </c:pt>
                  <c:pt idx="105">
                    <c:v>10800</c:v>
                  </c:pt>
                  <c:pt idx="106">
                    <c:v>10900</c:v>
                  </c:pt>
                  <c:pt idx="107">
                    <c:v>11000</c:v>
                  </c:pt>
                  <c:pt idx="108">
                    <c:v>11100</c:v>
                  </c:pt>
                  <c:pt idx="109">
                    <c:v>11200</c:v>
                  </c:pt>
                  <c:pt idx="110">
                    <c:v>11300</c:v>
                  </c:pt>
                  <c:pt idx="111">
                    <c:v>11400</c:v>
                  </c:pt>
                  <c:pt idx="112">
                    <c:v>11500</c:v>
                  </c:pt>
                  <c:pt idx="113">
                    <c:v>11600</c:v>
                  </c:pt>
                  <c:pt idx="114">
                    <c:v>11700</c:v>
                  </c:pt>
                  <c:pt idx="115">
                    <c:v>11800</c:v>
                  </c:pt>
                  <c:pt idx="116">
                    <c:v>11900</c:v>
                  </c:pt>
                  <c:pt idx="117">
                    <c:v>12000</c:v>
                  </c:pt>
                  <c:pt idx="118">
                    <c:v>12100</c:v>
                  </c:pt>
                  <c:pt idx="119">
                    <c:v>12200</c:v>
                  </c:pt>
                  <c:pt idx="120">
                    <c:v>12300</c:v>
                  </c:pt>
                  <c:pt idx="121">
                    <c:v>12400</c:v>
                  </c:pt>
                  <c:pt idx="122">
                    <c:v>12500</c:v>
                  </c:pt>
                  <c:pt idx="123">
                    <c:v>12600</c:v>
                  </c:pt>
                  <c:pt idx="124">
                    <c:v>12700</c:v>
                  </c:pt>
                  <c:pt idx="125">
                    <c:v>12800</c:v>
                  </c:pt>
                  <c:pt idx="126">
                    <c:v>12900</c:v>
                  </c:pt>
                  <c:pt idx="127">
                    <c:v>13000</c:v>
                  </c:pt>
                  <c:pt idx="128">
                    <c:v>13100</c:v>
                  </c:pt>
                  <c:pt idx="129">
                    <c:v>13200</c:v>
                  </c:pt>
                  <c:pt idx="130">
                    <c:v>13300</c:v>
                  </c:pt>
                  <c:pt idx="131">
                    <c:v>13400</c:v>
                  </c:pt>
                  <c:pt idx="132">
                    <c:v>13500</c:v>
                  </c:pt>
                  <c:pt idx="133">
                    <c:v>13600</c:v>
                  </c:pt>
                  <c:pt idx="134">
                    <c:v>13700</c:v>
                  </c:pt>
                  <c:pt idx="135">
                    <c:v>13800</c:v>
                  </c:pt>
                  <c:pt idx="136">
                    <c:v>13900</c:v>
                  </c:pt>
                  <c:pt idx="137">
                    <c:v>14000</c:v>
                  </c:pt>
                  <c:pt idx="138">
                    <c:v>14100</c:v>
                  </c:pt>
                  <c:pt idx="139">
                    <c:v>14200</c:v>
                  </c:pt>
                  <c:pt idx="140">
                    <c:v>14300</c:v>
                  </c:pt>
                  <c:pt idx="141">
                    <c:v>14400</c:v>
                  </c:pt>
                  <c:pt idx="142">
                    <c:v>14500</c:v>
                  </c:pt>
                  <c:pt idx="143">
                    <c:v>14600</c:v>
                  </c:pt>
                  <c:pt idx="144">
                    <c:v>14700</c:v>
                  </c:pt>
                  <c:pt idx="145">
                    <c:v>14800</c:v>
                  </c:pt>
                  <c:pt idx="146">
                    <c:v>14900</c:v>
                  </c:pt>
                  <c:pt idx="147">
                    <c:v>15000</c:v>
                  </c:pt>
                  <c:pt idx="148">
                    <c:v>15100</c:v>
                  </c:pt>
                  <c:pt idx="149">
                    <c:v>15200</c:v>
                  </c:pt>
                  <c:pt idx="150">
                    <c:v>15300</c:v>
                  </c:pt>
                  <c:pt idx="151">
                    <c:v>15400</c:v>
                  </c:pt>
                  <c:pt idx="152">
                    <c:v>15500</c:v>
                  </c:pt>
                  <c:pt idx="153">
                    <c:v>15600</c:v>
                  </c:pt>
                  <c:pt idx="154">
                    <c:v>15700</c:v>
                  </c:pt>
                  <c:pt idx="155">
                    <c:v>15800</c:v>
                  </c:pt>
                  <c:pt idx="156">
                    <c:v>15900</c:v>
                  </c:pt>
                  <c:pt idx="157">
                    <c:v>16000</c:v>
                  </c:pt>
                  <c:pt idx="158">
                    <c:v>16100</c:v>
                  </c:pt>
                  <c:pt idx="159">
                    <c:v>16200</c:v>
                  </c:pt>
                  <c:pt idx="160">
                    <c:v>16300</c:v>
                  </c:pt>
                  <c:pt idx="161">
                    <c:v>16400</c:v>
                  </c:pt>
                  <c:pt idx="162">
                    <c:v>16500</c:v>
                  </c:pt>
                  <c:pt idx="163">
                    <c:v>16600</c:v>
                  </c:pt>
                  <c:pt idx="164">
                    <c:v>16700</c:v>
                  </c:pt>
                  <c:pt idx="165">
                    <c:v>16800</c:v>
                  </c:pt>
                  <c:pt idx="166">
                    <c:v>16900</c:v>
                  </c:pt>
                  <c:pt idx="167">
                    <c:v>17000</c:v>
                  </c:pt>
                  <c:pt idx="168">
                    <c:v>17100</c:v>
                  </c:pt>
                  <c:pt idx="169">
                    <c:v>17200</c:v>
                  </c:pt>
                  <c:pt idx="170">
                    <c:v>17300</c:v>
                  </c:pt>
                  <c:pt idx="171">
                    <c:v>17400</c:v>
                  </c:pt>
                  <c:pt idx="172">
                    <c:v>17500</c:v>
                  </c:pt>
                  <c:pt idx="173">
                    <c:v>17600</c:v>
                  </c:pt>
                  <c:pt idx="174">
                    <c:v>17700</c:v>
                  </c:pt>
                  <c:pt idx="175">
                    <c:v>17800</c:v>
                  </c:pt>
                  <c:pt idx="176">
                    <c:v>17900</c:v>
                  </c:pt>
                  <c:pt idx="177">
                    <c:v>18000</c:v>
                  </c:pt>
                  <c:pt idx="178">
                    <c:v>18100</c:v>
                  </c:pt>
                  <c:pt idx="179">
                    <c:v>18200</c:v>
                  </c:pt>
                  <c:pt idx="180">
                    <c:v>18300</c:v>
                  </c:pt>
                  <c:pt idx="181">
                    <c:v>18400</c:v>
                  </c:pt>
                  <c:pt idx="182">
                    <c:v>18500</c:v>
                  </c:pt>
                  <c:pt idx="183">
                    <c:v>18600</c:v>
                  </c:pt>
                  <c:pt idx="184">
                    <c:v>18700</c:v>
                  </c:pt>
                  <c:pt idx="185">
                    <c:v>18800</c:v>
                  </c:pt>
                  <c:pt idx="186">
                    <c:v>18900</c:v>
                  </c:pt>
                  <c:pt idx="187">
                    <c:v>19000</c:v>
                  </c:pt>
                  <c:pt idx="188">
                    <c:v>19100</c:v>
                  </c:pt>
                  <c:pt idx="189">
                    <c:v>19200</c:v>
                  </c:pt>
                  <c:pt idx="190">
                    <c:v>19300</c:v>
                  </c:pt>
                  <c:pt idx="191">
                    <c:v>19400</c:v>
                  </c:pt>
                  <c:pt idx="192">
                    <c:v>19500</c:v>
                  </c:pt>
                  <c:pt idx="193">
                    <c:v>19600</c:v>
                  </c:pt>
                  <c:pt idx="194">
                    <c:v>19700</c:v>
                  </c:pt>
                  <c:pt idx="195">
                    <c:v>19800</c:v>
                  </c:pt>
                  <c:pt idx="196">
                    <c:v>19900</c:v>
                  </c:pt>
                </c:lvl>
              </c:multiLvlStrCache>
            </c:multiLvlStrRef>
          </c:cat>
          <c:val>
            <c:numRef>
              <c:f>Sheet1!$B$2:$B$198</c:f>
              <c:numCache>
                <c:formatCode>General</c:formatCode>
                <c:ptCount val="197"/>
                <c:pt idx="0">
                  <c:v>0.1894</c:v>
                </c:pt>
                <c:pt idx="1">
                  <c:v>0.1471</c:v>
                </c:pt>
                <c:pt idx="2">
                  <c:v>0.136</c:v>
                </c:pt>
                <c:pt idx="3">
                  <c:v>0.078</c:v>
                </c:pt>
                <c:pt idx="4">
                  <c:v>0.076</c:v>
                </c:pt>
                <c:pt idx="5">
                  <c:v>0.066</c:v>
                </c:pt>
                <c:pt idx="6">
                  <c:v>0.078</c:v>
                </c:pt>
                <c:pt idx="7">
                  <c:v>0.066</c:v>
                </c:pt>
                <c:pt idx="8">
                  <c:v>0.062</c:v>
                </c:pt>
                <c:pt idx="9">
                  <c:v>0.054</c:v>
                </c:pt>
                <c:pt idx="10">
                  <c:v>0.044</c:v>
                </c:pt>
                <c:pt idx="11">
                  <c:v>0.038</c:v>
                </c:pt>
                <c:pt idx="12">
                  <c:v>0.044</c:v>
                </c:pt>
                <c:pt idx="13">
                  <c:v>0.048</c:v>
                </c:pt>
                <c:pt idx="14">
                  <c:v>0.046</c:v>
                </c:pt>
                <c:pt idx="15">
                  <c:v>0.052</c:v>
                </c:pt>
                <c:pt idx="16">
                  <c:v>0.046</c:v>
                </c:pt>
                <c:pt idx="17">
                  <c:v>0.044</c:v>
                </c:pt>
                <c:pt idx="18">
                  <c:v>0.054</c:v>
                </c:pt>
                <c:pt idx="19">
                  <c:v>0.052</c:v>
                </c:pt>
                <c:pt idx="20">
                  <c:v>0.048</c:v>
                </c:pt>
                <c:pt idx="21">
                  <c:v>0.052</c:v>
                </c:pt>
                <c:pt idx="22">
                  <c:v>0.06</c:v>
                </c:pt>
                <c:pt idx="23">
                  <c:v>0.084</c:v>
                </c:pt>
                <c:pt idx="24">
                  <c:v>0.104</c:v>
                </c:pt>
                <c:pt idx="25">
                  <c:v>0.126</c:v>
                </c:pt>
                <c:pt idx="26">
                  <c:v>0.138</c:v>
                </c:pt>
                <c:pt idx="27">
                  <c:v>0.146</c:v>
                </c:pt>
                <c:pt idx="28">
                  <c:v>0.126</c:v>
                </c:pt>
                <c:pt idx="29">
                  <c:v>0.114</c:v>
                </c:pt>
                <c:pt idx="30">
                  <c:v>0.102</c:v>
                </c:pt>
                <c:pt idx="31">
                  <c:v>0.104</c:v>
                </c:pt>
                <c:pt idx="32">
                  <c:v>0.092</c:v>
                </c:pt>
                <c:pt idx="33">
                  <c:v>0.088</c:v>
                </c:pt>
                <c:pt idx="34">
                  <c:v>0.086</c:v>
                </c:pt>
                <c:pt idx="35">
                  <c:v>0.088</c:v>
                </c:pt>
                <c:pt idx="36">
                  <c:v>0.078</c:v>
                </c:pt>
                <c:pt idx="37">
                  <c:v>0.076</c:v>
                </c:pt>
                <c:pt idx="38">
                  <c:v>0.066</c:v>
                </c:pt>
                <c:pt idx="39">
                  <c:v>0.06</c:v>
                </c:pt>
                <c:pt idx="40">
                  <c:v>0.052</c:v>
                </c:pt>
                <c:pt idx="41">
                  <c:v>0.044</c:v>
                </c:pt>
                <c:pt idx="42">
                  <c:v>0.046</c:v>
                </c:pt>
                <c:pt idx="43">
                  <c:v>0.052</c:v>
                </c:pt>
                <c:pt idx="44">
                  <c:v>0.052</c:v>
                </c:pt>
                <c:pt idx="45">
                  <c:v>0.05</c:v>
                </c:pt>
                <c:pt idx="46">
                  <c:v>0.054</c:v>
                </c:pt>
                <c:pt idx="47">
                  <c:v>0.052</c:v>
                </c:pt>
                <c:pt idx="48">
                  <c:v>0.098</c:v>
                </c:pt>
                <c:pt idx="49">
                  <c:v>0.11</c:v>
                </c:pt>
                <c:pt idx="50">
                  <c:v>0.122</c:v>
                </c:pt>
                <c:pt idx="51">
                  <c:v>0.126</c:v>
                </c:pt>
                <c:pt idx="52">
                  <c:v>0.124</c:v>
                </c:pt>
                <c:pt idx="53">
                  <c:v>0.08</c:v>
                </c:pt>
                <c:pt idx="54">
                  <c:v>0.072</c:v>
                </c:pt>
                <c:pt idx="55">
                  <c:v>0.062</c:v>
                </c:pt>
                <c:pt idx="56">
                  <c:v>0.074</c:v>
                </c:pt>
                <c:pt idx="57">
                  <c:v>0.09</c:v>
                </c:pt>
                <c:pt idx="58">
                  <c:v>0.1</c:v>
                </c:pt>
                <c:pt idx="59">
                  <c:v>0.116</c:v>
                </c:pt>
                <c:pt idx="60">
                  <c:v>0.138</c:v>
                </c:pt>
                <c:pt idx="61">
                  <c:v>0.134</c:v>
                </c:pt>
                <c:pt idx="62">
                  <c:v>0.13</c:v>
                </c:pt>
                <c:pt idx="63">
                  <c:v>0.136</c:v>
                </c:pt>
                <c:pt idx="64">
                  <c:v>0.134</c:v>
                </c:pt>
                <c:pt idx="65">
                  <c:v>0.13</c:v>
                </c:pt>
                <c:pt idx="66">
                  <c:v>0.14</c:v>
                </c:pt>
                <c:pt idx="67">
                  <c:v>0.138</c:v>
                </c:pt>
                <c:pt idx="68">
                  <c:v>0.114</c:v>
                </c:pt>
                <c:pt idx="69">
                  <c:v>0.106</c:v>
                </c:pt>
                <c:pt idx="70">
                  <c:v>0.098</c:v>
                </c:pt>
                <c:pt idx="71">
                  <c:v>0.092</c:v>
                </c:pt>
                <c:pt idx="72">
                  <c:v>0.086</c:v>
                </c:pt>
                <c:pt idx="73">
                  <c:v>0.088</c:v>
                </c:pt>
                <c:pt idx="74">
                  <c:v>0.088</c:v>
                </c:pt>
                <c:pt idx="75">
                  <c:v>0.096</c:v>
                </c:pt>
                <c:pt idx="76">
                  <c:v>0.086</c:v>
                </c:pt>
                <c:pt idx="77">
                  <c:v>0.076</c:v>
                </c:pt>
                <c:pt idx="78">
                  <c:v>0.084</c:v>
                </c:pt>
                <c:pt idx="79">
                  <c:v>0.084</c:v>
                </c:pt>
                <c:pt idx="80">
                  <c:v>0.068</c:v>
                </c:pt>
                <c:pt idx="81">
                  <c:v>0.076</c:v>
                </c:pt>
                <c:pt idx="82">
                  <c:v>0.09</c:v>
                </c:pt>
                <c:pt idx="83">
                  <c:v>0.098</c:v>
                </c:pt>
                <c:pt idx="84">
                  <c:v>0.098</c:v>
                </c:pt>
                <c:pt idx="85">
                  <c:v>0.1</c:v>
                </c:pt>
                <c:pt idx="86">
                  <c:v>0.104</c:v>
                </c:pt>
                <c:pt idx="87">
                  <c:v>0.102</c:v>
                </c:pt>
                <c:pt idx="88">
                  <c:v>0.088</c:v>
                </c:pt>
                <c:pt idx="89">
                  <c:v>0.1</c:v>
                </c:pt>
                <c:pt idx="90">
                  <c:v>0.108</c:v>
                </c:pt>
                <c:pt idx="91">
                  <c:v>0.09</c:v>
                </c:pt>
                <c:pt idx="92">
                  <c:v>0.09</c:v>
                </c:pt>
                <c:pt idx="93">
                  <c:v>0.098</c:v>
                </c:pt>
                <c:pt idx="94">
                  <c:v>0.082</c:v>
                </c:pt>
                <c:pt idx="95">
                  <c:v>0.078</c:v>
                </c:pt>
                <c:pt idx="96">
                  <c:v>0.086</c:v>
                </c:pt>
                <c:pt idx="97">
                  <c:v>0.074</c:v>
                </c:pt>
                <c:pt idx="98">
                  <c:v>0.108</c:v>
                </c:pt>
                <c:pt idx="99">
                  <c:v>0.122</c:v>
                </c:pt>
                <c:pt idx="100">
                  <c:v>0.132</c:v>
                </c:pt>
                <c:pt idx="101">
                  <c:v>0.134</c:v>
                </c:pt>
                <c:pt idx="102">
                  <c:v>0.162</c:v>
                </c:pt>
                <c:pt idx="103">
                  <c:v>0.158</c:v>
                </c:pt>
                <c:pt idx="104">
                  <c:v>0.152</c:v>
                </c:pt>
                <c:pt idx="105">
                  <c:v>0.158</c:v>
                </c:pt>
                <c:pt idx="106">
                  <c:v>0.156</c:v>
                </c:pt>
                <c:pt idx="107">
                  <c:v>0.154</c:v>
                </c:pt>
                <c:pt idx="108">
                  <c:v>0.13</c:v>
                </c:pt>
                <c:pt idx="109">
                  <c:v>0.136</c:v>
                </c:pt>
                <c:pt idx="110">
                  <c:v>0.142</c:v>
                </c:pt>
                <c:pt idx="111">
                  <c:v>0.148</c:v>
                </c:pt>
                <c:pt idx="112">
                  <c:v>0.134</c:v>
                </c:pt>
                <c:pt idx="113">
                  <c:v>0.124</c:v>
                </c:pt>
                <c:pt idx="114">
                  <c:v>0.114</c:v>
                </c:pt>
                <c:pt idx="115">
                  <c:v>0.094</c:v>
                </c:pt>
                <c:pt idx="116">
                  <c:v>0.096</c:v>
                </c:pt>
                <c:pt idx="117">
                  <c:v>0.092</c:v>
                </c:pt>
                <c:pt idx="118">
                  <c:v>0.092</c:v>
                </c:pt>
                <c:pt idx="119">
                  <c:v>0.1</c:v>
                </c:pt>
                <c:pt idx="120">
                  <c:v>0.094</c:v>
                </c:pt>
                <c:pt idx="121">
                  <c:v>0.09</c:v>
                </c:pt>
                <c:pt idx="122">
                  <c:v>0.102</c:v>
                </c:pt>
                <c:pt idx="123">
                  <c:v>0.098</c:v>
                </c:pt>
                <c:pt idx="124">
                  <c:v>0.086</c:v>
                </c:pt>
                <c:pt idx="125">
                  <c:v>0.104</c:v>
                </c:pt>
                <c:pt idx="126">
                  <c:v>0.104</c:v>
                </c:pt>
                <c:pt idx="127">
                  <c:v>0.094</c:v>
                </c:pt>
                <c:pt idx="128">
                  <c:v>0.106</c:v>
                </c:pt>
                <c:pt idx="129">
                  <c:v>0.108</c:v>
                </c:pt>
                <c:pt idx="130">
                  <c:v>0.09</c:v>
                </c:pt>
                <c:pt idx="131">
                  <c:v>0.09</c:v>
                </c:pt>
                <c:pt idx="132">
                  <c:v>0.09</c:v>
                </c:pt>
                <c:pt idx="133">
                  <c:v>0.08</c:v>
                </c:pt>
                <c:pt idx="134">
                  <c:v>0.076</c:v>
                </c:pt>
                <c:pt idx="135">
                  <c:v>0.08</c:v>
                </c:pt>
                <c:pt idx="136">
                  <c:v>0.082</c:v>
                </c:pt>
                <c:pt idx="137">
                  <c:v>0.08</c:v>
                </c:pt>
                <c:pt idx="138">
                  <c:v>0.096</c:v>
                </c:pt>
                <c:pt idx="139">
                  <c:v>0.094</c:v>
                </c:pt>
                <c:pt idx="140">
                  <c:v>0.09</c:v>
                </c:pt>
                <c:pt idx="141">
                  <c:v>0.094</c:v>
                </c:pt>
                <c:pt idx="142">
                  <c:v>0.09</c:v>
                </c:pt>
                <c:pt idx="143">
                  <c:v>0.082</c:v>
                </c:pt>
                <c:pt idx="144">
                  <c:v>0.102</c:v>
                </c:pt>
                <c:pt idx="145">
                  <c:v>0.116</c:v>
                </c:pt>
                <c:pt idx="146">
                  <c:v>0.118</c:v>
                </c:pt>
                <c:pt idx="147">
                  <c:v>0.13</c:v>
                </c:pt>
                <c:pt idx="148">
                  <c:v>0.146</c:v>
                </c:pt>
                <c:pt idx="149">
                  <c:v>0.158</c:v>
                </c:pt>
                <c:pt idx="150">
                  <c:v>0.19</c:v>
                </c:pt>
                <c:pt idx="151">
                  <c:v>0.234</c:v>
                </c:pt>
                <c:pt idx="152">
                  <c:v>0.262</c:v>
                </c:pt>
                <c:pt idx="153">
                  <c:v>0.272</c:v>
                </c:pt>
                <c:pt idx="154">
                  <c:v>0.264</c:v>
                </c:pt>
                <c:pt idx="155">
                  <c:v>0.242</c:v>
                </c:pt>
                <c:pt idx="156">
                  <c:v>0.21</c:v>
                </c:pt>
                <c:pt idx="157">
                  <c:v>0.198</c:v>
                </c:pt>
                <c:pt idx="158">
                  <c:v>0.202</c:v>
                </c:pt>
                <c:pt idx="159">
                  <c:v>0.182</c:v>
                </c:pt>
                <c:pt idx="160">
                  <c:v>0.196</c:v>
                </c:pt>
                <c:pt idx="161">
                  <c:v>0.182</c:v>
                </c:pt>
                <c:pt idx="162">
                  <c:v>0.184</c:v>
                </c:pt>
                <c:pt idx="163">
                  <c:v>0.154</c:v>
                </c:pt>
                <c:pt idx="164">
                  <c:v>0.168</c:v>
                </c:pt>
                <c:pt idx="165">
                  <c:v>0.14</c:v>
                </c:pt>
                <c:pt idx="166">
                  <c:v>0.126</c:v>
                </c:pt>
                <c:pt idx="167">
                  <c:v>0.11</c:v>
                </c:pt>
                <c:pt idx="168">
                  <c:v>0.112</c:v>
                </c:pt>
                <c:pt idx="169">
                  <c:v>0.112</c:v>
                </c:pt>
                <c:pt idx="170">
                  <c:v>0.118</c:v>
                </c:pt>
                <c:pt idx="171">
                  <c:v>0.128</c:v>
                </c:pt>
                <c:pt idx="172">
                  <c:v>0.136</c:v>
                </c:pt>
                <c:pt idx="173">
                  <c:v>0.13</c:v>
                </c:pt>
                <c:pt idx="174">
                  <c:v>0.116</c:v>
                </c:pt>
                <c:pt idx="175">
                  <c:v>0.11</c:v>
                </c:pt>
                <c:pt idx="176">
                  <c:v>0.13</c:v>
                </c:pt>
                <c:pt idx="177">
                  <c:v>0.138</c:v>
                </c:pt>
                <c:pt idx="178">
                  <c:v>0.154</c:v>
                </c:pt>
                <c:pt idx="179">
                  <c:v>0.172</c:v>
                </c:pt>
                <c:pt idx="180">
                  <c:v>0.188</c:v>
                </c:pt>
                <c:pt idx="181">
                  <c:v>0.176</c:v>
                </c:pt>
                <c:pt idx="182">
                  <c:v>0.16</c:v>
                </c:pt>
                <c:pt idx="183">
                  <c:v>0.158</c:v>
                </c:pt>
                <c:pt idx="184">
                  <c:v>0.156</c:v>
                </c:pt>
                <c:pt idx="185">
                  <c:v>0.144</c:v>
                </c:pt>
                <c:pt idx="186">
                  <c:v>0.156</c:v>
                </c:pt>
                <c:pt idx="187">
                  <c:v>0.154</c:v>
                </c:pt>
                <c:pt idx="188">
                  <c:v>0.15</c:v>
                </c:pt>
                <c:pt idx="189">
                  <c:v>0.138</c:v>
                </c:pt>
                <c:pt idx="190">
                  <c:v>0.126</c:v>
                </c:pt>
                <c:pt idx="191">
                  <c:v>0.11</c:v>
                </c:pt>
                <c:pt idx="192">
                  <c:v>0.104</c:v>
                </c:pt>
                <c:pt idx="193">
                  <c:v>0.108</c:v>
                </c:pt>
                <c:pt idx="194">
                  <c:v>0.11</c:v>
                </c:pt>
                <c:pt idx="195">
                  <c:v>0.106</c:v>
                </c:pt>
                <c:pt idx="196">
                  <c:v>0.096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
          <c:min val="0"/>
        </c:scaling>
        <c:delete val="1"/>
        <c:axPos val="l"/>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solidFill>
          <a:srgbClr val="1B2127"/>
        </a:solidFill>
        <a:ln>
          <a:noFill/>
        </a:ln>
        <a:effectLst/>
      </c:spPr>
    </c:plotArea>
    <c:plotVisOnly val="1"/>
    <c:dispBlanksAs val="span"/>
  </c:chart>
  <c:spPr>
    <a:solidFill>
      <a:srgbClr val="1B212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9"/>
          <c:y val="0.04"/>
          <c:w val="0.89"/>
          <c:h val="0.86"/>
        </c:manualLayout>
      </c:layout>
      <c:lineChart>
        <c:varyColors val="0"/>
        <c:ser>
          <c:idx val="0"/>
          <c:order val="0"/>
          <c:tx>
            <c:strRef>
              <c:f>Sheet1!$B$1</c:f>
              <c:strCache>
                <c:ptCount val="1"/>
                <c:pt idx="0">
                  <c:v>Static</c:v>
                </c:pt>
              </c:strCache>
            </c:strRef>
          </c:tx>
          <c:spPr>
            <a:solidFill>
              <a:srgbClr val="52514E"/>
            </a:solidFill>
            <a:ln w="25400" cap="flat">
              <a:solidFill>
                <a:srgbClr val="5251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2514E"/>
              </a:solidFill>
              <a:ln w="9525" cap="flat">
                <a:solidFill>
                  <a:srgbClr val="52514E"/>
                </a:solidFill>
                <a:prstDash val="solid"/>
                <a:round/>
              </a:ln>
              <a:effectLst/>
            </c:spPr>
          </c:marker>
          <c:cat>
            <c:multiLvlStrRef>
              <c:f>Sheet1!$A$2:$A$265</c:f>
              <c:multiLvlStrCache>
                <c:ptCount val="264"/>
                <c:lvl>
                  <c:pt idx="0">
                    <c:v>1000</c:v>
                  </c:pt>
                  <c:pt idx="1">
                    <c:v>1050</c:v>
                  </c:pt>
                  <c:pt idx="2">
                    <c:v>1100</c:v>
                  </c:pt>
                  <c:pt idx="3">
                    <c:v>1150</c:v>
                  </c:pt>
                  <c:pt idx="4">
                    <c:v>1200</c:v>
                  </c:pt>
                  <c:pt idx="5">
                    <c:v>1250</c:v>
                  </c:pt>
                  <c:pt idx="6">
                    <c:v>1300</c:v>
                  </c:pt>
                  <c:pt idx="7">
                    <c:v>1350</c:v>
                  </c:pt>
                  <c:pt idx="8">
                    <c:v>1400</c:v>
                  </c:pt>
                  <c:pt idx="9">
                    <c:v>1450</c:v>
                  </c:pt>
                  <c:pt idx="10">
                    <c:v>1500</c:v>
                  </c:pt>
                  <c:pt idx="11">
                    <c:v>1550</c:v>
                  </c:pt>
                  <c:pt idx="12">
                    <c:v>1600</c:v>
                  </c:pt>
                  <c:pt idx="13">
                    <c:v>1650</c:v>
                  </c:pt>
                  <c:pt idx="14">
                    <c:v>1700</c:v>
                  </c:pt>
                  <c:pt idx="15">
                    <c:v>1750</c:v>
                  </c:pt>
                  <c:pt idx="16">
                    <c:v>1800</c:v>
                  </c:pt>
                  <c:pt idx="17">
                    <c:v>1850</c:v>
                  </c:pt>
                  <c:pt idx="18">
                    <c:v>1900</c:v>
                  </c:pt>
                  <c:pt idx="19">
                    <c:v>1950</c:v>
                  </c:pt>
                  <c:pt idx="20">
                    <c:v>2000</c:v>
                  </c:pt>
                  <c:pt idx="21">
                    <c:v>2050</c:v>
                  </c:pt>
                  <c:pt idx="22">
                    <c:v>2100</c:v>
                  </c:pt>
                  <c:pt idx="23">
                    <c:v>2150</c:v>
                  </c:pt>
                  <c:pt idx="24">
                    <c:v>2200</c:v>
                  </c:pt>
                  <c:pt idx="25">
                    <c:v>2250</c:v>
                  </c:pt>
                  <c:pt idx="26">
                    <c:v>2300</c:v>
                  </c:pt>
                  <c:pt idx="27">
                    <c:v>2350</c:v>
                  </c:pt>
                  <c:pt idx="28">
                    <c:v>2400</c:v>
                  </c:pt>
                  <c:pt idx="29">
                    <c:v>2450</c:v>
                  </c:pt>
                  <c:pt idx="30">
                    <c:v>2500</c:v>
                  </c:pt>
                  <c:pt idx="31">
                    <c:v>2550</c:v>
                  </c:pt>
                  <c:pt idx="32">
                    <c:v>2600</c:v>
                  </c:pt>
                  <c:pt idx="33">
                    <c:v>2650</c:v>
                  </c:pt>
                  <c:pt idx="34">
                    <c:v>2700</c:v>
                  </c:pt>
                  <c:pt idx="35">
                    <c:v>2750</c:v>
                  </c:pt>
                  <c:pt idx="36">
                    <c:v>2800</c:v>
                  </c:pt>
                  <c:pt idx="37">
                    <c:v>2850</c:v>
                  </c:pt>
                  <c:pt idx="38">
                    <c:v>2900</c:v>
                  </c:pt>
                  <c:pt idx="39">
                    <c:v>2950</c:v>
                  </c:pt>
                  <c:pt idx="40">
                    <c:v>3000</c:v>
                  </c:pt>
                  <c:pt idx="41">
                    <c:v>3050</c:v>
                  </c:pt>
                  <c:pt idx="42">
                    <c:v>3100</c:v>
                  </c:pt>
                  <c:pt idx="43">
                    <c:v>3150</c:v>
                  </c:pt>
                  <c:pt idx="44">
                    <c:v>3200</c:v>
                  </c:pt>
                  <c:pt idx="45">
                    <c:v>3250</c:v>
                  </c:pt>
                  <c:pt idx="46">
                    <c:v>3300</c:v>
                  </c:pt>
                  <c:pt idx="47">
                    <c:v>3350</c:v>
                  </c:pt>
                  <c:pt idx="48">
                    <c:v>3400</c:v>
                  </c:pt>
                  <c:pt idx="49">
                    <c:v>3450</c:v>
                  </c:pt>
                  <c:pt idx="50">
                    <c:v>3500</c:v>
                  </c:pt>
                  <c:pt idx="51">
                    <c:v>3550</c:v>
                  </c:pt>
                  <c:pt idx="52">
                    <c:v>3600</c:v>
                  </c:pt>
                  <c:pt idx="53">
                    <c:v>3650</c:v>
                  </c:pt>
                  <c:pt idx="54">
                    <c:v>3700</c:v>
                  </c:pt>
                  <c:pt idx="55">
                    <c:v>3750</c:v>
                  </c:pt>
                  <c:pt idx="56">
                    <c:v>3800</c:v>
                  </c:pt>
                  <c:pt idx="57">
                    <c:v>3850</c:v>
                  </c:pt>
                  <c:pt idx="58">
                    <c:v>3900</c:v>
                  </c:pt>
                  <c:pt idx="59">
                    <c:v>3950</c:v>
                  </c:pt>
                  <c:pt idx="60">
                    <c:v>4000</c:v>
                  </c:pt>
                  <c:pt idx="61">
                    <c:v>4050</c:v>
                  </c:pt>
                  <c:pt idx="62">
                    <c:v>4100</c:v>
                  </c:pt>
                  <c:pt idx="63">
                    <c:v>4150</c:v>
                  </c:pt>
                  <c:pt idx="64">
                    <c:v>4200</c:v>
                  </c:pt>
                  <c:pt idx="65">
                    <c:v>4250</c:v>
                  </c:pt>
                  <c:pt idx="66">
                    <c:v>4300</c:v>
                  </c:pt>
                  <c:pt idx="67">
                    <c:v>4350</c:v>
                  </c:pt>
                  <c:pt idx="68">
                    <c:v>4400</c:v>
                  </c:pt>
                  <c:pt idx="69">
                    <c:v>4450</c:v>
                  </c:pt>
                  <c:pt idx="70">
                    <c:v>4500</c:v>
                  </c:pt>
                  <c:pt idx="71">
                    <c:v>4550</c:v>
                  </c:pt>
                  <c:pt idx="72">
                    <c:v>4600</c:v>
                  </c:pt>
                  <c:pt idx="73">
                    <c:v>4650</c:v>
                  </c:pt>
                  <c:pt idx="74">
                    <c:v>4700</c:v>
                  </c:pt>
                  <c:pt idx="75">
                    <c:v>4750</c:v>
                  </c:pt>
                  <c:pt idx="76">
                    <c:v>4800</c:v>
                  </c:pt>
                  <c:pt idx="77">
                    <c:v>4850</c:v>
                  </c:pt>
                  <c:pt idx="78">
                    <c:v>4900</c:v>
                  </c:pt>
                  <c:pt idx="79">
                    <c:v>4950</c:v>
                  </c:pt>
                  <c:pt idx="80">
                    <c:v>5000</c:v>
                  </c:pt>
                  <c:pt idx="81">
                    <c:v>5050</c:v>
                  </c:pt>
                  <c:pt idx="82">
                    <c:v>5100</c:v>
                  </c:pt>
                  <c:pt idx="83">
                    <c:v>5150</c:v>
                  </c:pt>
                  <c:pt idx="84">
                    <c:v>5200</c:v>
                  </c:pt>
                  <c:pt idx="85">
                    <c:v>5250</c:v>
                  </c:pt>
                  <c:pt idx="86">
                    <c:v>5300</c:v>
                  </c:pt>
                  <c:pt idx="87">
                    <c:v>5350</c:v>
                  </c:pt>
                  <c:pt idx="88">
                    <c:v>5400</c:v>
                  </c:pt>
                  <c:pt idx="89">
                    <c:v>5450</c:v>
                  </c:pt>
                  <c:pt idx="90">
                    <c:v>5500</c:v>
                  </c:pt>
                  <c:pt idx="91">
                    <c:v>5550</c:v>
                  </c:pt>
                  <c:pt idx="92">
                    <c:v>5600</c:v>
                  </c:pt>
                  <c:pt idx="93">
                    <c:v>5650</c:v>
                  </c:pt>
                  <c:pt idx="94">
                    <c:v>5700</c:v>
                  </c:pt>
                  <c:pt idx="95">
                    <c:v>5750</c:v>
                  </c:pt>
                  <c:pt idx="96">
                    <c:v>5800</c:v>
                  </c:pt>
                  <c:pt idx="97">
                    <c:v>5850</c:v>
                  </c:pt>
                  <c:pt idx="98">
                    <c:v>5900</c:v>
                  </c:pt>
                  <c:pt idx="99">
                    <c:v>5950</c:v>
                  </c:pt>
                  <c:pt idx="100">
                    <c:v>6000</c:v>
                  </c:pt>
                  <c:pt idx="101">
                    <c:v>6050</c:v>
                  </c:pt>
                  <c:pt idx="102">
                    <c:v>6100</c:v>
                  </c:pt>
                  <c:pt idx="103">
                    <c:v>6150</c:v>
                  </c:pt>
                  <c:pt idx="104">
                    <c:v>6200</c:v>
                  </c:pt>
                  <c:pt idx="105">
                    <c:v>6250</c:v>
                  </c:pt>
                  <c:pt idx="106">
                    <c:v>6300</c:v>
                  </c:pt>
                  <c:pt idx="107">
                    <c:v>6350</c:v>
                  </c:pt>
                  <c:pt idx="108">
                    <c:v>6400</c:v>
                  </c:pt>
                  <c:pt idx="109">
                    <c:v>6450</c:v>
                  </c:pt>
                  <c:pt idx="110">
                    <c:v>6500</c:v>
                  </c:pt>
                  <c:pt idx="111">
                    <c:v>6550</c:v>
                  </c:pt>
                  <c:pt idx="112">
                    <c:v>6600</c:v>
                  </c:pt>
                  <c:pt idx="113">
                    <c:v>6650</c:v>
                  </c:pt>
                  <c:pt idx="114">
                    <c:v>6700</c:v>
                  </c:pt>
                  <c:pt idx="115">
                    <c:v>6750</c:v>
                  </c:pt>
                  <c:pt idx="116">
                    <c:v>6800</c:v>
                  </c:pt>
                  <c:pt idx="117">
                    <c:v>6850</c:v>
                  </c:pt>
                  <c:pt idx="118">
                    <c:v>6900</c:v>
                  </c:pt>
                  <c:pt idx="119">
                    <c:v>6950</c:v>
                  </c:pt>
                  <c:pt idx="120">
                    <c:v>7000</c:v>
                  </c:pt>
                  <c:pt idx="121">
                    <c:v>7050</c:v>
                  </c:pt>
                  <c:pt idx="122">
                    <c:v>7100</c:v>
                  </c:pt>
                  <c:pt idx="123">
                    <c:v>7150</c:v>
                  </c:pt>
                  <c:pt idx="124">
                    <c:v>7200</c:v>
                  </c:pt>
                  <c:pt idx="125">
                    <c:v>7250</c:v>
                  </c:pt>
                  <c:pt idx="126">
                    <c:v>7300</c:v>
                  </c:pt>
                  <c:pt idx="127">
                    <c:v>7350</c:v>
                  </c:pt>
                  <c:pt idx="128">
                    <c:v>7400</c:v>
                  </c:pt>
                  <c:pt idx="129">
                    <c:v>7450</c:v>
                  </c:pt>
                  <c:pt idx="130">
                    <c:v>7500</c:v>
                  </c:pt>
                  <c:pt idx="131">
                    <c:v>7550</c:v>
                  </c:pt>
                  <c:pt idx="132">
                    <c:v>7600</c:v>
                  </c:pt>
                  <c:pt idx="133">
                    <c:v>7650</c:v>
                  </c:pt>
                  <c:pt idx="134">
                    <c:v>7700</c:v>
                  </c:pt>
                  <c:pt idx="135">
                    <c:v>7750</c:v>
                  </c:pt>
                  <c:pt idx="136">
                    <c:v>7800</c:v>
                  </c:pt>
                  <c:pt idx="137">
                    <c:v>7850</c:v>
                  </c:pt>
                  <c:pt idx="138">
                    <c:v>7900</c:v>
                  </c:pt>
                  <c:pt idx="139">
                    <c:v>7950</c:v>
                  </c:pt>
                  <c:pt idx="140">
                    <c:v>8000</c:v>
                  </c:pt>
                  <c:pt idx="141">
                    <c:v>8050</c:v>
                  </c:pt>
                  <c:pt idx="142">
                    <c:v>8100</c:v>
                  </c:pt>
                  <c:pt idx="143">
                    <c:v>8150</c:v>
                  </c:pt>
                  <c:pt idx="144">
                    <c:v>8200</c:v>
                  </c:pt>
                  <c:pt idx="145">
                    <c:v>8250</c:v>
                  </c:pt>
                  <c:pt idx="146">
                    <c:v>8300</c:v>
                  </c:pt>
                  <c:pt idx="147">
                    <c:v>8350</c:v>
                  </c:pt>
                  <c:pt idx="148">
                    <c:v>8400</c:v>
                  </c:pt>
                  <c:pt idx="149">
                    <c:v>8450</c:v>
                  </c:pt>
                  <c:pt idx="150">
                    <c:v>8500</c:v>
                  </c:pt>
                  <c:pt idx="151">
                    <c:v>8550</c:v>
                  </c:pt>
                  <c:pt idx="152">
                    <c:v>8600</c:v>
                  </c:pt>
                  <c:pt idx="153">
                    <c:v>8650</c:v>
                  </c:pt>
                  <c:pt idx="154">
                    <c:v>8700</c:v>
                  </c:pt>
                  <c:pt idx="155">
                    <c:v>8750</c:v>
                  </c:pt>
                  <c:pt idx="156">
                    <c:v>8800</c:v>
                  </c:pt>
                  <c:pt idx="157">
                    <c:v>8850</c:v>
                  </c:pt>
                  <c:pt idx="158">
                    <c:v>8900</c:v>
                  </c:pt>
                  <c:pt idx="159">
                    <c:v>8950</c:v>
                  </c:pt>
                  <c:pt idx="160">
                    <c:v>9000</c:v>
                  </c:pt>
                  <c:pt idx="161">
                    <c:v>9050</c:v>
                  </c:pt>
                  <c:pt idx="162">
                    <c:v>9100</c:v>
                  </c:pt>
                  <c:pt idx="163">
                    <c:v>9150</c:v>
                  </c:pt>
                  <c:pt idx="164">
                    <c:v>9200</c:v>
                  </c:pt>
                  <c:pt idx="165">
                    <c:v>9250</c:v>
                  </c:pt>
                  <c:pt idx="166">
                    <c:v>9300</c:v>
                  </c:pt>
                  <c:pt idx="167">
                    <c:v>9350</c:v>
                  </c:pt>
                  <c:pt idx="168">
                    <c:v>9400</c:v>
                  </c:pt>
                  <c:pt idx="169">
                    <c:v>9450</c:v>
                  </c:pt>
                  <c:pt idx="170">
                    <c:v>9500</c:v>
                  </c:pt>
                  <c:pt idx="171">
                    <c:v>9550</c:v>
                  </c:pt>
                  <c:pt idx="172">
                    <c:v>9600</c:v>
                  </c:pt>
                  <c:pt idx="173">
                    <c:v>9650</c:v>
                  </c:pt>
                  <c:pt idx="174">
                    <c:v>9700</c:v>
                  </c:pt>
                  <c:pt idx="175">
                    <c:v>9750</c:v>
                  </c:pt>
                  <c:pt idx="176">
                    <c:v>9800</c:v>
                  </c:pt>
                  <c:pt idx="177">
                    <c:v>9850</c:v>
                  </c:pt>
                  <c:pt idx="178">
                    <c:v>9900</c:v>
                  </c:pt>
                  <c:pt idx="179">
                    <c:v>9950</c:v>
                  </c:pt>
                  <c:pt idx="180">
                    <c:v>10000</c:v>
                  </c:pt>
                  <c:pt idx="181">
                    <c:v>10050</c:v>
                  </c:pt>
                  <c:pt idx="182">
                    <c:v>10100</c:v>
                  </c:pt>
                  <c:pt idx="183">
                    <c:v>10150</c:v>
                  </c:pt>
                  <c:pt idx="184">
                    <c:v>10200</c:v>
                  </c:pt>
                  <c:pt idx="185">
                    <c:v>10250</c:v>
                  </c:pt>
                  <c:pt idx="186">
                    <c:v>10300</c:v>
                  </c:pt>
                  <c:pt idx="187">
                    <c:v>10350</c:v>
                  </c:pt>
                  <c:pt idx="188">
                    <c:v>10400</c:v>
                  </c:pt>
                  <c:pt idx="189">
                    <c:v>10450</c:v>
                  </c:pt>
                  <c:pt idx="190">
                    <c:v>10500</c:v>
                  </c:pt>
                  <c:pt idx="191">
                    <c:v>10550</c:v>
                  </c:pt>
                  <c:pt idx="192">
                    <c:v>10600</c:v>
                  </c:pt>
                  <c:pt idx="193">
                    <c:v>10650</c:v>
                  </c:pt>
                  <c:pt idx="194">
                    <c:v>10700</c:v>
                  </c:pt>
                  <c:pt idx="195">
                    <c:v>10750</c:v>
                  </c:pt>
                  <c:pt idx="196">
                    <c:v>10800</c:v>
                  </c:pt>
                  <c:pt idx="197">
                    <c:v>10850</c:v>
                  </c:pt>
                  <c:pt idx="198">
                    <c:v>10900</c:v>
                  </c:pt>
                  <c:pt idx="199">
                    <c:v>10950</c:v>
                  </c:pt>
                  <c:pt idx="200">
                    <c:v>11000</c:v>
                  </c:pt>
                  <c:pt idx="201">
                    <c:v>11050</c:v>
                  </c:pt>
                  <c:pt idx="202">
                    <c:v>11100</c:v>
                  </c:pt>
                  <c:pt idx="203">
                    <c:v>11150</c:v>
                  </c:pt>
                  <c:pt idx="204">
                    <c:v>11200</c:v>
                  </c:pt>
                  <c:pt idx="205">
                    <c:v>11250</c:v>
                  </c:pt>
                  <c:pt idx="206">
                    <c:v>11300</c:v>
                  </c:pt>
                  <c:pt idx="207">
                    <c:v>11350</c:v>
                  </c:pt>
                  <c:pt idx="208">
                    <c:v>11400</c:v>
                  </c:pt>
                  <c:pt idx="209">
                    <c:v>11450</c:v>
                  </c:pt>
                  <c:pt idx="210">
                    <c:v>11500</c:v>
                  </c:pt>
                  <c:pt idx="211">
                    <c:v>11550</c:v>
                  </c:pt>
                  <c:pt idx="212">
                    <c:v>11600</c:v>
                  </c:pt>
                  <c:pt idx="213">
                    <c:v>11650</c:v>
                  </c:pt>
                  <c:pt idx="214">
                    <c:v>11700</c:v>
                  </c:pt>
                  <c:pt idx="215">
                    <c:v>11750</c:v>
                  </c:pt>
                  <c:pt idx="216">
                    <c:v>11800</c:v>
                  </c:pt>
                  <c:pt idx="217">
                    <c:v>11850</c:v>
                  </c:pt>
                  <c:pt idx="218">
                    <c:v>11900</c:v>
                  </c:pt>
                  <c:pt idx="219">
                    <c:v>11950</c:v>
                  </c:pt>
                  <c:pt idx="220">
                    <c:v>12000</c:v>
                  </c:pt>
                  <c:pt idx="221">
                    <c:v>12050</c:v>
                  </c:pt>
                  <c:pt idx="222">
                    <c:v>12100</c:v>
                  </c:pt>
                  <c:pt idx="223">
                    <c:v>12150</c:v>
                  </c:pt>
                  <c:pt idx="224">
                    <c:v>12200</c:v>
                  </c:pt>
                  <c:pt idx="225">
                    <c:v>12250</c:v>
                  </c:pt>
                  <c:pt idx="226">
                    <c:v>12300</c:v>
                  </c:pt>
                  <c:pt idx="227">
                    <c:v>12350</c:v>
                  </c:pt>
                  <c:pt idx="228">
                    <c:v>12400</c:v>
                  </c:pt>
                  <c:pt idx="229">
                    <c:v>12450</c:v>
                  </c:pt>
                  <c:pt idx="230">
                    <c:v>12500</c:v>
                  </c:pt>
                  <c:pt idx="231">
                    <c:v>12550</c:v>
                  </c:pt>
                  <c:pt idx="232">
                    <c:v>12600</c:v>
                  </c:pt>
                  <c:pt idx="233">
                    <c:v>12650</c:v>
                  </c:pt>
                  <c:pt idx="234">
                    <c:v>12700</c:v>
                  </c:pt>
                  <c:pt idx="235">
                    <c:v>12750</c:v>
                  </c:pt>
                  <c:pt idx="236">
                    <c:v>12800</c:v>
                  </c:pt>
                  <c:pt idx="237">
                    <c:v>12850</c:v>
                  </c:pt>
                  <c:pt idx="238">
                    <c:v>12900</c:v>
                  </c:pt>
                  <c:pt idx="239">
                    <c:v>12950</c:v>
                  </c:pt>
                  <c:pt idx="240">
                    <c:v>13000</c:v>
                  </c:pt>
                  <c:pt idx="241">
                    <c:v>13050</c:v>
                  </c:pt>
                  <c:pt idx="242">
                    <c:v>13100</c:v>
                  </c:pt>
                  <c:pt idx="243">
                    <c:v>13150</c:v>
                  </c:pt>
                  <c:pt idx="244">
                    <c:v>13200</c:v>
                  </c:pt>
                  <c:pt idx="245">
                    <c:v>13250</c:v>
                  </c:pt>
                  <c:pt idx="246">
                    <c:v>13300</c:v>
                  </c:pt>
                  <c:pt idx="247">
                    <c:v>13350</c:v>
                  </c:pt>
                  <c:pt idx="248">
                    <c:v>13400</c:v>
                  </c:pt>
                  <c:pt idx="249">
                    <c:v>13450</c:v>
                  </c:pt>
                  <c:pt idx="250">
                    <c:v>13500</c:v>
                  </c:pt>
                  <c:pt idx="251">
                    <c:v>13550</c:v>
                  </c:pt>
                  <c:pt idx="252">
                    <c:v>13600</c:v>
                  </c:pt>
                  <c:pt idx="253">
                    <c:v>13650</c:v>
                  </c:pt>
                  <c:pt idx="254">
                    <c:v>13700</c:v>
                  </c:pt>
                  <c:pt idx="255">
                    <c:v>13750</c:v>
                  </c:pt>
                  <c:pt idx="256">
                    <c:v>13800</c:v>
                  </c:pt>
                  <c:pt idx="257">
                    <c:v>13850</c:v>
                  </c:pt>
                  <c:pt idx="258">
                    <c:v>13900</c:v>
                  </c:pt>
                  <c:pt idx="259">
                    <c:v>13950</c:v>
                  </c:pt>
                  <c:pt idx="260">
                    <c:v>14000</c:v>
                  </c:pt>
                  <c:pt idx="261">
                    <c:v>14050</c:v>
                  </c:pt>
                  <c:pt idx="262">
                    <c:v>14100</c:v>
                  </c:pt>
                  <c:pt idx="263">
                    <c:v>14150</c:v>
                  </c:pt>
                </c:lvl>
              </c:multiLvlStrCache>
            </c:multiLvlStrRef>
          </c:cat>
          <c:val>
            <c:numRef>
              <c:f>Sheet1!$B$2:$B$265</c:f>
              <c:numCache>
                <c:formatCode>General</c:formatCode>
                <c:ptCount val="264"/>
                <c:pt idx="0">
                  <c:v/>
                </c:pt>
                <c:pt idx="1">
                  <c:v/>
                </c:pt>
                <c:pt idx="2">
                  <c:v/>
                </c:pt>
                <c:pt idx="3">
                  <c:v/>
                </c:pt>
                <c:pt idx="4">
                  <c:v/>
                </c:pt>
                <c:pt idx="5">
                  <c:v/>
                </c:pt>
                <c:pt idx="6">
                  <c:v>1</c:v>
                </c:pt>
                <c:pt idx="7">
                  <c:v>0.9967</c:v>
                </c:pt>
                <c:pt idx="8">
                  <c:v>0.9933</c:v>
                </c:pt>
                <c:pt idx="9">
                  <c:v>0.9933</c:v>
                </c:pt>
                <c:pt idx="10">
                  <c:v>0.9933</c:v>
                </c:pt>
                <c:pt idx="11">
                  <c:v>0.9367</c:v>
                </c:pt>
                <c:pt idx="12">
                  <c:v>0.77</c:v>
                </c:pt>
                <c:pt idx="13">
                  <c:v>0.61</c:v>
                </c:pt>
                <c:pt idx="14">
                  <c:v>0.45</c:v>
                </c:pt>
                <c:pt idx="15">
                  <c:v>0.2867</c:v>
                </c:pt>
                <c:pt idx="16">
                  <c:v>0.12</c:v>
                </c:pt>
                <c:pt idx="17">
                  <c:v>0.04</c:v>
                </c:pt>
                <c:pt idx="18">
                  <c:v>0.05</c:v>
                </c:pt>
                <c:pt idx="19">
                  <c:v>0.0533</c:v>
                </c:pt>
                <c:pt idx="20">
                  <c:v>0.05</c:v>
                </c:pt>
                <c:pt idx="21">
                  <c:v>0.05</c:v>
                </c:pt>
                <c:pt idx="22">
                  <c:v>0.06</c:v>
                </c:pt>
                <c:pt idx="23">
                  <c:v>0.03</c:v>
                </c:pt>
                <c:pt idx="24">
                  <c:v>0.0267</c:v>
                </c:pt>
                <c:pt idx="25">
                  <c:v>0.0333</c:v>
                </c:pt>
                <c:pt idx="26">
                  <c:v>0.18</c:v>
                </c:pt>
                <c:pt idx="27">
                  <c:v>0.25</c:v>
                </c:pt>
                <c:pt idx="28">
                  <c:v>0.3033</c:v>
                </c:pt>
                <c:pt idx="29">
                  <c:v>0.4533</c:v>
                </c:pt>
                <c:pt idx="30">
                  <c:v>0.4967</c:v>
                </c:pt>
                <c:pt idx="31">
                  <c:v>0.65</c:v>
                </c:pt>
                <c:pt idx="32">
                  <c:v>0.67</c:v>
                </c:pt>
                <c:pt idx="33">
                  <c:v>0.7633</c:v>
                </c:pt>
                <c:pt idx="34">
                  <c:v>0.8667</c:v>
                </c:pt>
                <c:pt idx="35">
                  <c:v>0.8833</c:v>
                </c:pt>
                <c:pt idx="36">
                  <c:v>1</c:v>
                </c:pt>
                <c:pt idx="37">
                  <c:v>1</c:v>
                </c:pt>
                <c:pt idx="38">
                  <c:v>1</c:v>
                </c:pt>
                <c:pt idx="39">
                  <c:v>1</c:v>
                </c:pt>
                <c:pt idx="40">
                  <c:v>0.9967</c:v>
                </c:pt>
                <c:pt idx="41">
                  <c:v>0.9933</c:v>
                </c:pt>
                <c:pt idx="42">
                  <c:v>0.9767</c:v>
                </c:pt>
                <c:pt idx="43">
                  <c:v>0.9767</c:v>
                </c:pt>
                <c:pt idx="44">
                  <c:v>0.9733</c:v>
                </c:pt>
                <c:pt idx="45">
                  <c:v>0.9733</c:v>
                </c:pt>
                <c:pt idx="46">
                  <c:v>0.9767</c:v>
                </c:pt>
                <c:pt idx="47">
                  <c:v>0.98</c:v>
                </c:pt>
                <c:pt idx="48">
                  <c:v>0.9967</c:v>
                </c:pt>
                <c:pt idx="49">
                  <c:v>0.9967</c:v>
                </c:pt>
                <c:pt idx="50">
                  <c:v>0.9967</c:v>
                </c:pt>
                <c:pt idx="51">
                  <c:v>0.9967</c:v>
                </c:pt>
                <c:pt idx="52">
                  <c:v>0.9967</c:v>
                </c:pt>
                <c:pt idx="53">
                  <c:v>0.9967</c:v>
                </c:pt>
                <c:pt idx="54">
                  <c:v>0.9967</c:v>
                </c:pt>
                <c:pt idx="55">
                  <c:v>0.9967</c:v>
                </c:pt>
                <c:pt idx="56">
                  <c:v>1</c:v>
                </c:pt>
                <c:pt idx="57">
                  <c:v>1</c:v>
                </c:pt>
                <c:pt idx="58">
                  <c:v>1</c:v>
                </c:pt>
                <c:pt idx="59">
                  <c:v>1</c:v>
                </c:pt>
                <c:pt idx="60">
                  <c:v>0.9967</c:v>
                </c:pt>
                <c:pt idx="61">
                  <c:v>0.9967</c:v>
                </c:pt>
                <c:pt idx="62">
                  <c:v>0.9933</c:v>
                </c:pt>
                <c:pt idx="63">
                  <c:v>0.9933</c:v>
                </c:pt>
                <c:pt idx="64">
                  <c:v>0.9933</c:v>
                </c:pt>
                <c:pt idx="65">
                  <c:v>0.99</c:v>
                </c:pt>
                <c:pt idx="66">
                  <c:v>0.9933</c:v>
                </c:pt>
                <c:pt idx="67">
                  <c:v>0.99</c:v>
                </c:pt>
                <c:pt idx="68">
                  <c:v>0.99</c:v>
                </c:pt>
                <c:pt idx="69">
                  <c:v>0.99</c:v>
                </c:pt>
                <c:pt idx="70">
                  <c:v>0.9867</c:v>
                </c:pt>
                <c:pt idx="71">
                  <c:v>0.99</c:v>
                </c:pt>
                <c:pt idx="72">
                  <c:v>0.99</c:v>
                </c:pt>
                <c:pt idx="73">
                  <c:v>0.9933</c:v>
                </c:pt>
                <c:pt idx="74">
                  <c:v>0.9967</c:v>
                </c:pt>
                <c:pt idx="75">
                  <c:v>0.9967</c:v>
                </c:pt>
                <c:pt idx="76">
                  <c:v>1</c:v>
                </c:pt>
                <c:pt idx="77">
                  <c:v>1</c:v>
                </c:pt>
                <c:pt idx="78">
                  <c:v>1</c:v>
                </c:pt>
                <c:pt idx="79">
                  <c:v>1</c:v>
                </c:pt>
                <c:pt idx="80">
                  <c:v>1</c:v>
                </c:pt>
                <c:pt idx="81">
                  <c:v>1</c:v>
                </c:pt>
                <c:pt idx="82">
                  <c:v>0.9967</c:v>
                </c:pt>
                <c:pt idx="83">
                  <c:v>0.9967</c:v>
                </c:pt>
                <c:pt idx="84">
                  <c:v>0.9967</c:v>
                </c:pt>
                <c:pt idx="85">
                  <c:v>0.9967</c:v>
                </c:pt>
                <c:pt idx="86">
                  <c:v>0.9967</c:v>
                </c:pt>
                <c:pt idx="87">
                  <c:v>0.9967</c:v>
                </c:pt>
                <c:pt idx="88">
                  <c:v>1</c:v>
                </c:pt>
                <c:pt idx="89">
                  <c:v>1</c:v>
                </c:pt>
                <c:pt idx="90">
                  <c:v>1</c:v>
                </c:pt>
                <c:pt idx="91">
                  <c:v>1</c:v>
                </c:pt>
                <c:pt idx="92">
                  <c:v>1</c:v>
                </c:pt>
                <c:pt idx="93">
                  <c:v>0.9967</c:v>
                </c:pt>
                <c:pt idx="94">
                  <c:v>0.9967</c:v>
                </c:pt>
                <c:pt idx="95">
                  <c:v>0.9967</c:v>
                </c:pt>
                <c:pt idx="96">
                  <c:v>0.9967</c:v>
                </c:pt>
                <c:pt idx="97">
                  <c:v>0.9967</c:v>
                </c:pt>
                <c:pt idx="98">
                  <c:v>0.9967</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0.9967</c:v>
                </c:pt>
                <c:pt idx="114">
                  <c:v>0.9967</c:v>
                </c:pt>
                <c:pt idx="115">
                  <c:v>0.9967</c:v>
                </c:pt>
                <c:pt idx="116">
                  <c:v>0.9933</c:v>
                </c:pt>
                <c:pt idx="117">
                  <c:v>0.9933</c:v>
                </c:pt>
                <c:pt idx="118">
                  <c:v>0.9933</c:v>
                </c:pt>
                <c:pt idx="119">
                  <c:v>0.9967</c:v>
                </c:pt>
                <c:pt idx="120">
                  <c:v>0.9967</c:v>
                </c:pt>
                <c:pt idx="121">
                  <c:v>0.9967</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0.9933</c:v>
                </c:pt>
                <c:pt idx="136">
                  <c:v>0.9833</c:v>
                </c:pt>
                <c:pt idx="137">
                  <c:v>0.98</c:v>
                </c:pt>
                <c:pt idx="138">
                  <c:v>0.98</c:v>
                </c:pt>
                <c:pt idx="139">
                  <c:v>0.98</c:v>
                </c:pt>
                <c:pt idx="140">
                  <c:v>0.9767</c:v>
                </c:pt>
                <c:pt idx="141">
                  <c:v>0.9733</c:v>
                </c:pt>
                <c:pt idx="142">
                  <c:v>0.9833</c:v>
                </c:pt>
                <c:pt idx="143">
                  <c:v>0.9867</c:v>
                </c:pt>
                <c:pt idx="144">
                  <c:v>0.9867</c:v>
                </c:pt>
                <c:pt idx="145">
                  <c:v>0.9867</c:v>
                </c:pt>
                <c:pt idx="146">
                  <c:v>0.99</c:v>
                </c:pt>
                <c:pt idx="147">
                  <c:v>1</c:v>
                </c:pt>
                <c:pt idx="148">
                  <c:v>1</c:v>
                </c:pt>
                <c:pt idx="149">
                  <c:v>1</c:v>
                </c:pt>
                <c:pt idx="150">
                  <c:v>1</c:v>
                </c:pt>
                <c:pt idx="151">
                  <c:v>0.98</c:v>
                </c:pt>
                <c:pt idx="152">
                  <c:v>0.9633</c:v>
                </c:pt>
                <c:pt idx="153">
                  <c:v>0.9533</c:v>
                </c:pt>
                <c:pt idx="154">
                  <c:v>0.9367</c:v>
                </c:pt>
                <c:pt idx="155">
                  <c:v>0.93</c:v>
                </c:pt>
                <c:pt idx="156">
                  <c:v>0.9133</c:v>
                </c:pt>
                <c:pt idx="157">
                  <c:v>0.9333</c:v>
                </c:pt>
                <c:pt idx="158">
                  <c:v>0.95</c:v>
                </c:pt>
                <c:pt idx="159">
                  <c:v>0.96</c:v>
                </c:pt>
                <c:pt idx="160">
                  <c:v>0.9767</c:v>
                </c:pt>
                <c:pt idx="161">
                  <c:v>0.9833</c:v>
                </c:pt>
                <c:pt idx="162">
                  <c:v>1</c:v>
                </c:pt>
                <c:pt idx="163">
                  <c:v>1</c:v>
                </c:pt>
                <c:pt idx="164">
                  <c:v>1</c:v>
                </c:pt>
                <c:pt idx="165">
                  <c:v>1</c:v>
                </c:pt>
                <c:pt idx="166">
                  <c:v>0.9933</c:v>
                </c:pt>
                <c:pt idx="167">
                  <c:v>0.9867</c:v>
                </c:pt>
                <c:pt idx="168">
                  <c:v>0.9833</c:v>
                </c:pt>
                <c:pt idx="169">
                  <c:v>0.98</c:v>
                </c:pt>
                <c:pt idx="170">
                  <c:v>0.9533</c:v>
                </c:pt>
                <c:pt idx="171">
                  <c:v>0.9467</c:v>
                </c:pt>
                <c:pt idx="172">
                  <c:v>0.9533</c:v>
                </c:pt>
                <c:pt idx="173">
                  <c:v>0.96</c:v>
                </c:pt>
                <c:pt idx="174">
                  <c:v>0.9633</c:v>
                </c:pt>
                <c:pt idx="175">
                  <c:v>0.9667</c:v>
                </c:pt>
                <c:pt idx="176">
                  <c:v>0.9933</c:v>
                </c:pt>
                <c:pt idx="177">
                  <c:v>1</c:v>
                </c:pt>
                <c:pt idx="178">
                  <c:v>1</c:v>
                </c:pt>
                <c:pt idx="179">
                  <c:v>1</c:v>
                </c:pt>
                <c:pt idx="180">
                  <c:v>1</c:v>
                </c:pt>
                <c:pt idx="181">
                  <c:v>1</c:v>
                </c:pt>
                <c:pt idx="182">
                  <c:v>1</c:v>
                </c:pt>
                <c:pt idx="183">
                  <c:v>0.9933</c:v>
                </c:pt>
                <c:pt idx="184">
                  <c:v>0.9933</c:v>
                </c:pt>
                <c:pt idx="185">
                  <c:v>0.9933</c:v>
                </c:pt>
                <c:pt idx="186">
                  <c:v>0.99</c:v>
                </c:pt>
                <c:pt idx="187">
                  <c:v>0.9833</c:v>
                </c:pt>
                <c:pt idx="188">
                  <c:v>0.9833</c:v>
                </c:pt>
                <c:pt idx="189">
                  <c:v>0.99</c:v>
                </c:pt>
                <c:pt idx="190">
                  <c:v>0.99</c:v>
                </c:pt>
                <c:pt idx="191">
                  <c:v>0.99</c:v>
                </c:pt>
                <c:pt idx="192">
                  <c:v>0.9933</c:v>
                </c:pt>
                <c:pt idx="193">
                  <c:v>0.9967</c:v>
                </c:pt>
                <c:pt idx="194">
                  <c:v>0.9933</c:v>
                </c:pt>
                <c:pt idx="195">
                  <c:v>0.9933</c:v>
                </c:pt>
                <c:pt idx="196">
                  <c:v>0.9933</c:v>
                </c:pt>
                <c:pt idx="197">
                  <c:v>0.9933</c:v>
                </c:pt>
                <c:pt idx="198">
                  <c:v>0.9933</c:v>
                </c:pt>
                <c:pt idx="199">
                  <c:v>0.9767</c:v>
                </c:pt>
                <c:pt idx="200">
                  <c:v>0.97</c:v>
                </c:pt>
                <c:pt idx="201">
                  <c:v>0.9367</c:v>
                </c:pt>
                <c:pt idx="202">
                  <c:v>0.9233</c:v>
                </c:pt>
                <c:pt idx="203">
                  <c:v>0.8533</c:v>
                </c:pt>
                <c:pt idx="204">
                  <c:v>0.69</c:v>
                </c:pt>
                <c:pt idx="205">
                  <c:v>0.5433</c:v>
                </c:pt>
                <c:pt idx="206">
                  <c:v>0.3867</c:v>
                </c:pt>
                <c:pt idx="207">
                  <c:v>0.2633</c:v>
                </c:pt>
                <c:pt idx="208">
                  <c:v>0.12</c:v>
                </c:pt>
                <c:pt idx="209">
                  <c:v>0.0367</c:v>
                </c:pt>
                <c:pt idx="210">
                  <c:v>0.04</c:v>
                </c:pt>
                <c:pt idx="211">
                  <c:v>0.0433</c:v>
                </c:pt>
                <c:pt idx="212">
                  <c:v>0.0667</c:v>
                </c:pt>
                <c:pt idx="213">
                  <c:v>0.0633</c:v>
                </c:pt>
                <c:pt idx="214">
                  <c:v>0.06</c:v>
                </c:pt>
                <c:pt idx="215">
                  <c:v>0.0533</c:v>
                </c:pt>
                <c:pt idx="216">
                  <c:v>0.0533</c:v>
                </c:pt>
                <c:pt idx="217">
                  <c:v>0.0667</c:v>
                </c:pt>
                <c:pt idx="218">
                  <c:v>0.0567</c:v>
                </c:pt>
                <c:pt idx="219">
                  <c:v>0.07</c:v>
                </c:pt>
                <c:pt idx="220">
                  <c:v>0.0733</c:v>
                </c:pt>
                <c:pt idx="221">
                  <c:v>0.0967</c:v>
                </c:pt>
                <c:pt idx="222">
                  <c:v>0.1133</c:v>
                </c:pt>
                <c:pt idx="223">
                  <c:v>0.11</c:v>
                </c:pt>
                <c:pt idx="224">
                  <c:v>0.1033</c:v>
                </c:pt>
                <c:pt idx="225">
                  <c:v>0.0967</c:v>
                </c:pt>
                <c:pt idx="226">
                  <c:v>0.1467</c:v>
                </c:pt>
                <c:pt idx="227">
                  <c:v>0.18</c:v>
                </c:pt>
                <c:pt idx="228">
                  <c:v>0.2067</c:v>
                </c:pt>
                <c:pt idx="229">
                  <c:v>0.3367</c:v>
                </c:pt>
                <c:pt idx="230">
                  <c:v>0.4967</c:v>
                </c:pt>
                <c:pt idx="231">
                  <c:v>0.65</c:v>
                </c:pt>
                <c:pt idx="232">
                  <c:v>0.7567</c:v>
                </c:pt>
                <c:pt idx="233">
                  <c:v>0.86</c:v>
                </c:pt>
                <c:pt idx="234">
                  <c:v>0.9767</c:v>
                </c:pt>
                <c:pt idx="235">
                  <c:v>1</c:v>
                </c:pt>
                <c:pt idx="236">
                  <c:v>0.9967</c:v>
                </c:pt>
                <c:pt idx="237">
                  <c:v>0.9967</c:v>
                </c:pt>
                <c:pt idx="238">
                  <c:v>0.9967</c:v>
                </c:pt>
                <c:pt idx="239">
                  <c:v>0.9933</c:v>
                </c:pt>
                <c:pt idx="240">
                  <c:v>0.9933</c:v>
                </c:pt>
                <c:pt idx="241">
                  <c:v>0.9933</c:v>
                </c:pt>
                <c:pt idx="242">
                  <c:v>0.9967</c:v>
                </c:pt>
                <c:pt idx="243">
                  <c:v>0.9967</c:v>
                </c:pt>
                <c:pt idx="244">
                  <c:v>0.9967</c:v>
                </c:pt>
                <c:pt idx="245">
                  <c:v>1</c:v>
                </c:pt>
                <c:pt idx="246">
                  <c:v>1</c:v>
                </c:pt>
                <c:pt idx="247">
                  <c:v>0.99</c:v>
                </c:pt>
                <c:pt idx="248">
                  <c:v>0.9833</c:v>
                </c:pt>
                <c:pt idx="249">
                  <c:v>0.9767</c:v>
                </c:pt>
                <c:pt idx="250">
                  <c:v>0.9667</c:v>
                </c:pt>
                <c:pt idx="251">
                  <c:v>0.9533</c:v>
                </c:pt>
                <c:pt idx="252">
                  <c:v>0.9467</c:v>
                </c:pt>
                <c:pt idx="253">
                  <c:v>0.9467</c:v>
                </c:pt>
                <c:pt idx="254">
                  <c:v>0.9367</c:v>
                </c:pt>
                <c:pt idx="255">
                  <c:v>0.9333</c:v>
                </c:pt>
                <c:pt idx="256">
                  <c:v>0.94</c:v>
                </c:pt>
                <c:pt idx="257">
                  <c:v>0.9367</c:v>
                </c:pt>
                <c:pt idx="258">
                  <c:v>0.9333</c:v>
                </c:pt>
                <c:pt idx="259">
                  <c:v>0.94</c:v>
                </c:pt>
                <c:pt idx="260">
                  <c:v>0.95</c:v>
                </c:pt>
                <c:pt idx="261">
                  <c:v>0.95</c:v>
                </c:pt>
                <c:pt idx="262">
                  <c:v>0.9533</c:v>
                </c:pt>
                <c:pt idx="263">
                  <c:v>0.9667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2E6"/>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majorUnit val="0.2"/>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3"/>
          <c:y val="0.05"/>
          <c:w val="0.94"/>
          <c:h val="0.9"/>
        </c:manualLayout>
      </c:layout>
      <c:lineChart>
        <c:varyColors val="0"/>
        <c:ser>
          <c:idx val="0"/>
          <c:order val="0"/>
          <c:tx>
            <c:strRef>
              <c:f>Sheet1!$B$1</c:f>
              <c:strCache>
                <c:ptCount val="1"/>
                <c:pt idx="0">
                  <c:v>Abrupt</c:v>
                </c:pt>
              </c:strCache>
            </c:strRef>
          </c:tx>
          <c:spPr>
            <a:solidFill>
              <a:srgbClr val="2A78D6"/>
            </a:solidFill>
            <a:ln w="2857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Sheet1!$A$2:$A$201</c:f>
              <c:multiLvlStrCache>
                <c:ptCount val="20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lvl>
              </c:multiLvlStrCache>
            </c:multiLvlStrRef>
          </c:cat>
          <c:val>
            <c:numRef>
              <c:f>Sheet1!$B$2:$B$201</c:f>
              <c:numCache>
                <c:formatCode>General</c:formatCode>
                <c:ptCount val="200"/>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pt idx="81">
                  <c:v>0.1</c:v>
                </c:pt>
                <c:pt idx="82">
                  <c:v>0.1</c:v>
                </c:pt>
                <c:pt idx="83">
                  <c:v>0.1</c:v>
                </c:pt>
                <c:pt idx="84">
                  <c:v>0.1</c:v>
                </c:pt>
                <c:pt idx="85">
                  <c:v>0.1</c:v>
                </c:pt>
                <c:pt idx="86">
                  <c:v>0.1</c:v>
                </c:pt>
                <c:pt idx="87">
                  <c:v>0.1</c:v>
                </c:pt>
                <c:pt idx="88">
                  <c:v>0.1</c:v>
                </c:pt>
                <c:pt idx="89">
                  <c:v>0.1</c:v>
                </c:pt>
                <c:pt idx="90">
                  <c:v>0.1</c:v>
                </c:pt>
                <c:pt idx="91">
                  <c:v>0.1</c:v>
                </c:pt>
                <c:pt idx="92">
                  <c:v>0.1</c:v>
                </c:pt>
                <c:pt idx="93">
                  <c:v>0.1</c:v>
                </c:pt>
                <c:pt idx="94">
                  <c:v>0.1</c:v>
                </c:pt>
                <c:pt idx="95">
                  <c:v>0.1</c:v>
                </c:pt>
                <c:pt idx="96">
                  <c:v>0.1</c:v>
                </c:pt>
                <c:pt idx="97">
                  <c:v>0.1</c:v>
                </c:pt>
                <c:pt idx="98">
                  <c:v>0.1</c:v>
                </c:pt>
                <c:pt idx="99">
                  <c:v>0.1</c:v>
                </c:pt>
                <c:pt idx="100">
                  <c:v>0.34</c:v>
                </c:pt>
                <c:pt idx="101">
                  <c:v>0.34</c:v>
                </c:pt>
                <c:pt idx="102">
                  <c:v>0.34</c:v>
                </c:pt>
                <c:pt idx="103">
                  <c:v>0.34</c:v>
                </c:pt>
                <c:pt idx="104">
                  <c:v>0.34</c:v>
                </c:pt>
                <c:pt idx="105">
                  <c:v>0.34</c:v>
                </c:pt>
                <c:pt idx="106">
                  <c:v>0.34</c:v>
                </c:pt>
                <c:pt idx="107">
                  <c:v>0.34</c:v>
                </c:pt>
                <c:pt idx="108">
                  <c:v>0.34</c:v>
                </c:pt>
                <c:pt idx="109">
                  <c:v>0.34</c:v>
                </c:pt>
                <c:pt idx="110">
                  <c:v>0.34</c:v>
                </c:pt>
                <c:pt idx="111">
                  <c:v>0.34</c:v>
                </c:pt>
                <c:pt idx="112">
                  <c:v>0.34</c:v>
                </c:pt>
                <c:pt idx="113">
                  <c:v>0.34</c:v>
                </c:pt>
                <c:pt idx="114">
                  <c:v>0.34</c:v>
                </c:pt>
                <c:pt idx="115">
                  <c:v>0.34</c:v>
                </c:pt>
                <c:pt idx="116">
                  <c:v>0.34</c:v>
                </c:pt>
                <c:pt idx="117">
                  <c:v>0.34</c:v>
                </c:pt>
                <c:pt idx="118">
                  <c:v>0.34</c:v>
                </c:pt>
                <c:pt idx="119">
                  <c:v>0.34</c:v>
                </c:pt>
                <c:pt idx="120">
                  <c:v>0.34</c:v>
                </c:pt>
                <c:pt idx="121">
                  <c:v>0.34</c:v>
                </c:pt>
                <c:pt idx="122">
                  <c:v>0.34</c:v>
                </c:pt>
                <c:pt idx="123">
                  <c:v>0.34</c:v>
                </c:pt>
                <c:pt idx="124">
                  <c:v>0.34</c:v>
                </c:pt>
                <c:pt idx="125">
                  <c:v>0.34</c:v>
                </c:pt>
                <c:pt idx="126">
                  <c:v>0.34</c:v>
                </c:pt>
                <c:pt idx="127">
                  <c:v>0.34</c:v>
                </c:pt>
                <c:pt idx="128">
                  <c:v>0.34</c:v>
                </c:pt>
                <c:pt idx="129">
                  <c:v>0.34</c:v>
                </c:pt>
                <c:pt idx="130">
                  <c:v>0.34</c:v>
                </c:pt>
                <c:pt idx="131">
                  <c:v>0.34</c:v>
                </c:pt>
                <c:pt idx="132">
                  <c:v>0.34</c:v>
                </c:pt>
                <c:pt idx="133">
                  <c:v>0.34</c:v>
                </c:pt>
                <c:pt idx="134">
                  <c:v>0.34</c:v>
                </c:pt>
                <c:pt idx="135">
                  <c:v>0.34</c:v>
                </c:pt>
                <c:pt idx="136">
                  <c:v>0.34</c:v>
                </c:pt>
                <c:pt idx="137">
                  <c:v>0.34</c:v>
                </c:pt>
                <c:pt idx="138">
                  <c:v>0.34</c:v>
                </c:pt>
                <c:pt idx="139">
                  <c:v>0.34</c:v>
                </c:pt>
                <c:pt idx="140">
                  <c:v>0.34</c:v>
                </c:pt>
                <c:pt idx="141">
                  <c:v>0.34</c:v>
                </c:pt>
                <c:pt idx="142">
                  <c:v>0.34</c:v>
                </c:pt>
                <c:pt idx="143">
                  <c:v>0.34</c:v>
                </c:pt>
                <c:pt idx="144">
                  <c:v>0.34</c:v>
                </c:pt>
                <c:pt idx="145">
                  <c:v>0.34</c:v>
                </c:pt>
                <c:pt idx="146">
                  <c:v>0.34</c:v>
                </c:pt>
                <c:pt idx="147">
                  <c:v>0.34</c:v>
                </c:pt>
                <c:pt idx="148">
                  <c:v>0.34</c:v>
                </c:pt>
                <c:pt idx="149">
                  <c:v>0.34</c:v>
                </c:pt>
                <c:pt idx="150">
                  <c:v>0.34</c:v>
                </c:pt>
                <c:pt idx="151">
                  <c:v>0.34</c:v>
                </c:pt>
                <c:pt idx="152">
                  <c:v>0.34</c:v>
                </c:pt>
                <c:pt idx="153">
                  <c:v>0.34</c:v>
                </c:pt>
                <c:pt idx="154">
                  <c:v>0.34</c:v>
                </c:pt>
                <c:pt idx="155">
                  <c:v>0.34</c:v>
                </c:pt>
                <c:pt idx="156">
                  <c:v>0.34</c:v>
                </c:pt>
                <c:pt idx="157">
                  <c:v>0.34</c:v>
                </c:pt>
                <c:pt idx="158">
                  <c:v>0.34</c:v>
                </c:pt>
                <c:pt idx="159">
                  <c:v>0.34</c:v>
                </c:pt>
                <c:pt idx="160">
                  <c:v>0.34</c:v>
                </c:pt>
                <c:pt idx="161">
                  <c:v>0.34</c:v>
                </c:pt>
                <c:pt idx="162">
                  <c:v>0.34</c:v>
                </c:pt>
                <c:pt idx="163">
                  <c:v>0.34</c:v>
                </c:pt>
                <c:pt idx="164">
                  <c:v>0.34</c:v>
                </c:pt>
                <c:pt idx="165">
                  <c:v>0.34</c:v>
                </c:pt>
                <c:pt idx="166">
                  <c:v>0.34</c:v>
                </c:pt>
                <c:pt idx="167">
                  <c:v>0.34</c:v>
                </c:pt>
                <c:pt idx="168">
                  <c:v>0.34</c:v>
                </c:pt>
                <c:pt idx="169">
                  <c:v>0.34</c:v>
                </c:pt>
                <c:pt idx="170">
                  <c:v>0.34</c:v>
                </c:pt>
                <c:pt idx="171">
                  <c:v>0.34</c:v>
                </c:pt>
                <c:pt idx="172">
                  <c:v>0.34</c:v>
                </c:pt>
                <c:pt idx="173">
                  <c:v>0.34</c:v>
                </c:pt>
                <c:pt idx="174">
                  <c:v>0.34</c:v>
                </c:pt>
                <c:pt idx="175">
                  <c:v>0.34</c:v>
                </c:pt>
                <c:pt idx="176">
                  <c:v>0.34</c:v>
                </c:pt>
                <c:pt idx="177">
                  <c:v>0.34</c:v>
                </c:pt>
                <c:pt idx="178">
                  <c:v>0.34</c:v>
                </c:pt>
                <c:pt idx="179">
                  <c:v>0.34</c:v>
                </c:pt>
                <c:pt idx="180">
                  <c:v>0.34</c:v>
                </c:pt>
                <c:pt idx="181">
                  <c:v>0.34</c:v>
                </c:pt>
                <c:pt idx="182">
                  <c:v>0.34</c:v>
                </c:pt>
                <c:pt idx="183">
                  <c:v>0.34</c:v>
                </c:pt>
                <c:pt idx="184">
                  <c:v>0.34</c:v>
                </c:pt>
                <c:pt idx="185">
                  <c:v>0.34</c:v>
                </c:pt>
                <c:pt idx="186">
                  <c:v>0.34</c:v>
                </c:pt>
                <c:pt idx="187">
                  <c:v>0.34</c:v>
                </c:pt>
                <c:pt idx="188">
                  <c:v>0.34</c:v>
                </c:pt>
                <c:pt idx="189">
                  <c:v>0.34</c:v>
                </c:pt>
                <c:pt idx="190">
                  <c:v>0.34</c:v>
                </c:pt>
                <c:pt idx="191">
                  <c:v>0.34</c:v>
                </c:pt>
                <c:pt idx="192">
                  <c:v>0.34</c:v>
                </c:pt>
                <c:pt idx="193">
                  <c:v>0.34</c:v>
                </c:pt>
                <c:pt idx="194">
                  <c:v>0.34</c:v>
                </c:pt>
                <c:pt idx="195">
                  <c:v>0.34</c:v>
                </c:pt>
                <c:pt idx="196">
                  <c:v>0.34</c:v>
                </c:pt>
                <c:pt idx="197">
                  <c:v>0.34</c:v>
                </c:pt>
                <c:pt idx="198">
                  <c:v>0.34</c:v>
                </c:pt>
                <c:pt idx="199">
                  <c:v>0.34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5"/>
          <c:min val="0"/>
        </c:scaling>
        <c:delete val="1"/>
        <c:axPos val="l"/>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solidFill>
          <a:srgbClr val="EEF2F5"/>
        </a:solidFill>
        <a:ln>
          <a:noFill/>
        </a:ln>
        <a:effectLst/>
      </c:spPr>
    </c:plotArea>
    <c:plotVisOnly val="1"/>
    <c:dispBlanksAs val="span"/>
  </c:chart>
  <c:spPr>
    <a:solidFill>
      <a:srgbClr val="EEF2F5"/>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3"/>
          <c:y val="0.05"/>
          <c:w val="0.94"/>
          <c:h val="0.9"/>
        </c:manualLayout>
      </c:layout>
      <c:lineChart>
        <c:varyColors val="0"/>
        <c:ser>
          <c:idx val="0"/>
          <c:order val="0"/>
          <c:tx>
            <c:strRef>
              <c:f>Sheet1!$B$1</c:f>
              <c:strCache>
                <c:ptCount val="1"/>
                <c:pt idx="0">
                  <c:v>Gradual</c:v>
                </c:pt>
              </c:strCache>
            </c:strRef>
          </c:tx>
          <c:spPr>
            <a:solidFill>
              <a:srgbClr val="2A78D6"/>
            </a:solidFill>
            <a:ln w="2857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Sheet1!$A$2:$A$201</c:f>
              <c:multiLvlStrCache>
                <c:ptCount val="20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lvl>
              </c:multiLvlStrCache>
            </c:multiLvlStrRef>
          </c:cat>
          <c:val>
            <c:numRef>
              <c:f>Sheet1!$B$2:$B$201</c:f>
              <c:numCache>
                <c:formatCode>General</c:formatCode>
                <c:ptCount val="200"/>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pt idx="81">
                  <c:v>0.1</c:v>
                </c:pt>
                <c:pt idx="82">
                  <c:v>0.1</c:v>
                </c:pt>
                <c:pt idx="83">
                  <c:v>0.1</c:v>
                </c:pt>
                <c:pt idx="84">
                  <c:v>0.1</c:v>
                </c:pt>
                <c:pt idx="85">
                  <c:v>0.1</c:v>
                </c:pt>
                <c:pt idx="86">
                  <c:v>0.1</c:v>
                </c:pt>
                <c:pt idx="87">
                  <c:v>0.1</c:v>
                </c:pt>
                <c:pt idx="88">
                  <c:v>0.1</c:v>
                </c:pt>
                <c:pt idx="89">
                  <c:v>0.1</c:v>
                </c:pt>
                <c:pt idx="90">
                  <c:v>0.1</c:v>
                </c:pt>
                <c:pt idx="91">
                  <c:v>0.1</c:v>
                </c:pt>
                <c:pt idx="92">
                  <c:v>0.1</c:v>
                </c:pt>
                <c:pt idx="93">
                  <c:v>0.1</c:v>
                </c:pt>
                <c:pt idx="94">
                  <c:v>0.1</c:v>
                </c:pt>
                <c:pt idx="95">
                  <c:v>0.1</c:v>
                </c:pt>
                <c:pt idx="96">
                  <c:v>0.1</c:v>
                </c:pt>
                <c:pt idx="97">
                  <c:v>0.1</c:v>
                </c:pt>
                <c:pt idx="98">
                  <c:v>0.1</c:v>
                </c:pt>
                <c:pt idx="99">
                  <c:v>0.1</c:v>
                </c:pt>
                <c:pt idx="100">
                  <c:v>0.1</c:v>
                </c:pt>
                <c:pt idx="101">
                  <c:v>0.1</c:v>
                </c:pt>
                <c:pt idx="102">
                  <c:v>0.1</c:v>
                </c:pt>
                <c:pt idx="103">
                  <c:v>0.1</c:v>
                </c:pt>
                <c:pt idx="104">
                  <c:v>0.1</c:v>
                </c:pt>
                <c:pt idx="105">
                  <c:v>0.1</c:v>
                </c:pt>
                <c:pt idx="106">
                  <c:v>0.1</c:v>
                </c:pt>
                <c:pt idx="107">
                  <c:v>0.1</c:v>
                </c:pt>
                <c:pt idx="108">
                  <c:v>0.1</c:v>
                </c:pt>
                <c:pt idx="109">
                  <c:v>0.1</c:v>
                </c:pt>
                <c:pt idx="110">
                  <c:v>0.1</c:v>
                </c:pt>
                <c:pt idx="111">
                  <c:v>0.1</c:v>
                </c:pt>
                <c:pt idx="112">
                  <c:v>0.1</c:v>
                </c:pt>
                <c:pt idx="113">
                  <c:v>0.1</c:v>
                </c:pt>
                <c:pt idx="114">
                  <c:v>0.1</c:v>
                </c:pt>
                <c:pt idx="115">
                  <c:v>0.1</c:v>
                </c:pt>
                <c:pt idx="116">
                  <c:v>0.1</c:v>
                </c:pt>
                <c:pt idx="117">
                  <c:v>0.34</c:v>
                </c:pt>
                <c:pt idx="118">
                  <c:v>0.1</c:v>
                </c:pt>
                <c:pt idx="119">
                  <c:v>0.1</c:v>
                </c:pt>
                <c:pt idx="120">
                  <c:v>0.1</c:v>
                </c:pt>
                <c:pt idx="121">
                  <c:v>0.1</c:v>
                </c:pt>
                <c:pt idx="122">
                  <c:v>0.34</c:v>
                </c:pt>
                <c:pt idx="123">
                  <c:v>0.1</c:v>
                </c:pt>
                <c:pt idx="124">
                  <c:v>0.1</c:v>
                </c:pt>
                <c:pt idx="125">
                  <c:v>0.1</c:v>
                </c:pt>
                <c:pt idx="126">
                  <c:v>0.1</c:v>
                </c:pt>
                <c:pt idx="127">
                  <c:v>0.1</c:v>
                </c:pt>
                <c:pt idx="128">
                  <c:v>0.1</c:v>
                </c:pt>
                <c:pt idx="129">
                  <c:v>0.1</c:v>
                </c:pt>
                <c:pt idx="130">
                  <c:v>0.34</c:v>
                </c:pt>
                <c:pt idx="131">
                  <c:v>0.34</c:v>
                </c:pt>
                <c:pt idx="132">
                  <c:v>0.1</c:v>
                </c:pt>
                <c:pt idx="133">
                  <c:v>0.34</c:v>
                </c:pt>
                <c:pt idx="134">
                  <c:v>0.34</c:v>
                </c:pt>
                <c:pt idx="135">
                  <c:v>0.34</c:v>
                </c:pt>
                <c:pt idx="136">
                  <c:v>0.34</c:v>
                </c:pt>
                <c:pt idx="137">
                  <c:v>0.34</c:v>
                </c:pt>
                <c:pt idx="138">
                  <c:v>0.1</c:v>
                </c:pt>
                <c:pt idx="139">
                  <c:v>0.34</c:v>
                </c:pt>
                <c:pt idx="140">
                  <c:v>0.1</c:v>
                </c:pt>
                <c:pt idx="141">
                  <c:v>0.1</c:v>
                </c:pt>
                <c:pt idx="142">
                  <c:v>0.34</c:v>
                </c:pt>
                <c:pt idx="143">
                  <c:v>0.34</c:v>
                </c:pt>
                <c:pt idx="144">
                  <c:v>0.34</c:v>
                </c:pt>
                <c:pt idx="145">
                  <c:v>0.34</c:v>
                </c:pt>
                <c:pt idx="146">
                  <c:v>0.34</c:v>
                </c:pt>
                <c:pt idx="147">
                  <c:v>0.34</c:v>
                </c:pt>
                <c:pt idx="148">
                  <c:v>0.1</c:v>
                </c:pt>
                <c:pt idx="149">
                  <c:v>0.34</c:v>
                </c:pt>
                <c:pt idx="150">
                  <c:v>0.34</c:v>
                </c:pt>
                <c:pt idx="151">
                  <c:v>0.34</c:v>
                </c:pt>
                <c:pt idx="152">
                  <c:v>0.34</c:v>
                </c:pt>
                <c:pt idx="153">
                  <c:v>0.1</c:v>
                </c:pt>
                <c:pt idx="154">
                  <c:v>0.34</c:v>
                </c:pt>
                <c:pt idx="155">
                  <c:v>0.34</c:v>
                </c:pt>
                <c:pt idx="156">
                  <c:v>0.34</c:v>
                </c:pt>
                <c:pt idx="157">
                  <c:v>0.34</c:v>
                </c:pt>
                <c:pt idx="158">
                  <c:v>0.34</c:v>
                </c:pt>
                <c:pt idx="159">
                  <c:v>0.34</c:v>
                </c:pt>
                <c:pt idx="160">
                  <c:v>0.34</c:v>
                </c:pt>
                <c:pt idx="161">
                  <c:v>0.34</c:v>
                </c:pt>
                <c:pt idx="162">
                  <c:v>0.34</c:v>
                </c:pt>
                <c:pt idx="163">
                  <c:v>0.34</c:v>
                </c:pt>
                <c:pt idx="164">
                  <c:v>0.34</c:v>
                </c:pt>
                <c:pt idx="165">
                  <c:v>0.34</c:v>
                </c:pt>
                <c:pt idx="166">
                  <c:v>0.34</c:v>
                </c:pt>
                <c:pt idx="167">
                  <c:v>0.34</c:v>
                </c:pt>
                <c:pt idx="168">
                  <c:v>0.34</c:v>
                </c:pt>
                <c:pt idx="169">
                  <c:v>0.34</c:v>
                </c:pt>
                <c:pt idx="170">
                  <c:v>0.34</c:v>
                </c:pt>
                <c:pt idx="171">
                  <c:v>0.34</c:v>
                </c:pt>
                <c:pt idx="172">
                  <c:v>0.34</c:v>
                </c:pt>
                <c:pt idx="173">
                  <c:v>0.34</c:v>
                </c:pt>
                <c:pt idx="174">
                  <c:v>0.34</c:v>
                </c:pt>
                <c:pt idx="175">
                  <c:v>0.34</c:v>
                </c:pt>
                <c:pt idx="176">
                  <c:v>0.34</c:v>
                </c:pt>
                <c:pt idx="177">
                  <c:v>0.34</c:v>
                </c:pt>
                <c:pt idx="178">
                  <c:v>0.34</c:v>
                </c:pt>
                <c:pt idx="179">
                  <c:v>0.34</c:v>
                </c:pt>
                <c:pt idx="180">
                  <c:v>0.34</c:v>
                </c:pt>
                <c:pt idx="181">
                  <c:v>0.34</c:v>
                </c:pt>
                <c:pt idx="182">
                  <c:v>0.34</c:v>
                </c:pt>
                <c:pt idx="183">
                  <c:v>0.34</c:v>
                </c:pt>
                <c:pt idx="184">
                  <c:v>0.34</c:v>
                </c:pt>
                <c:pt idx="185">
                  <c:v>0.34</c:v>
                </c:pt>
                <c:pt idx="186">
                  <c:v>0.34</c:v>
                </c:pt>
                <c:pt idx="187">
                  <c:v>0.34</c:v>
                </c:pt>
                <c:pt idx="188">
                  <c:v>0.34</c:v>
                </c:pt>
                <c:pt idx="189">
                  <c:v>0.34</c:v>
                </c:pt>
                <c:pt idx="190">
                  <c:v>0.34</c:v>
                </c:pt>
                <c:pt idx="191">
                  <c:v>0.34</c:v>
                </c:pt>
                <c:pt idx="192">
                  <c:v>0.34</c:v>
                </c:pt>
                <c:pt idx="193">
                  <c:v>0.34</c:v>
                </c:pt>
                <c:pt idx="194">
                  <c:v>0.34</c:v>
                </c:pt>
                <c:pt idx="195">
                  <c:v>0.34</c:v>
                </c:pt>
                <c:pt idx="196">
                  <c:v>0.34</c:v>
                </c:pt>
                <c:pt idx="197">
                  <c:v>0.34</c:v>
                </c:pt>
                <c:pt idx="198">
                  <c:v>0.34</c:v>
                </c:pt>
                <c:pt idx="199">
                  <c:v>0.34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5"/>
          <c:min val="0"/>
        </c:scaling>
        <c:delete val="1"/>
        <c:axPos val="l"/>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solidFill>
          <a:srgbClr val="EEF2F5"/>
        </a:solidFill>
        <a:ln>
          <a:noFill/>
        </a:ln>
        <a:effectLst/>
      </c:spPr>
    </c:plotArea>
    <c:plotVisOnly val="1"/>
    <c:dispBlanksAs val="span"/>
  </c:chart>
  <c:spPr>
    <a:solidFill>
      <a:srgbClr val="EEF2F5"/>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3"/>
          <c:y val="0.05"/>
          <c:w val="0.94"/>
          <c:h val="0.9"/>
        </c:manualLayout>
      </c:layout>
      <c:lineChart>
        <c:varyColors val="0"/>
        <c:ser>
          <c:idx val="0"/>
          <c:order val="0"/>
          <c:tx>
            <c:strRef>
              <c:f>Sheet1!$B$1</c:f>
              <c:strCache>
                <c:ptCount val="1"/>
                <c:pt idx="0">
                  <c:v>Incremental</c:v>
                </c:pt>
              </c:strCache>
            </c:strRef>
          </c:tx>
          <c:spPr>
            <a:solidFill>
              <a:srgbClr val="2A78D6"/>
            </a:solidFill>
            <a:ln w="2857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Sheet1!$A$2:$A$201</c:f>
              <c:multiLvlStrCache>
                <c:ptCount val="20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lvl>
              </c:multiLvlStrCache>
            </c:multiLvlStrRef>
          </c:cat>
          <c:val>
            <c:numRef>
              <c:f>Sheet1!$B$2:$B$201</c:f>
              <c:numCache>
                <c:formatCode>General</c:formatCode>
                <c:ptCount val="200"/>
                <c:pt idx="0">
                  <c:v>0.1</c:v>
                </c:pt>
                <c:pt idx="1">
                  <c:v>0.1</c:v>
                </c:pt>
                <c:pt idx="2">
                  <c:v>0.1</c:v>
                </c:pt>
                <c:pt idx="3">
                  <c:v>0.1</c:v>
                </c:pt>
                <c:pt idx="4">
                  <c:v>0.1</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pt idx="23">
                  <c:v>0.1</c:v>
                </c:pt>
                <c:pt idx="24">
                  <c:v>0.1</c:v>
                </c:pt>
                <c:pt idx="25">
                  <c:v>0.1</c:v>
                </c:pt>
                <c:pt idx="26">
                  <c:v>0.1</c:v>
                </c:pt>
                <c:pt idx="27">
                  <c:v>0.1</c:v>
                </c:pt>
                <c:pt idx="28">
                  <c:v>0.1</c:v>
                </c:pt>
                <c:pt idx="29">
                  <c:v>0.1</c:v>
                </c:pt>
                <c:pt idx="30">
                  <c:v>0.1</c:v>
                </c:pt>
                <c:pt idx="31">
                  <c:v>0.1</c:v>
                </c:pt>
                <c:pt idx="32">
                  <c:v>0.1</c:v>
                </c:pt>
                <c:pt idx="33">
                  <c:v>0.1</c:v>
                </c:pt>
                <c:pt idx="34">
                  <c:v>0.1</c:v>
                </c:pt>
                <c:pt idx="35">
                  <c:v>0.1</c:v>
                </c:pt>
                <c:pt idx="36">
                  <c:v>0.1</c:v>
                </c:pt>
                <c:pt idx="37">
                  <c:v>0.1</c:v>
                </c:pt>
                <c:pt idx="38">
                  <c:v>0.1</c:v>
                </c:pt>
                <c:pt idx="39">
                  <c:v>0.1</c:v>
                </c:pt>
                <c:pt idx="40">
                  <c:v>0.1</c:v>
                </c:pt>
                <c:pt idx="41">
                  <c:v>0.1</c:v>
                </c:pt>
                <c:pt idx="42">
                  <c:v>0.1</c:v>
                </c:pt>
                <c:pt idx="43">
                  <c:v>0.1</c:v>
                </c:pt>
                <c:pt idx="44">
                  <c:v>0.1</c:v>
                </c:pt>
                <c:pt idx="45">
                  <c:v>0.1</c:v>
                </c:pt>
                <c:pt idx="46">
                  <c:v>0.1</c:v>
                </c:pt>
                <c:pt idx="47">
                  <c:v>0.1</c:v>
                </c:pt>
                <c:pt idx="48">
                  <c:v>0.1</c:v>
                </c:pt>
                <c:pt idx="49">
                  <c:v>0.1</c:v>
                </c:pt>
                <c:pt idx="50">
                  <c:v>0.1</c:v>
                </c:pt>
                <c:pt idx="51">
                  <c:v>0.1</c:v>
                </c:pt>
                <c:pt idx="52">
                  <c:v>0.1</c:v>
                </c:pt>
                <c:pt idx="53">
                  <c:v>0.1</c:v>
                </c:pt>
                <c:pt idx="54">
                  <c:v>0.1</c:v>
                </c:pt>
                <c:pt idx="55">
                  <c:v>0.1</c:v>
                </c:pt>
                <c:pt idx="56">
                  <c:v>0.1</c:v>
                </c:pt>
                <c:pt idx="57">
                  <c:v>0.1</c:v>
                </c:pt>
                <c:pt idx="58">
                  <c:v>0.1</c:v>
                </c:pt>
                <c:pt idx="59">
                  <c:v>0.1</c:v>
                </c:pt>
                <c:pt idx="60">
                  <c:v>0.1</c:v>
                </c:pt>
                <c:pt idx="61">
                  <c:v>0.1</c:v>
                </c:pt>
                <c:pt idx="62">
                  <c:v>0.1</c:v>
                </c:pt>
                <c:pt idx="63">
                  <c:v>0.1</c:v>
                </c:pt>
                <c:pt idx="64">
                  <c:v>0.1</c:v>
                </c:pt>
                <c:pt idx="65">
                  <c:v>0.1</c:v>
                </c:pt>
                <c:pt idx="66">
                  <c:v>0.1</c:v>
                </c:pt>
                <c:pt idx="67">
                  <c:v>0.1</c:v>
                </c:pt>
                <c:pt idx="68">
                  <c:v>0.1</c:v>
                </c:pt>
                <c:pt idx="69">
                  <c:v>0.1</c:v>
                </c:pt>
                <c:pt idx="70">
                  <c:v>0.1</c:v>
                </c:pt>
                <c:pt idx="71">
                  <c:v>0.1</c:v>
                </c:pt>
                <c:pt idx="72">
                  <c:v>0.1</c:v>
                </c:pt>
                <c:pt idx="73">
                  <c:v>0.1</c:v>
                </c:pt>
                <c:pt idx="74">
                  <c:v>0.1</c:v>
                </c:pt>
                <c:pt idx="75">
                  <c:v>0.1</c:v>
                </c:pt>
                <c:pt idx="76">
                  <c:v>0.1</c:v>
                </c:pt>
                <c:pt idx="77">
                  <c:v>0.1</c:v>
                </c:pt>
                <c:pt idx="78">
                  <c:v>0.1</c:v>
                </c:pt>
                <c:pt idx="79">
                  <c:v>0.1</c:v>
                </c:pt>
                <c:pt idx="80">
                  <c:v>0.1</c:v>
                </c:pt>
                <c:pt idx="81">
                  <c:v>0.1</c:v>
                </c:pt>
                <c:pt idx="82">
                  <c:v>0.1</c:v>
                </c:pt>
                <c:pt idx="83">
                  <c:v>0.1</c:v>
                </c:pt>
                <c:pt idx="84">
                  <c:v>0.1</c:v>
                </c:pt>
                <c:pt idx="85">
                  <c:v>0.1</c:v>
                </c:pt>
                <c:pt idx="86">
                  <c:v>0.1</c:v>
                </c:pt>
                <c:pt idx="87">
                  <c:v>0.1</c:v>
                </c:pt>
                <c:pt idx="88">
                  <c:v>0.1</c:v>
                </c:pt>
                <c:pt idx="89">
                  <c:v>0.1</c:v>
                </c:pt>
                <c:pt idx="90">
                  <c:v>0.1</c:v>
                </c:pt>
                <c:pt idx="91">
                  <c:v>0.1</c:v>
                </c:pt>
                <c:pt idx="92">
                  <c:v>0.1</c:v>
                </c:pt>
                <c:pt idx="93">
                  <c:v>0.1</c:v>
                </c:pt>
                <c:pt idx="94">
                  <c:v>0.1</c:v>
                </c:pt>
                <c:pt idx="95">
                  <c:v>0.1</c:v>
                </c:pt>
                <c:pt idx="96">
                  <c:v>0.1</c:v>
                </c:pt>
                <c:pt idx="97">
                  <c:v>0.1</c:v>
                </c:pt>
                <c:pt idx="98">
                  <c:v>0.1</c:v>
                </c:pt>
                <c:pt idx="99">
                  <c:v>0.1</c:v>
                </c:pt>
                <c:pt idx="100">
                  <c:v>0.1</c:v>
                </c:pt>
                <c:pt idx="101">
                  <c:v>0.10400000000000001</c:v>
                </c:pt>
                <c:pt idx="102">
                  <c:v>0.10800000000000001</c:v>
                </c:pt>
                <c:pt idx="103">
                  <c:v>0.112</c:v>
                </c:pt>
                <c:pt idx="104">
                  <c:v>0.116</c:v>
                </c:pt>
                <c:pt idx="105">
                  <c:v>0.12000000000000001</c:v>
                </c:pt>
                <c:pt idx="106">
                  <c:v>0.12400000000000001</c:v>
                </c:pt>
                <c:pt idx="107">
                  <c:v>0.128</c:v>
                </c:pt>
                <c:pt idx="108">
                  <c:v>0.132</c:v>
                </c:pt>
                <c:pt idx="109">
                  <c:v>0.136</c:v>
                </c:pt>
                <c:pt idx="110">
                  <c:v>0.14</c:v>
                </c:pt>
                <c:pt idx="111">
                  <c:v>0.14400000000000002</c:v>
                </c:pt>
                <c:pt idx="112">
                  <c:v>0.14800000000000002</c:v>
                </c:pt>
                <c:pt idx="113">
                  <c:v>0.15200000000000002</c:v>
                </c:pt>
                <c:pt idx="114">
                  <c:v>0.15600000000000003</c:v>
                </c:pt>
                <c:pt idx="115">
                  <c:v>0.16</c:v>
                </c:pt>
                <c:pt idx="116">
                  <c:v>0.164</c:v>
                </c:pt>
                <c:pt idx="117">
                  <c:v>0.168</c:v>
                </c:pt>
                <c:pt idx="118">
                  <c:v>0.17200000000000001</c:v>
                </c:pt>
                <c:pt idx="119">
                  <c:v>0.176</c:v>
                </c:pt>
                <c:pt idx="120">
                  <c:v>0.18</c:v>
                </c:pt>
                <c:pt idx="121">
                  <c:v>0.184</c:v>
                </c:pt>
                <c:pt idx="122">
                  <c:v>0.188</c:v>
                </c:pt>
                <c:pt idx="123">
                  <c:v>0.192</c:v>
                </c:pt>
                <c:pt idx="124">
                  <c:v>0.196</c:v>
                </c:pt>
                <c:pt idx="125">
                  <c:v>0.2</c:v>
                </c:pt>
                <c:pt idx="126">
                  <c:v>0.20400000000000001</c:v>
                </c:pt>
                <c:pt idx="127">
                  <c:v>0.20800000000000002</c:v>
                </c:pt>
                <c:pt idx="128">
                  <c:v>0.21200000000000002</c:v>
                </c:pt>
                <c:pt idx="129">
                  <c:v>0.21600000000000003</c:v>
                </c:pt>
                <c:pt idx="130">
                  <c:v>0.22000000000000003</c:v>
                </c:pt>
                <c:pt idx="131">
                  <c:v>0.22400000000000003</c:v>
                </c:pt>
                <c:pt idx="132">
                  <c:v>0.228</c:v>
                </c:pt>
                <c:pt idx="133">
                  <c:v>0.23200000000000004</c:v>
                </c:pt>
                <c:pt idx="134">
                  <c:v>0.23600000000000002</c:v>
                </c:pt>
                <c:pt idx="135">
                  <c:v>0.24000000000000002</c:v>
                </c:pt>
                <c:pt idx="136">
                  <c:v>0.24400000000000002</c:v>
                </c:pt>
                <c:pt idx="137">
                  <c:v>0.24800000000000003</c:v>
                </c:pt>
                <c:pt idx="138">
                  <c:v>0.252</c:v>
                </c:pt>
                <c:pt idx="139">
                  <c:v>0.256</c:v>
                </c:pt>
                <c:pt idx="140">
                  <c:v>0.26</c:v>
                </c:pt>
                <c:pt idx="141">
                  <c:v>0.264</c:v>
                </c:pt>
                <c:pt idx="142">
                  <c:v>0.268</c:v>
                </c:pt>
                <c:pt idx="143">
                  <c:v>0.272</c:v>
                </c:pt>
                <c:pt idx="144">
                  <c:v>0.276</c:v>
                </c:pt>
                <c:pt idx="145">
                  <c:v>0.28</c:v>
                </c:pt>
                <c:pt idx="146">
                  <c:v>0.28400000000000003</c:v>
                </c:pt>
                <c:pt idx="147">
                  <c:v>0.28800000000000003</c:v>
                </c:pt>
                <c:pt idx="148">
                  <c:v>0.29200000000000004</c:v>
                </c:pt>
                <c:pt idx="149">
                  <c:v>0.29600000000000004</c:v>
                </c:pt>
                <c:pt idx="150">
                  <c:v>0.30000000000000004</c:v>
                </c:pt>
                <c:pt idx="151">
                  <c:v>0.30400000000000005</c:v>
                </c:pt>
                <c:pt idx="152">
                  <c:v>0.30800000000000005</c:v>
                </c:pt>
                <c:pt idx="153">
                  <c:v>0.31200000000000006</c:v>
                </c:pt>
                <c:pt idx="154">
                  <c:v>0.31600000000000006</c:v>
                </c:pt>
                <c:pt idx="155">
                  <c:v>0.32</c:v>
                </c:pt>
                <c:pt idx="156">
                  <c:v>0.32400000000000007</c:v>
                </c:pt>
                <c:pt idx="157">
                  <c:v>0.328</c:v>
                </c:pt>
                <c:pt idx="158">
                  <c:v>0.332</c:v>
                </c:pt>
                <c:pt idx="159">
                  <c:v>0.336</c:v>
                </c:pt>
                <c:pt idx="160">
                  <c:v>0.34</c:v>
                </c:pt>
                <c:pt idx="161">
                  <c:v>0.34</c:v>
                </c:pt>
                <c:pt idx="162">
                  <c:v>0.34</c:v>
                </c:pt>
                <c:pt idx="163">
                  <c:v>0.34</c:v>
                </c:pt>
                <c:pt idx="164">
                  <c:v>0.34</c:v>
                </c:pt>
                <c:pt idx="165">
                  <c:v>0.34</c:v>
                </c:pt>
                <c:pt idx="166">
                  <c:v>0.34</c:v>
                </c:pt>
                <c:pt idx="167">
                  <c:v>0.34</c:v>
                </c:pt>
                <c:pt idx="168">
                  <c:v>0.34</c:v>
                </c:pt>
                <c:pt idx="169">
                  <c:v>0.34</c:v>
                </c:pt>
                <c:pt idx="170">
                  <c:v>0.34</c:v>
                </c:pt>
                <c:pt idx="171">
                  <c:v>0.34</c:v>
                </c:pt>
                <c:pt idx="172">
                  <c:v>0.34</c:v>
                </c:pt>
                <c:pt idx="173">
                  <c:v>0.34</c:v>
                </c:pt>
                <c:pt idx="174">
                  <c:v>0.34</c:v>
                </c:pt>
                <c:pt idx="175">
                  <c:v>0.34</c:v>
                </c:pt>
                <c:pt idx="176">
                  <c:v>0.34</c:v>
                </c:pt>
                <c:pt idx="177">
                  <c:v>0.34</c:v>
                </c:pt>
                <c:pt idx="178">
                  <c:v>0.34</c:v>
                </c:pt>
                <c:pt idx="179">
                  <c:v>0.34</c:v>
                </c:pt>
                <c:pt idx="180">
                  <c:v>0.34</c:v>
                </c:pt>
                <c:pt idx="181">
                  <c:v>0.34</c:v>
                </c:pt>
                <c:pt idx="182">
                  <c:v>0.34</c:v>
                </c:pt>
                <c:pt idx="183">
                  <c:v>0.34</c:v>
                </c:pt>
                <c:pt idx="184">
                  <c:v>0.34</c:v>
                </c:pt>
                <c:pt idx="185">
                  <c:v>0.34</c:v>
                </c:pt>
                <c:pt idx="186">
                  <c:v>0.34</c:v>
                </c:pt>
                <c:pt idx="187">
                  <c:v>0.34</c:v>
                </c:pt>
                <c:pt idx="188">
                  <c:v>0.34</c:v>
                </c:pt>
                <c:pt idx="189">
                  <c:v>0.34</c:v>
                </c:pt>
                <c:pt idx="190">
                  <c:v>0.34</c:v>
                </c:pt>
                <c:pt idx="191">
                  <c:v>0.34</c:v>
                </c:pt>
                <c:pt idx="192">
                  <c:v>0.34</c:v>
                </c:pt>
                <c:pt idx="193">
                  <c:v>0.34</c:v>
                </c:pt>
                <c:pt idx="194">
                  <c:v>0.34</c:v>
                </c:pt>
                <c:pt idx="195">
                  <c:v>0.34</c:v>
                </c:pt>
                <c:pt idx="196">
                  <c:v>0.34</c:v>
                </c:pt>
                <c:pt idx="197">
                  <c:v>0.34</c:v>
                </c:pt>
                <c:pt idx="198">
                  <c:v>0.34</c:v>
                </c:pt>
                <c:pt idx="199">
                  <c:v>0.34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45"/>
          <c:min val="0"/>
        </c:scaling>
        <c:delete val="1"/>
        <c:axPos val="l"/>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solidFill>
          <a:srgbClr val="EEF2F5"/>
        </a:solidFill>
        <a:ln>
          <a:noFill/>
        </a:ln>
        <a:effectLst/>
      </c:spPr>
    </c:plotArea>
    <c:plotVisOnly val="1"/>
    <c:dispBlanksAs val="span"/>
  </c:chart>
  <c:spPr>
    <a:solidFill>
      <a:srgbClr val="EEF2F5"/>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7"/>
                </a:solidFill>
                <a:latin typeface="+mn-lt"/>
              </a:defRPr>
            </a:pPr>
            <a:r>
              <a:rPr sz="1400" b="0" i="0" u="none" strike="noStrike">
                <a:solidFill>
                  <a:srgbClr val="1B2127"/>
                </a:solidFill>
                <a:latin typeface="+mn-lt"/>
              </a:rPr>
              <a:t>F1 by drift type (higher is better)</a:t>
            </a:r>
          </a:p>
        </c:rich>
      </c:tx>
      <c:layout/>
      <c:overlay val="0"/>
    </c:title>
    <c:autoTitleDeleted val="0"/>
    <c:plotArea>
      <c:layout/>
      <c:barChart>
        <c:barDir val="col"/>
        <c:grouping val="clustered"/>
        <c:varyColors val="0"/>
        <c:ser>
          <c:idx val="0"/>
          <c:order val="0"/>
          <c:tx>
            <c:strRef>
              <c:f>Sheet1!$B$1</c:f>
              <c:strCache>
                <c:ptCount val="1"/>
                <c:pt idx="0">
                  <c:v>DDM</c:v>
                </c:pt>
              </c:strCache>
            </c:strRef>
          </c:tx>
          <c:spPr>
            <a:solidFill>
              <a:srgbClr val="EDA100"/>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Sheet1!$B$2:$B$4</c:f>
              <c:numCache>
                <c:formatCode>General</c:formatCode>
                <c:ptCount val="3"/>
                <c:pt idx="0">
                  <c:v>0.231</c:v>
                </c:pt>
                <c:pt idx="1">
                  <c:v>0.524</c:v>
                </c:pt>
                <c:pt idx="2">
                  <c:v>0.498</c:v>
                </c:pt>
              </c:numCache>
            </c:numRef>
          </c:val>
        </c:ser>
        <c:ser>
          <c:idx val="1"/>
          <c:order val="1"/>
          <c:tx>
            <c:strRef>
              <c:f>Sheet1!$C$1</c:f>
              <c:strCache>
                <c:ptCount val="1"/>
                <c:pt idx="0">
                  <c:v>EDDM</c:v>
                </c:pt>
              </c:strCache>
            </c:strRef>
          </c:tx>
          <c:spPr>
            <a:solidFill>
              <a:srgbClr val="E87BA4"/>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Sheet1!$C$2:$C$4</c:f>
              <c:numCache>
                <c:formatCode>General</c:formatCode>
                <c:ptCount val="3"/>
                <c:pt idx="0">
                  <c:v>0.124</c:v>
                </c:pt>
                <c:pt idx="1">
                  <c:v>0.153</c:v>
                </c:pt>
                <c:pt idx="2">
                  <c:v>0.125</c:v>
                </c:pt>
              </c:numCache>
            </c:numRef>
          </c:val>
        </c:ser>
        <c:ser>
          <c:idx val="2"/>
          <c:order val="2"/>
          <c:tx>
            <c:strRef>
              <c:f>Sheet1!$D$1</c:f>
              <c:strCache>
                <c:ptCount val="1"/>
                <c:pt idx="0">
                  <c:v>HDDM-W</c:v>
                </c:pt>
              </c:strCache>
            </c:strRef>
          </c:tx>
          <c:spPr>
            <a:solidFill>
              <a:srgbClr val="6250D6"/>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Sheet1!$D$2:$D$4</c:f>
              <c:numCache>
                <c:formatCode>General</c:formatCode>
                <c:ptCount val="3"/>
                <c:pt idx="0">
                  <c:v>0.404</c:v>
                </c:pt>
                <c:pt idx="1">
                  <c:v>0.485</c:v>
                </c:pt>
                <c:pt idx="2">
                  <c:v>0.503</c:v>
                </c:pt>
              </c:numCache>
            </c:numRef>
          </c:val>
        </c:ser>
        <c:ser>
          <c:idx val="3"/>
          <c:order val="3"/>
          <c:tx>
            <c:strRef>
              <c:f>Sheet1!$E$1</c:f>
              <c:strCache>
                <c:ptCount val="1"/>
                <c:pt idx="0">
                  <c:v>ADWIN</c:v>
                </c:pt>
              </c:strCache>
            </c:strRef>
          </c:tx>
          <c:spPr>
            <a:solidFill>
              <a:srgbClr val="1BAF7A"/>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Sheet1!$E$2:$E$4</c:f>
              <c:numCache>
                <c:formatCode>General</c:formatCode>
                <c:ptCount val="3"/>
                <c:pt idx="0">
                  <c:v>0.422</c:v>
                </c:pt>
                <c:pt idx="1">
                  <c:v>0.733</c:v>
                </c:pt>
                <c:pt idx="2">
                  <c:v>0.678</c:v>
                </c:pt>
              </c:numCache>
            </c:numRef>
          </c:val>
        </c:ser>
        <c:ser>
          <c:idx val="4"/>
          <c:order val="4"/>
          <c:tx>
            <c:strRef>
              <c:f>Sheet1!$F$1</c:f>
              <c:strCache>
                <c:ptCount val="1"/>
                <c:pt idx="0">
                  <c:v>HDDM-A</c:v>
                </c:pt>
              </c:strCache>
            </c:strRef>
          </c:tx>
          <c:spPr>
            <a:solidFill>
              <a:srgbClr val="EB6834"/>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Sheet1!$F$2:$F$4</c:f>
              <c:numCache>
                <c:formatCode>General</c:formatCode>
                <c:ptCount val="3"/>
                <c:pt idx="0">
                  <c:v>0.505</c:v>
                </c:pt>
                <c:pt idx="1">
                  <c:v>0.792</c:v>
                </c:pt>
                <c:pt idx="2">
                  <c:v>0.719</c:v>
                </c:pt>
              </c:numCache>
            </c:numRef>
          </c:val>
        </c:ser>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65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E2E6"/>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solidFill>
                <a:srgbClr val="3A465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7"/>
                </a:solidFill>
                <a:latin typeface="+mn-lt"/>
              </a:defRPr>
            </a:pPr>
            <a:r>
              <a:rPr sz="1400" b="0" i="0" u="none" strike="noStrike">
                <a:solidFill>
                  <a:srgbClr val="1B2127"/>
                </a:solidFill>
                <a:latin typeface="+mn-lt"/>
              </a:rPr>
              <a:t>Penalised delay in samples (lower is better)</a:t>
            </a:r>
          </a:p>
        </c:rich>
      </c:tx>
      <c:layout/>
      <c:overlay val="0"/>
    </c:title>
    <c:autoTitleDeleted val="0"/>
    <c:plotArea>
      <c:layout/>
      <c:barChart>
        <c:barDir val="col"/>
        <c:grouping val="clustered"/>
        <c:varyColors val="0"/>
        <c:ser>
          <c:idx val="0"/>
          <c:order val="0"/>
          <c:tx>
            <c:strRef>
              <c:f>Sheet1!$B$1</c:f>
              <c:strCache>
                <c:ptCount val="1"/>
                <c:pt idx="0">
                  <c:v>DDM</c:v>
                </c:pt>
              </c:strCache>
            </c:strRef>
          </c:tx>
          <c:spPr>
            <a:solidFill>
              <a:srgbClr val="EDA100"/>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Sheet1!$B$2:$B$4</c:f>
              <c:numCache>
                <c:formatCode>General</c:formatCode>
                <c:ptCount val="3"/>
                <c:pt idx="0">
                  <c:v>269.767</c:v>
                </c:pt>
                <c:pt idx="1">
                  <c:v>645.944</c:v>
                </c:pt>
                <c:pt idx="2">
                  <c:v>651.078</c:v>
                </c:pt>
              </c:numCache>
            </c:numRef>
          </c:val>
        </c:ser>
        <c:ser>
          <c:idx val="1"/>
          <c:order val="1"/>
          <c:tx>
            <c:strRef>
              <c:f>Sheet1!$C$1</c:f>
              <c:strCache>
                <c:ptCount val="1"/>
                <c:pt idx="0">
                  <c:v>EDDM</c:v>
                </c:pt>
              </c:strCache>
            </c:strRef>
          </c:tx>
          <c:spPr>
            <a:solidFill>
              <a:srgbClr val="E87BA4"/>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Sheet1!$C$2:$C$4</c:f>
              <c:numCache>
                <c:formatCode>General</c:formatCode>
                <c:ptCount val="3"/>
                <c:pt idx="0">
                  <c:v>107.922</c:v>
                </c:pt>
                <c:pt idx="1">
                  <c:v>298.089</c:v>
                </c:pt>
                <c:pt idx="2">
                  <c:v>210.522</c:v>
                </c:pt>
              </c:numCache>
            </c:numRef>
          </c:val>
        </c:ser>
        <c:ser>
          <c:idx val="2"/>
          <c:order val="2"/>
          <c:tx>
            <c:strRef>
              <c:f>Sheet1!$D$1</c:f>
              <c:strCache>
                <c:ptCount val="1"/>
                <c:pt idx="0">
                  <c:v>HDDM-W</c:v>
                </c:pt>
              </c:strCache>
            </c:strRef>
          </c:tx>
          <c:spPr>
            <a:solidFill>
              <a:srgbClr val="6250D6"/>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Sheet1!$D$2:$D$4</c:f>
              <c:numCache>
                <c:formatCode>General</c:formatCode>
                <c:ptCount val="3"/>
                <c:pt idx="0">
                  <c:v>195.344</c:v>
                </c:pt>
                <c:pt idx="1">
                  <c:v>549.144</c:v>
                </c:pt>
                <c:pt idx="2">
                  <c:v>529.989</c:v>
                </c:pt>
              </c:numCache>
            </c:numRef>
          </c:val>
        </c:ser>
        <c:ser>
          <c:idx val="3"/>
          <c:order val="3"/>
          <c:tx>
            <c:strRef>
              <c:f>Sheet1!$E$1</c:f>
              <c:strCache>
                <c:ptCount val="1"/>
                <c:pt idx="0">
                  <c:v>ADWIN</c:v>
                </c:pt>
              </c:strCache>
            </c:strRef>
          </c:tx>
          <c:spPr>
            <a:solidFill>
              <a:srgbClr val="1BAF7A"/>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Sheet1!$E$2:$E$4</c:f>
              <c:numCache>
                <c:formatCode>General</c:formatCode>
                <c:ptCount val="3"/>
                <c:pt idx="0">
                  <c:v>265.889</c:v>
                </c:pt>
                <c:pt idx="1">
                  <c:v>667.4</c:v>
                </c:pt>
                <c:pt idx="2">
                  <c:v>669.767</c:v>
                </c:pt>
              </c:numCache>
            </c:numRef>
          </c:val>
        </c:ser>
        <c:ser>
          <c:idx val="4"/>
          <c:order val="4"/>
          <c:tx>
            <c:strRef>
              <c:f>Sheet1!$F$1</c:f>
              <c:strCache>
                <c:ptCount val="1"/>
                <c:pt idx="0">
                  <c:v>HDDM-A</c:v>
                </c:pt>
              </c:strCache>
            </c:strRef>
          </c:tx>
          <c:spPr>
            <a:solidFill>
              <a:srgbClr val="EB6834"/>
            </a:solidFill>
            <a:effectLst/>
          </c:spPr>
          <c:invertIfNegative val="0"/>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cat>
            <c:multiLvlStrRef>
              <c:f>Sheet1!$A$2:$A$4</c:f>
              <c:multiLvlStrCache>
                <c:ptCount val="3"/>
                <c:lvl>
                  <c:pt idx="0">
                    <c:v>abrupt</c:v>
                  </c:pt>
                  <c:pt idx="1">
                    <c:v>gradual</c:v>
                  </c:pt>
                  <c:pt idx="2">
                    <c:v>incremental</c:v>
                  </c:pt>
                </c:lvl>
              </c:multiLvlStrCache>
            </c:multiLvlStrRef>
          </c:cat>
          <c:val>
            <c:numRef>
              <c:f>Sheet1!$F$2:$F$4</c:f>
              <c:numCache>
                <c:formatCode>General</c:formatCode>
                <c:ptCount val="3"/>
                <c:pt idx="0">
                  <c:v>243.167</c:v>
                </c:pt>
                <c:pt idx="1">
                  <c:v>650.022</c:v>
                </c:pt>
                <c:pt idx="2">
                  <c:v>626.878</c:v>
                </c:pt>
              </c:numCache>
            </c:numRef>
          </c:val>
        </c:ser>
        <c:dLbls>
          <c:numFmt formatCode="#,##0" sourceLinked="0"/>
          <c:txPr>
            <a:bodyPr/>
            <a:lstStyle/>
            <a:p>
              <a:pPr>
                <a:defRPr b="0" i="0" strike="noStrike" sz="1100" u="none">
                  <a:solidFill>
                    <a:srgbClr val="3A4651"/>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651"/>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DE2E6"/>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465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127"/>
                </a:solidFill>
                <a:latin typeface="+mn-lt"/>
              </a:defRPr>
            </a:pPr>
            <a:r>
              <a:rPr sz="1400" b="0" i="0" u="none" strike="noStrike">
                <a:solidFill>
                  <a:srgbClr val="1B2127"/>
                </a:solidFill>
                <a:latin typeface="+mn-lt"/>
              </a:rPr>
              <a:t>Detection F1, fixed setting</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9AA1A8"/>
            </a:solidFill>
            <a:effectLst/>
          </c:spPr>
          <c:invertIfNegative val="0"/>
          <c:dLbls>
            <c:numFmt formatCode="0.000" sourceLinked="0"/>
            <c:txPr>
              <a:bodyPr/>
              <a:lstStyle/>
              <a:p>
                <a:pPr>
                  <a:defRPr b="0" i="0" strike="noStrike" sz="1100" u="none">
                    <a:solidFill>
                      <a:srgbClr val="3A4651"/>
                    </a:solidFill>
                    <a:latin typeface="+mn-lt"/>
                  </a:defRPr>
                </a:pPr>
              </a:p>
            </c:txPr>
            <c:showLegendKey val="0"/>
            <c:showVal val="1"/>
            <c:showCatName val="0"/>
            <c:showSerName val="0"/>
            <c:showPercent val="0"/>
            <c:showBubbleSize val="0"/>
            <c:showLeaderLines val="0"/>
          </c:dLbls>
          <c:dPt>
            <c:idx val="0"/>
            <c:invertIfNegative val="0"/>
            <c:bubble3D val="0"/>
            <c:spPr>
              <a:solidFill>
                <a:srgbClr val="9AA1A8"/>
              </a:solidFill>
              <a:effectLst/>
            </c:spPr>
          </c:dPt>
          <c:dPt>
            <c:idx val="1"/>
            <c:invertIfNegative val="0"/>
            <c:bubble3D val="0"/>
            <c:spPr>
              <a:solidFill>
                <a:srgbClr val="9AA1A8"/>
              </a:solidFill>
              <a:effectLst/>
            </c:spPr>
          </c:dPt>
          <c:dPt>
            <c:idx val="2"/>
            <c:invertIfNegative val="0"/>
            <c:bubble3D val="0"/>
            <c:spPr>
              <a:solidFill>
                <a:srgbClr val="9AA1A8"/>
              </a:solidFill>
              <a:effectLst/>
            </c:spPr>
          </c:dPt>
          <c:dPt>
            <c:idx val="3"/>
            <c:invertIfNegative val="0"/>
            <c:bubble3D val="0"/>
            <c:spPr>
              <a:solidFill>
                <a:srgbClr val="9AA1A8"/>
              </a:solidFill>
              <a:effectLst/>
            </c:spPr>
          </c:dPt>
          <c:dPt>
            <c:idx val="4"/>
            <c:invertIfNegative val="0"/>
            <c:bubble3D val="0"/>
            <c:spPr>
              <a:solidFill>
                <a:srgbClr val="EB6834"/>
              </a:solidFill>
              <a:effectLst/>
            </c:spPr>
          </c:dPt>
          <c:dPt>
            <c:idx val="5"/>
            <c:invertIfNegative val="0"/>
            <c:bubble3D val="0"/>
            <c:spPr>
              <a:solidFill>
                <a:srgbClr val="2A78D6"/>
              </a:solidFill>
              <a:effectLst/>
            </c:spPr>
          </c:dPt>
          <c:cat>
            <c:multiLvlStrRef>
              <c:f>Sheet1!$A$2:$A$7</c:f>
              <c:multiLvlStrCache>
                <c:ptCount val="6"/>
                <c:lvl>
                  <c:pt idx="0">
                    <c:v>OR(HDDM-W, EDDM), our proposal</c:v>
                  </c:pt>
                  <c:pt idx="1">
                    <c:v>OR(ADWIN, EDDM), Paper 2</c:v>
                  </c:pt>
                  <c:pt idx="2">
                    <c:v>AND(HDDM-W, ADWIN)</c:v>
                  </c:pt>
                  <c:pt idx="3">
                    <c:v>AND(HDDM-W, EDDM)</c:v>
                  </c:pt>
                  <c:pt idx="4">
                    <c:v>HDDM-A alone, best single</c:v>
                  </c:pt>
                  <c:pt idx="5">
                    <c:v>Hybrid OR(HDDM-A, ADWIN), final</c:v>
                  </c:pt>
                </c:lvl>
              </c:multiLvlStrCache>
            </c:multiLvlStrRef>
          </c:cat>
          <c:val>
            <c:numRef>
              <c:f>Sheet1!$B$2:$B$7</c:f>
              <c:numCache>
                <c:formatCode>General</c:formatCode>
                <c:ptCount val="6"/>
                <c:pt idx="0">
                  <c:v>0.223</c:v>
                </c:pt>
                <c:pt idx="1">
                  <c:v>0.347</c:v>
                </c:pt>
                <c:pt idx="2">
                  <c:v>0.37</c:v>
                </c:pt>
                <c:pt idx="3">
                  <c:v>0.417</c:v>
                </c:pt>
                <c:pt idx="4">
                  <c:v>0.672</c:v>
                </c:pt>
                <c:pt idx="5">
                  <c:v>0.733</c:v>
                </c:pt>
              </c:numCache>
            </c:numRef>
          </c:val>
        </c:ser>
        <c:dLbls>
          <c:numFmt formatCode="0.000" sourceLinked="0"/>
          <c:txPr>
            <a:bodyPr/>
            <a:lstStyle/>
            <a:p>
              <a:pPr>
                <a:defRPr b="0" i="0" strike="noStrike" sz="1100" u="none">
                  <a:solidFill>
                    <a:srgbClr val="3A465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4651"/>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DE2E6"/>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9"/>
          <c:y val="0.04"/>
          <c:w val="0.89"/>
          <c:h val="0.86"/>
        </c:manualLayout>
      </c:layout>
      <c:lineChart>
        <c:varyColors val="0"/>
        <c:ser>
          <c:idx val="0"/>
          <c:order val="0"/>
          <c:tx>
            <c:strRef>
              <c:f>Sheet1!$B$1</c:f>
              <c:strCache>
                <c:ptCount val="1"/>
                <c:pt idx="0">
                  <c:v>Static</c:v>
                </c:pt>
              </c:strCache>
            </c:strRef>
          </c:tx>
          <c:spPr>
            <a:solidFill>
              <a:srgbClr val="52514E"/>
            </a:solidFill>
            <a:ln w="22225" cap="flat">
              <a:solidFill>
                <a:srgbClr val="5251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2514E"/>
              </a:solidFill>
              <a:ln w="9525" cap="flat">
                <a:solidFill>
                  <a:srgbClr val="52514E"/>
                </a:solidFill>
                <a:prstDash val="solid"/>
                <a:round/>
              </a:ln>
              <a:effectLst/>
            </c:spPr>
          </c:marker>
          <c:cat>
            <c:multiLvlStrRef>
              <c:f>Sheet1!$A$2:$A$381</c:f>
              <c:multiLvlStrCache>
                <c:ptCount val="380"/>
                <c:lvl>
                  <c:pt idx="0">
                    <c:v>1000</c:v>
                  </c:pt>
                  <c:pt idx="1">
                    <c:v>1050</c:v>
                  </c:pt>
                  <c:pt idx="2">
                    <c:v>1100</c:v>
                  </c:pt>
                  <c:pt idx="3">
                    <c:v>1150</c:v>
                  </c:pt>
                  <c:pt idx="4">
                    <c:v>1200</c:v>
                  </c:pt>
                  <c:pt idx="5">
                    <c:v>1250</c:v>
                  </c:pt>
                  <c:pt idx="6">
                    <c:v>1300</c:v>
                  </c:pt>
                  <c:pt idx="7">
                    <c:v>1350</c:v>
                  </c:pt>
                  <c:pt idx="8">
                    <c:v>1400</c:v>
                  </c:pt>
                  <c:pt idx="9">
                    <c:v>1450</c:v>
                  </c:pt>
                  <c:pt idx="10">
                    <c:v>1500</c:v>
                  </c:pt>
                  <c:pt idx="11">
                    <c:v>1550</c:v>
                  </c:pt>
                  <c:pt idx="12">
                    <c:v>1600</c:v>
                  </c:pt>
                  <c:pt idx="13">
                    <c:v>1650</c:v>
                  </c:pt>
                  <c:pt idx="14">
                    <c:v>1700</c:v>
                  </c:pt>
                  <c:pt idx="15">
                    <c:v>1750</c:v>
                  </c:pt>
                  <c:pt idx="16">
                    <c:v>1800</c:v>
                  </c:pt>
                  <c:pt idx="17">
                    <c:v>1850</c:v>
                  </c:pt>
                  <c:pt idx="18">
                    <c:v>1900</c:v>
                  </c:pt>
                  <c:pt idx="19">
                    <c:v>1950</c:v>
                  </c:pt>
                  <c:pt idx="20">
                    <c:v>2000</c:v>
                  </c:pt>
                  <c:pt idx="21">
                    <c:v>2050</c:v>
                  </c:pt>
                  <c:pt idx="22">
                    <c:v>2100</c:v>
                  </c:pt>
                  <c:pt idx="23">
                    <c:v>2150</c:v>
                  </c:pt>
                  <c:pt idx="24">
                    <c:v>2200</c:v>
                  </c:pt>
                  <c:pt idx="25">
                    <c:v>2250</c:v>
                  </c:pt>
                  <c:pt idx="26">
                    <c:v>2300</c:v>
                  </c:pt>
                  <c:pt idx="27">
                    <c:v>2350</c:v>
                  </c:pt>
                  <c:pt idx="28">
                    <c:v>2400</c:v>
                  </c:pt>
                  <c:pt idx="29">
                    <c:v>2450</c:v>
                  </c:pt>
                  <c:pt idx="30">
                    <c:v>2500</c:v>
                  </c:pt>
                  <c:pt idx="31">
                    <c:v>2550</c:v>
                  </c:pt>
                  <c:pt idx="32">
                    <c:v>2600</c:v>
                  </c:pt>
                  <c:pt idx="33">
                    <c:v>2650</c:v>
                  </c:pt>
                  <c:pt idx="34">
                    <c:v>2700</c:v>
                  </c:pt>
                  <c:pt idx="35">
                    <c:v>2750</c:v>
                  </c:pt>
                  <c:pt idx="36">
                    <c:v>2800</c:v>
                  </c:pt>
                  <c:pt idx="37">
                    <c:v>2850</c:v>
                  </c:pt>
                  <c:pt idx="38">
                    <c:v>2900</c:v>
                  </c:pt>
                  <c:pt idx="39">
                    <c:v>2950</c:v>
                  </c:pt>
                  <c:pt idx="40">
                    <c:v>3000</c:v>
                  </c:pt>
                  <c:pt idx="41">
                    <c:v>3050</c:v>
                  </c:pt>
                  <c:pt idx="42">
                    <c:v>3100</c:v>
                  </c:pt>
                  <c:pt idx="43">
                    <c:v>3150</c:v>
                  </c:pt>
                  <c:pt idx="44">
                    <c:v>3200</c:v>
                  </c:pt>
                  <c:pt idx="45">
                    <c:v>3250</c:v>
                  </c:pt>
                  <c:pt idx="46">
                    <c:v>3300</c:v>
                  </c:pt>
                  <c:pt idx="47">
                    <c:v>3350</c:v>
                  </c:pt>
                  <c:pt idx="48">
                    <c:v>3400</c:v>
                  </c:pt>
                  <c:pt idx="49">
                    <c:v>3450</c:v>
                  </c:pt>
                  <c:pt idx="50">
                    <c:v>3500</c:v>
                  </c:pt>
                  <c:pt idx="51">
                    <c:v>3550</c:v>
                  </c:pt>
                  <c:pt idx="52">
                    <c:v>3600</c:v>
                  </c:pt>
                  <c:pt idx="53">
                    <c:v>3650</c:v>
                  </c:pt>
                  <c:pt idx="54">
                    <c:v>3700</c:v>
                  </c:pt>
                  <c:pt idx="55">
                    <c:v>3750</c:v>
                  </c:pt>
                  <c:pt idx="56">
                    <c:v>3800</c:v>
                  </c:pt>
                  <c:pt idx="57">
                    <c:v>3850</c:v>
                  </c:pt>
                  <c:pt idx="58">
                    <c:v>3900</c:v>
                  </c:pt>
                  <c:pt idx="59">
                    <c:v>3950</c:v>
                  </c:pt>
                  <c:pt idx="60">
                    <c:v>4000</c:v>
                  </c:pt>
                  <c:pt idx="61">
                    <c:v>4050</c:v>
                  </c:pt>
                  <c:pt idx="62">
                    <c:v>4100</c:v>
                  </c:pt>
                  <c:pt idx="63">
                    <c:v>4150</c:v>
                  </c:pt>
                  <c:pt idx="64">
                    <c:v>4200</c:v>
                  </c:pt>
                  <c:pt idx="65">
                    <c:v>4250</c:v>
                  </c:pt>
                  <c:pt idx="66">
                    <c:v>4300</c:v>
                  </c:pt>
                  <c:pt idx="67">
                    <c:v>4350</c:v>
                  </c:pt>
                  <c:pt idx="68">
                    <c:v>4400</c:v>
                  </c:pt>
                  <c:pt idx="69">
                    <c:v>4450</c:v>
                  </c:pt>
                  <c:pt idx="70">
                    <c:v>4500</c:v>
                  </c:pt>
                  <c:pt idx="71">
                    <c:v>4550</c:v>
                  </c:pt>
                  <c:pt idx="72">
                    <c:v>4600</c:v>
                  </c:pt>
                  <c:pt idx="73">
                    <c:v>4650</c:v>
                  </c:pt>
                  <c:pt idx="74">
                    <c:v>4700</c:v>
                  </c:pt>
                  <c:pt idx="75">
                    <c:v>4750</c:v>
                  </c:pt>
                  <c:pt idx="76">
                    <c:v>4800</c:v>
                  </c:pt>
                  <c:pt idx="77">
                    <c:v>4850</c:v>
                  </c:pt>
                  <c:pt idx="78">
                    <c:v>4900</c:v>
                  </c:pt>
                  <c:pt idx="79">
                    <c:v>4950</c:v>
                  </c:pt>
                  <c:pt idx="80">
                    <c:v>5000</c:v>
                  </c:pt>
                  <c:pt idx="81">
                    <c:v>5050</c:v>
                  </c:pt>
                  <c:pt idx="82">
                    <c:v>5100</c:v>
                  </c:pt>
                  <c:pt idx="83">
                    <c:v>5150</c:v>
                  </c:pt>
                  <c:pt idx="84">
                    <c:v>5200</c:v>
                  </c:pt>
                  <c:pt idx="85">
                    <c:v>5250</c:v>
                  </c:pt>
                  <c:pt idx="86">
                    <c:v>5300</c:v>
                  </c:pt>
                  <c:pt idx="87">
                    <c:v>5350</c:v>
                  </c:pt>
                  <c:pt idx="88">
                    <c:v>5400</c:v>
                  </c:pt>
                  <c:pt idx="89">
                    <c:v>5450</c:v>
                  </c:pt>
                  <c:pt idx="90">
                    <c:v>5500</c:v>
                  </c:pt>
                  <c:pt idx="91">
                    <c:v>5550</c:v>
                  </c:pt>
                  <c:pt idx="92">
                    <c:v>5600</c:v>
                  </c:pt>
                  <c:pt idx="93">
                    <c:v>5650</c:v>
                  </c:pt>
                  <c:pt idx="94">
                    <c:v>5700</c:v>
                  </c:pt>
                  <c:pt idx="95">
                    <c:v>5750</c:v>
                  </c:pt>
                  <c:pt idx="96">
                    <c:v>5800</c:v>
                  </c:pt>
                  <c:pt idx="97">
                    <c:v>5850</c:v>
                  </c:pt>
                  <c:pt idx="98">
                    <c:v>5900</c:v>
                  </c:pt>
                  <c:pt idx="99">
                    <c:v>5950</c:v>
                  </c:pt>
                  <c:pt idx="100">
                    <c:v>6000</c:v>
                  </c:pt>
                  <c:pt idx="101">
                    <c:v>6050</c:v>
                  </c:pt>
                  <c:pt idx="102">
                    <c:v>6100</c:v>
                  </c:pt>
                  <c:pt idx="103">
                    <c:v>6150</c:v>
                  </c:pt>
                  <c:pt idx="104">
                    <c:v>6200</c:v>
                  </c:pt>
                  <c:pt idx="105">
                    <c:v>6250</c:v>
                  </c:pt>
                  <c:pt idx="106">
                    <c:v>6300</c:v>
                  </c:pt>
                  <c:pt idx="107">
                    <c:v>6350</c:v>
                  </c:pt>
                  <c:pt idx="108">
                    <c:v>6400</c:v>
                  </c:pt>
                  <c:pt idx="109">
                    <c:v>6450</c:v>
                  </c:pt>
                  <c:pt idx="110">
                    <c:v>6500</c:v>
                  </c:pt>
                  <c:pt idx="111">
                    <c:v>6550</c:v>
                  </c:pt>
                  <c:pt idx="112">
                    <c:v>6600</c:v>
                  </c:pt>
                  <c:pt idx="113">
                    <c:v>6650</c:v>
                  </c:pt>
                  <c:pt idx="114">
                    <c:v>6700</c:v>
                  </c:pt>
                  <c:pt idx="115">
                    <c:v>6750</c:v>
                  </c:pt>
                  <c:pt idx="116">
                    <c:v>6800</c:v>
                  </c:pt>
                  <c:pt idx="117">
                    <c:v>6850</c:v>
                  </c:pt>
                  <c:pt idx="118">
                    <c:v>6900</c:v>
                  </c:pt>
                  <c:pt idx="119">
                    <c:v>6950</c:v>
                  </c:pt>
                  <c:pt idx="120">
                    <c:v>7000</c:v>
                  </c:pt>
                  <c:pt idx="121">
                    <c:v>7050</c:v>
                  </c:pt>
                  <c:pt idx="122">
                    <c:v>7100</c:v>
                  </c:pt>
                  <c:pt idx="123">
                    <c:v>7150</c:v>
                  </c:pt>
                  <c:pt idx="124">
                    <c:v>7200</c:v>
                  </c:pt>
                  <c:pt idx="125">
                    <c:v>7250</c:v>
                  </c:pt>
                  <c:pt idx="126">
                    <c:v>7300</c:v>
                  </c:pt>
                  <c:pt idx="127">
                    <c:v>7350</c:v>
                  </c:pt>
                  <c:pt idx="128">
                    <c:v>7400</c:v>
                  </c:pt>
                  <c:pt idx="129">
                    <c:v>7450</c:v>
                  </c:pt>
                  <c:pt idx="130">
                    <c:v>7500</c:v>
                  </c:pt>
                  <c:pt idx="131">
                    <c:v>7550</c:v>
                  </c:pt>
                  <c:pt idx="132">
                    <c:v>7600</c:v>
                  </c:pt>
                  <c:pt idx="133">
                    <c:v>7650</c:v>
                  </c:pt>
                  <c:pt idx="134">
                    <c:v>7700</c:v>
                  </c:pt>
                  <c:pt idx="135">
                    <c:v>7750</c:v>
                  </c:pt>
                  <c:pt idx="136">
                    <c:v>7800</c:v>
                  </c:pt>
                  <c:pt idx="137">
                    <c:v>7850</c:v>
                  </c:pt>
                  <c:pt idx="138">
                    <c:v>7900</c:v>
                  </c:pt>
                  <c:pt idx="139">
                    <c:v>7950</c:v>
                  </c:pt>
                  <c:pt idx="140">
                    <c:v>8000</c:v>
                  </c:pt>
                  <c:pt idx="141">
                    <c:v>8050</c:v>
                  </c:pt>
                  <c:pt idx="142">
                    <c:v>8100</c:v>
                  </c:pt>
                  <c:pt idx="143">
                    <c:v>8150</c:v>
                  </c:pt>
                  <c:pt idx="144">
                    <c:v>8200</c:v>
                  </c:pt>
                  <c:pt idx="145">
                    <c:v>8250</c:v>
                  </c:pt>
                  <c:pt idx="146">
                    <c:v>8300</c:v>
                  </c:pt>
                  <c:pt idx="147">
                    <c:v>8350</c:v>
                  </c:pt>
                  <c:pt idx="148">
                    <c:v>8400</c:v>
                  </c:pt>
                  <c:pt idx="149">
                    <c:v>8450</c:v>
                  </c:pt>
                  <c:pt idx="150">
                    <c:v>8500</c:v>
                  </c:pt>
                  <c:pt idx="151">
                    <c:v>8550</c:v>
                  </c:pt>
                  <c:pt idx="152">
                    <c:v>8600</c:v>
                  </c:pt>
                  <c:pt idx="153">
                    <c:v>8650</c:v>
                  </c:pt>
                  <c:pt idx="154">
                    <c:v>8700</c:v>
                  </c:pt>
                  <c:pt idx="155">
                    <c:v>8750</c:v>
                  </c:pt>
                  <c:pt idx="156">
                    <c:v>8800</c:v>
                  </c:pt>
                  <c:pt idx="157">
                    <c:v>8850</c:v>
                  </c:pt>
                  <c:pt idx="158">
                    <c:v>8900</c:v>
                  </c:pt>
                  <c:pt idx="159">
                    <c:v>8950</c:v>
                  </c:pt>
                  <c:pt idx="160">
                    <c:v>9000</c:v>
                  </c:pt>
                  <c:pt idx="161">
                    <c:v>9050</c:v>
                  </c:pt>
                  <c:pt idx="162">
                    <c:v>9100</c:v>
                  </c:pt>
                  <c:pt idx="163">
                    <c:v>9150</c:v>
                  </c:pt>
                  <c:pt idx="164">
                    <c:v>9200</c:v>
                  </c:pt>
                  <c:pt idx="165">
                    <c:v>9250</c:v>
                  </c:pt>
                  <c:pt idx="166">
                    <c:v>9300</c:v>
                  </c:pt>
                  <c:pt idx="167">
                    <c:v>9350</c:v>
                  </c:pt>
                  <c:pt idx="168">
                    <c:v>9400</c:v>
                  </c:pt>
                  <c:pt idx="169">
                    <c:v>9450</c:v>
                  </c:pt>
                  <c:pt idx="170">
                    <c:v>9500</c:v>
                  </c:pt>
                  <c:pt idx="171">
                    <c:v>9550</c:v>
                  </c:pt>
                  <c:pt idx="172">
                    <c:v>9600</c:v>
                  </c:pt>
                  <c:pt idx="173">
                    <c:v>9650</c:v>
                  </c:pt>
                  <c:pt idx="174">
                    <c:v>9700</c:v>
                  </c:pt>
                  <c:pt idx="175">
                    <c:v>9750</c:v>
                  </c:pt>
                  <c:pt idx="176">
                    <c:v>9800</c:v>
                  </c:pt>
                  <c:pt idx="177">
                    <c:v>9850</c:v>
                  </c:pt>
                  <c:pt idx="178">
                    <c:v>9900</c:v>
                  </c:pt>
                  <c:pt idx="179">
                    <c:v>9950</c:v>
                  </c:pt>
                  <c:pt idx="180">
                    <c:v>10000</c:v>
                  </c:pt>
                  <c:pt idx="181">
                    <c:v>10050</c:v>
                  </c:pt>
                  <c:pt idx="182">
                    <c:v>10100</c:v>
                  </c:pt>
                  <c:pt idx="183">
                    <c:v>10150</c:v>
                  </c:pt>
                  <c:pt idx="184">
                    <c:v>10200</c:v>
                  </c:pt>
                  <c:pt idx="185">
                    <c:v>10250</c:v>
                  </c:pt>
                  <c:pt idx="186">
                    <c:v>10300</c:v>
                  </c:pt>
                  <c:pt idx="187">
                    <c:v>10350</c:v>
                  </c:pt>
                  <c:pt idx="188">
                    <c:v>10400</c:v>
                  </c:pt>
                  <c:pt idx="189">
                    <c:v>10450</c:v>
                  </c:pt>
                  <c:pt idx="190">
                    <c:v>10500</c:v>
                  </c:pt>
                  <c:pt idx="191">
                    <c:v>10550</c:v>
                  </c:pt>
                  <c:pt idx="192">
                    <c:v>10600</c:v>
                  </c:pt>
                  <c:pt idx="193">
                    <c:v>10650</c:v>
                  </c:pt>
                  <c:pt idx="194">
                    <c:v>10700</c:v>
                  </c:pt>
                  <c:pt idx="195">
                    <c:v>10750</c:v>
                  </c:pt>
                  <c:pt idx="196">
                    <c:v>10800</c:v>
                  </c:pt>
                  <c:pt idx="197">
                    <c:v>10850</c:v>
                  </c:pt>
                  <c:pt idx="198">
                    <c:v>10900</c:v>
                  </c:pt>
                  <c:pt idx="199">
                    <c:v>10950</c:v>
                  </c:pt>
                  <c:pt idx="200">
                    <c:v>11000</c:v>
                  </c:pt>
                  <c:pt idx="201">
                    <c:v>11050</c:v>
                  </c:pt>
                  <c:pt idx="202">
                    <c:v>11100</c:v>
                  </c:pt>
                  <c:pt idx="203">
                    <c:v>11150</c:v>
                  </c:pt>
                  <c:pt idx="204">
                    <c:v>11200</c:v>
                  </c:pt>
                  <c:pt idx="205">
                    <c:v>11250</c:v>
                  </c:pt>
                  <c:pt idx="206">
                    <c:v>11300</c:v>
                  </c:pt>
                  <c:pt idx="207">
                    <c:v>11350</c:v>
                  </c:pt>
                  <c:pt idx="208">
                    <c:v>11400</c:v>
                  </c:pt>
                  <c:pt idx="209">
                    <c:v>11450</c:v>
                  </c:pt>
                  <c:pt idx="210">
                    <c:v>11500</c:v>
                  </c:pt>
                  <c:pt idx="211">
                    <c:v>11550</c:v>
                  </c:pt>
                  <c:pt idx="212">
                    <c:v>11600</c:v>
                  </c:pt>
                  <c:pt idx="213">
                    <c:v>11650</c:v>
                  </c:pt>
                  <c:pt idx="214">
                    <c:v>11700</c:v>
                  </c:pt>
                  <c:pt idx="215">
                    <c:v>11750</c:v>
                  </c:pt>
                  <c:pt idx="216">
                    <c:v>11800</c:v>
                  </c:pt>
                  <c:pt idx="217">
                    <c:v>11850</c:v>
                  </c:pt>
                  <c:pt idx="218">
                    <c:v>11900</c:v>
                  </c:pt>
                  <c:pt idx="219">
                    <c:v>11950</c:v>
                  </c:pt>
                  <c:pt idx="220">
                    <c:v>12000</c:v>
                  </c:pt>
                  <c:pt idx="221">
                    <c:v>12050</c:v>
                  </c:pt>
                  <c:pt idx="222">
                    <c:v>12100</c:v>
                  </c:pt>
                  <c:pt idx="223">
                    <c:v>12150</c:v>
                  </c:pt>
                  <c:pt idx="224">
                    <c:v>12200</c:v>
                  </c:pt>
                  <c:pt idx="225">
                    <c:v>12250</c:v>
                  </c:pt>
                  <c:pt idx="226">
                    <c:v>12300</c:v>
                  </c:pt>
                  <c:pt idx="227">
                    <c:v>12350</c:v>
                  </c:pt>
                  <c:pt idx="228">
                    <c:v>12400</c:v>
                  </c:pt>
                  <c:pt idx="229">
                    <c:v>12450</c:v>
                  </c:pt>
                  <c:pt idx="230">
                    <c:v>12500</c:v>
                  </c:pt>
                  <c:pt idx="231">
                    <c:v>12550</c:v>
                  </c:pt>
                  <c:pt idx="232">
                    <c:v>12600</c:v>
                  </c:pt>
                  <c:pt idx="233">
                    <c:v>12650</c:v>
                  </c:pt>
                  <c:pt idx="234">
                    <c:v>12700</c:v>
                  </c:pt>
                  <c:pt idx="235">
                    <c:v>12750</c:v>
                  </c:pt>
                  <c:pt idx="236">
                    <c:v>12800</c:v>
                  </c:pt>
                  <c:pt idx="237">
                    <c:v>12850</c:v>
                  </c:pt>
                  <c:pt idx="238">
                    <c:v>12900</c:v>
                  </c:pt>
                  <c:pt idx="239">
                    <c:v>12950</c:v>
                  </c:pt>
                  <c:pt idx="240">
                    <c:v>13000</c:v>
                  </c:pt>
                  <c:pt idx="241">
                    <c:v>13050</c:v>
                  </c:pt>
                  <c:pt idx="242">
                    <c:v>13100</c:v>
                  </c:pt>
                  <c:pt idx="243">
                    <c:v>13150</c:v>
                  </c:pt>
                  <c:pt idx="244">
                    <c:v>13200</c:v>
                  </c:pt>
                  <c:pt idx="245">
                    <c:v>13250</c:v>
                  </c:pt>
                  <c:pt idx="246">
                    <c:v>13300</c:v>
                  </c:pt>
                  <c:pt idx="247">
                    <c:v>13350</c:v>
                  </c:pt>
                  <c:pt idx="248">
                    <c:v>13400</c:v>
                  </c:pt>
                  <c:pt idx="249">
                    <c:v>13450</c:v>
                  </c:pt>
                  <c:pt idx="250">
                    <c:v>13500</c:v>
                  </c:pt>
                  <c:pt idx="251">
                    <c:v>13550</c:v>
                  </c:pt>
                  <c:pt idx="252">
                    <c:v>13600</c:v>
                  </c:pt>
                  <c:pt idx="253">
                    <c:v>13650</c:v>
                  </c:pt>
                  <c:pt idx="254">
                    <c:v>13700</c:v>
                  </c:pt>
                  <c:pt idx="255">
                    <c:v>13750</c:v>
                  </c:pt>
                  <c:pt idx="256">
                    <c:v>13800</c:v>
                  </c:pt>
                  <c:pt idx="257">
                    <c:v>13850</c:v>
                  </c:pt>
                  <c:pt idx="258">
                    <c:v>13900</c:v>
                  </c:pt>
                  <c:pt idx="259">
                    <c:v>13950</c:v>
                  </c:pt>
                  <c:pt idx="260">
                    <c:v>14000</c:v>
                  </c:pt>
                  <c:pt idx="261">
                    <c:v>14050</c:v>
                  </c:pt>
                  <c:pt idx="262">
                    <c:v>14100</c:v>
                  </c:pt>
                  <c:pt idx="263">
                    <c:v>14150</c:v>
                  </c:pt>
                  <c:pt idx="264">
                    <c:v>14200</c:v>
                  </c:pt>
                  <c:pt idx="265">
                    <c:v>14250</c:v>
                  </c:pt>
                  <c:pt idx="266">
                    <c:v>14300</c:v>
                  </c:pt>
                  <c:pt idx="267">
                    <c:v>14350</c:v>
                  </c:pt>
                  <c:pt idx="268">
                    <c:v>14400</c:v>
                  </c:pt>
                  <c:pt idx="269">
                    <c:v>14450</c:v>
                  </c:pt>
                  <c:pt idx="270">
                    <c:v>14500</c:v>
                  </c:pt>
                  <c:pt idx="271">
                    <c:v>14550</c:v>
                  </c:pt>
                  <c:pt idx="272">
                    <c:v>14600</c:v>
                  </c:pt>
                  <c:pt idx="273">
                    <c:v>14650</c:v>
                  </c:pt>
                  <c:pt idx="274">
                    <c:v>14700</c:v>
                  </c:pt>
                  <c:pt idx="275">
                    <c:v>14750</c:v>
                  </c:pt>
                  <c:pt idx="276">
                    <c:v>14800</c:v>
                  </c:pt>
                  <c:pt idx="277">
                    <c:v>14850</c:v>
                  </c:pt>
                  <c:pt idx="278">
                    <c:v>14900</c:v>
                  </c:pt>
                  <c:pt idx="279">
                    <c:v>14950</c:v>
                  </c:pt>
                  <c:pt idx="280">
                    <c:v>15000</c:v>
                  </c:pt>
                  <c:pt idx="281">
                    <c:v>15050</c:v>
                  </c:pt>
                  <c:pt idx="282">
                    <c:v>15100</c:v>
                  </c:pt>
                  <c:pt idx="283">
                    <c:v>15150</c:v>
                  </c:pt>
                  <c:pt idx="284">
                    <c:v>15200</c:v>
                  </c:pt>
                  <c:pt idx="285">
                    <c:v>15250</c:v>
                  </c:pt>
                  <c:pt idx="286">
                    <c:v>15300</c:v>
                  </c:pt>
                  <c:pt idx="287">
                    <c:v>15350</c:v>
                  </c:pt>
                  <c:pt idx="288">
                    <c:v>15400</c:v>
                  </c:pt>
                  <c:pt idx="289">
                    <c:v>15450</c:v>
                  </c:pt>
                  <c:pt idx="290">
                    <c:v>15500</c:v>
                  </c:pt>
                  <c:pt idx="291">
                    <c:v>15550</c:v>
                  </c:pt>
                  <c:pt idx="292">
                    <c:v>15600</c:v>
                  </c:pt>
                  <c:pt idx="293">
                    <c:v>15650</c:v>
                  </c:pt>
                  <c:pt idx="294">
                    <c:v>15700</c:v>
                  </c:pt>
                  <c:pt idx="295">
                    <c:v>15750</c:v>
                  </c:pt>
                  <c:pt idx="296">
                    <c:v>15800</c:v>
                  </c:pt>
                  <c:pt idx="297">
                    <c:v>15850</c:v>
                  </c:pt>
                  <c:pt idx="298">
                    <c:v>15900</c:v>
                  </c:pt>
                  <c:pt idx="299">
                    <c:v>15950</c:v>
                  </c:pt>
                  <c:pt idx="300">
                    <c:v>16000</c:v>
                  </c:pt>
                  <c:pt idx="301">
                    <c:v>16050</c:v>
                  </c:pt>
                  <c:pt idx="302">
                    <c:v>16100</c:v>
                  </c:pt>
                  <c:pt idx="303">
                    <c:v>16150</c:v>
                  </c:pt>
                  <c:pt idx="304">
                    <c:v>16200</c:v>
                  </c:pt>
                  <c:pt idx="305">
                    <c:v>16250</c:v>
                  </c:pt>
                  <c:pt idx="306">
                    <c:v>16300</c:v>
                  </c:pt>
                  <c:pt idx="307">
                    <c:v>16350</c:v>
                  </c:pt>
                  <c:pt idx="308">
                    <c:v>16400</c:v>
                  </c:pt>
                  <c:pt idx="309">
                    <c:v>16450</c:v>
                  </c:pt>
                  <c:pt idx="310">
                    <c:v>16500</c:v>
                  </c:pt>
                  <c:pt idx="311">
                    <c:v>16550</c:v>
                  </c:pt>
                  <c:pt idx="312">
                    <c:v>16600</c:v>
                  </c:pt>
                  <c:pt idx="313">
                    <c:v>16650</c:v>
                  </c:pt>
                  <c:pt idx="314">
                    <c:v>16700</c:v>
                  </c:pt>
                  <c:pt idx="315">
                    <c:v>16750</c:v>
                  </c:pt>
                  <c:pt idx="316">
                    <c:v>16800</c:v>
                  </c:pt>
                  <c:pt idx="317">
                    <c:v>16850</c:v>
                  </c:pt>
                  <c:pt idx="318">
                    <c:v>16900</c:v>
                  </c:pt>
                  <c:pt idx="319">
                    <c:v>16950</c:v>
                  </c:pt>
                  <c:pt idx="320">
                    <c:v>17000</c:v>
                  </c:pt>
                  <c:pt idx="321">
                    <c:v>17050</c:v>
                  </c:pt>
                  <c:pt idx="322">
                    <c:v>17100</c:v>
                  </c:pt>
                  <c:pt idx="323">
                    <c:v>17150</c:v>
                  </c:pt>
                  <c:pt idx="324">
                    <c:v>17200</c:v>
                  </c:pt>
                  <c:pt idx="325">
                    <c:v>17250</c:v>
                  </c:pt>
                  <c:pt idx="326">
                    <c:v>17300</c:v>
                  </c:pt>
                  <c:pt idx="327">
                    <c:v>17350</c:v>
                  </c:pt>
                  <c:pt idx="328">
                    <c:v>17400</c:v>
                  </c:pt>
                  <c:pt idx="329">
                    <c:v>17450</c:v>
                  </c:pt>
                  <c:pt idx="330">
                    <c:v>17500</c:v>
                  </c:pt>
                  <c:pt idx="331">
                    <c:v>17550</c:v>
                  </c:pt>
                  <c:pt idx="332">
                    <c:v>17600</c:v>
                  </c:pt>
                  <c:pt idx="333">
                    <c:v>17650</c:v>
                  </c:pt>
                  <c:pt idx="334">
                    <c:v>17700</c:v>
                  </c:pt>
                  <c:pt idx="335">
                    <c:v>17750</c:v>
                  </c:pt>
                  <c:pt idx="336">
                    <c:v>17800</c:v>
                  </c:pt>
                  <c:pt idx="337">
                    <c:v>17850</c:v>
                  </c:pt>
                  <c:pt idx="338">
                    <c:v>17900</c:v>
                  </c:pt>
                  <c:pt idx="339">
                    <c:v>17950</c:v>
                  </c:pt>
                  <c:pt idx="340">
                    <c:v>18000</c:v>
                  </c:pt>
                  <c:pt idx="341">
                    <c:v>18050</c:v>
                  </c:pt>
                  <c:pt idx="342">
                    <c:v>18100</c:v>
                  </c:pt>
                  <c:pt idx="343">
                    <c:v>18150</c:v>
                  </c:pt>
                  <c:pt idx="344">
                    <c:v>18200</c:v>
                  </c:pt>
                  <c:pt idx="345">
                    <c:v>18250</c:v>
                  </c:pt>
                  <c:pt idx="346">
                    <c:v>18300</c:v>
                  </c:pt>
                  <c:pt idx="347">
                    <c:v>18350</c:v>
                  </c:pt>
                  <c:pt idx="348">
                    <c:v>18400</c:v>
                  </c:pt>
                  <c:pt idx="349">
                    <c:v>18450</c:v>
                  </c:pt>
                  <c:pt idx="350">
                    <c:v>18500</c:v>
                  </c:pt>
                  <c:pt idx="351">
                    <c:v>18550</c:v>
                  </c:pt>
                  <c:pt idx="352">
                    <c:v>18600</c:v>
                  </c:pt>
                  <c:pt idx="353">
                    <c:v>18650</c:v>
                  </c:pt>
                  <c:pt idx="354">
                    <c:v>18700</c:v>
                  </c:pt>
                  <c:pt idx="355">
                    <c:v>18750</c:v>
                  </c:pt>
                  <c:pt idx="356">
                    <c:v>18800</c:v>
                  </c:pt>
                  <c:pt idx="357">
                    <c:v>18850</c:v>
                  </c:pt>
                  <c:pt idx="358">
                    <c:v>18900</c:v>
                  </c:pt>
                  <c:pt idx="359">
                    <c:v>18950</c:v>
                  </c:pt>
                  <c:pt idx="360">
                    <c:v>19000</c:v>
                  </c:pt>
                  <c:pt idx="361">
                    <c:v>19050</c:v>
                  </c:pt>
                  <c:pt idx="362">
                    <c:v>19100</c:v>
                  </c:pt>
                  <c:pt idx="363">
                    <c:v>19150</c:v>
                  </c:pt>
                  <c:pt idx="364">
                    <c:v>19200</c:v>
                  </c:pt>
                  <c:pt idx="365">
                    <c:v>19250</c:v>
                  </c:pt>
                  <c:pt idx="366">
                    <c:v>19300</c:v>
                  </c:pt>
                  <c:pt idx="367">
                    <c:v>19350</c:v>
                  </c:pt>
                  <c:pt idx="368">
                    <c:v>19400</c:v>
                  </c:pt>
                  <c:pt idx="369">
                    <c:v>19450</c:v>
                  </c:pt>
                  <c:pt idx="370">
                    <c:v>19500</c:v>
                  </c:pt>
                  <c:pt idx="371">
                    <c:v>19550</c:v>
                  </c:pt>
                  <c:pt idx="372">
                    <c:v>19600</c:v>
                  </c:pt>
                  <c:pt idx="373">
                    <c:v>19650</c:v>
                  </c:pt>
                  <c:pt idx="374">
                    <c:v>19700</c:v>
                  </c:pt>
                  <c:pt idx="375">
                    <c:v>19750</c:v>
                  </c:pt>
                  <c:pt idx="376">
                    <c:v>19800</c:v>
                  </c:pt>
                  <c:pt idx="377">
                    <c:v>19850</c:v>
                  </c:pt>
                  <c:pt idx="378">
                    <c:v>19900</c:v>
                  </c:pt>
                  <c:pt idx="379">
                    <c:v>19950</c:v>
                  </c:pt>
                </c:lvl>
              </c:multiLvlStrCache>
            </c:multiLvlStrRef>
          </c:cat>
          <c:val>
            <c:numRef>
              <c:f>Sheet1!$B$2:$B$381</c:f>
              <c:numCache>
                <c:formatCode>General</c:formatCode>
                <c:ptCount val="380"/>
                <c:pt idx="0">
                  <c:v/>
                </c:pt>
                <c:pt idx="1">
                  <c:v/>
                </c:pt>
                <c:pt idx="2">
                  <c:v/>
                </c:pt>
                <c:pt idx="3">
                  <c:v/>
                </c:pt>
                <c:pt idx="4">
                  <c:v/>
                </c:pt>
                <c:pt idx="5">
                  <c:v/>
                </c:pt>
                <c:pt idx="6">
                  <c:v>0.95</c:v>
                </c:pt>
                <c:pt idx="7">
                  <c:v>0.9433</c:v>
                </c:pt>
                <c:pt idx="8">
                  <c:v>0.9433</c:v>
                </c:pt>
                <c:pt idx="9">
                  <c:v>0.93</c:v>
                </c:pt>
                <c:pt idx="10">
                  <c:v>0.9367</c:v>
                </c:pt>
                <c:pt idx="11">
                  <c:v>0.9333</c:v>
                </c:pt>
                <c:pt idx="12">
                  <c:v>0.9267</c:v>
                </c:pt>
                <c:pt idx="13">
                  <c:v>0.9333</c:v>
                </c:pt>
                <c:pt idx="14">
                  <c:v>0.9333</c:v>
                </c:pt>
                <c:pt idx="15">
                  <c:v>0.9367</c:v>
                </c:pt>
                <c:pt idx="16">
                  <c:v>0.9333</c:v>
                </c:pt>
                <c:pt idx="17">
                  <c:v>0.94</c:v>
                </c:pt>
                <c:pt idx="18">
                  <c:v>0.9367</c:v>
                </c:pt>
                <c:pt idx="19">
                  <c:v>0.9267</c:v>
                </c:pt>
                <c:pt idx="20">
                  <c:v>0.9233</c:v>
                </c:pt>
                <c:pt idx="21">
                  <c:v>0.9233</c:v>
                </c:pt>
                <c:pt idx="22">
                  <c:v>0.9267</c:v>
                </c:pt>
                <c:pt idx="23">
                  <c:v>0.9167</c:v>
                </c:pt>
                <c:pt idx="24">
                  <c:v>0.9067</c:v>
                </c:pt>
                <c:pt idx="25">
                  <c:v>0.9167</c:v>
                </c:pt>
                <c:pt idx="26">
                  <c:v>0.9167</c:v>
                </c:pt>
                <c:pt idx="27">
                  <c:v>0.9167</c:v>
                </c:pt>
                <c:pt idx="28">
                  <c:v>0.9133</c:v>
                </c:pt>
                <c:pt idx="29">
                  <c:v>0.9167</c:v>
                </c:pt>
                <c:pt idx="30">
                  <c:v>0.9333</c:v>
                </c:pt>
                <c:pt idx="31">
                  <c:v>0.94</c:v>
                </c:pt>
                <c:pt idx="32">
                  <c:v>0.9433</c:v>
                </c:pt>
                <c:pt idx="33">
                  <c:v>0.9433</c:v>
                </c:pt>
                <c:pt idx="34">
                  <c:v>0.9333</c:v>
                </c:pt>
                <c:pt idx="35">
                  <c:v>0.9367</c:v>
                </c:pt>
                <c:pt idx="36">
                  <c:v>0.9333</c:v>
                </c:pt>
                <c:pt idx="37">
                  <c:v>0.9233</c:v>
                </c:pt>
                <c:pt idx="38">
                  <c:v>0.92</c:v>
                </c:pt>
                <c:pt idx="39">
                  <c:v>0.9233</c:v>
                </c:pt>
                <c:pt idx="40">
                  <c:v>0.93</c:v>
                </c:pt>
                <c:pt idx="41">
                  <c:v>0.94</c:v>
                </c:pt>
                <c:pt idx="42">
                  <c:v>0.9367</c:v>
                </c:pt>
                <c:pt idx="43">
                  <c:v>0.9333</c:v>
                </c:pt>
                <c:pt idx="44">
                  <c:v>0.9267</c:v>
                </c:pt>
                <c:pt idx="45">
                  <c:v>0.9133</c:v>
                </c:pt>
                <c:pt idx="46">
                  <c:v>0.92</c:v>
                </c:pt>
                <c:pt idx="47">
                  <c:v>0.9067</c:v>
                </c:pt>
                <c:pt idx="48">
                  <c:v>0.9</c:v>
                </c:pt>
                <c:pt idx="49">
                  <c:v>0.88</c:v>
                </c:pt>
                <c:pt idx="50">
                  <c:v>0.88</c:v>
                </c:pt>
                <c:pt idx="51">
                  <c:v>0.8933</c:v>
                </c:pt>
                <c:pt idx="52">
                  <c:v>0.8833</c:v>
                </c:pt>
                <c:pt idx="53">
                  <c:v>0.89</c:v>
                </c:pt>
                <c:pt idx="54">
                  <c:v>0.89</c:v>
                </c:pt>
                <c:pt idx="55">
                  <c:v>0.9</c:v>
                </c:pt>
                <c:pt idx="56">
                  <c:v>0.9067</c:v>
                </c:pt>
                <c:pt idx="57">
                  <c:v>0.91</c:v>
                </c:pt>
                <c:pt idx="58">
                  <c:v>0.9133</c:v>
                </c:pt>
                <c:pt idx="59">
                  <c:v>0.9067</c:v>
                </c:pt>
                <c:pt idx="60">
                  <c:v>0.9067</c:v>
                </c:pt>
                <c:pt idx="61">
                  <c:v>0.91</c:v>
                </c:pt>
                <c:pt idx="62">
                  <c:v>0.9167</c:v>
                </c:pt>
                <c:pt idx="63">
                  <c:v>0.9167</c:v>
                </c:pt>
                <c:pt idx="64">
                  <c:v>0.92</c:v>
                </c:pt>
                <c:pt idx="65">
                  <c:v>0.9167</c:v>
                </c:pt>
                <c:pt idx="66">
                  <c:v>0.9167</c:v>
                </c:pt>
                <c:pt idx="67">
                  <c:v>0.9267</c:v>
                </c:pt>
                <c:pt idx="68">
                  <c:v>0.9167</c:v>
                </c:pt>
                <c:pt idx="69">
                  <c:v>0.91</c:v>
                </c:pt>
                <c:pt idx="70">
                  <c:v>0.9067</c:v>
                </c:pt>
                <c:pt idx="71">
                  <c:v>0.92</c:v>
                </c:pt>
                <c:pt idx="72">
                  <c:v>0.9333</c:v>
                </c:pt>
                <c:pt idx="73">
                  <c:v>0.9167</c:v>
                </c:pt>
                <c:pt idx="74">
                  <c:v>0.9133</c:v>
                </c:pt>
                <c:pt idx="75">
                  <c:v>0.9133</c:v>
                </c:pt>
                <c:pt idx="76">
                  <c:v>0.9167</c:v>
                </c:pt>
                <c:pt idx="77">
                  <c:v>0.91</c:v>
                </c:pt>
                <c:pt idx="78">
                  <c:v>0.91</c:v>
                </c:pt>
                <c:pt idx="79">
                  <c:v>0.9233</c:v>
                </c:pt>
                <c:pt idx="80">
                  <c:v>0.9333</c:v>
                </c:pt>
                <c:pt idx="81">
                  <c:v>0.8667</c:v>
                </c:pt>
                <c:pt idx="82">
                  <c:v>0.7767</c:v>
                </c:pt>
                <c:pt idx="83">
                  <c:v>0.7067</c:v>
                </c:pt>
                <c:pt idx="84">
                  <c:v>0.6333</c:v>
                </c:pt>
                <c:pt idx="85">
                  <c:v>0.5667</c:v>
                </c:pt>
                <c:pt idx="86">
                  <c:v>0.49</c:v>
                </c:pt>
                <c:pt idx="87">
                  <c:v>0.4967</c:v>
                </c:pt>
                <c:pt idx="88">
                  <c:v>0.5233</c:v>
                </c:pt>
                <c:pt idx="89">
                  <c:v>0.52</c:v>
                </c:pt>
                <c:pt idx="90">
                  <c:v>0.5067</c:v>
                </c:pt>
                <c:pt idx="91">
                  <c:v>0.52</c:v>
                </c:pt>
                <c:pt idx="92">
                  <c:v>0.5167</c:v>
                </c:pt>
                <c:pt idx="93">
                  <c:v>0.4967</c:v>
                </c:pt>
                <c:pt idx="94">
                  <c:v>0.4833</c:v>
                </c:pt>
                <c:pt idx="95">
                  <c:v>0.4867</c:v>
                </c:pt>
                <c:pt idx="96">
                  <c:v>0.5033</c:v>
                </c:pt>
                <c:pt idx="97">
                  <c:v>0.4867</c:v>
                </c:pt>
                <c:pt idx="98">
                  <c:v>0.5067</c:v>
                </c:pt>
                <c:pt idx="99">
                  <c:v>0.5167</c:v>
                </c:pt>
                <c:pt idx="100">
                  <c:v>0.54</c:v>
                </c:pt>
                <c:pt idx="101">
                  <c:v>0.5433</c:v>
                </c:pt>
                <c:pt idx="102">
                  <c:v>0.55</c:v>
                </c:pt>
                <c:pt idx="103">
                  <c:v>0.56</c:v>
                </c:pt>
                <c:pt idx="104">
                  <c:v>0.5367</c:v>
                </c:pt>
                <c:pt idx="105">
                  <c:v>0.5433</c:v>
                </c:pt>
                <c:pt idx="106">
                  <c:v>0.5333</c:v>
                </c:pt>
                <c:pt idx="107">
                  <c:v>0.54</c:v>
                </c:pt>
                <c:pt idx="108">
                  <c:v>0.5233</c:v>
                </c:pt>
                <c:pt idx="109">
                  <c:v>0.5133</c:v>
                </c:pt>
                <c:pt idx="110">
                  <c:v>0.51</c:v>
                </c:pt>
                <c:pt idx="111">
                  <c:v>0.5067</c:v>
                </c:pt>
                <c:pt idx="112">
                  <c:v>0.5233</c:v>
                </c:pt>
                <c:pt idx="113">
                  <c:v>0.52</c:v>
                </c:pt>
                <c:pt idx="114">
                  <c:v>0.5467</c:v>
                </c:pt>
                <c:pt idx="115">
                  <c:v>0.55</c:v>
                </c:pt>
                <c:pt idx="116">
                  <c:v>0.54</c:v>
                </c:pt>
                <c:pt idx="117">
                  <c:v>0.53</c:v>
                </c:pt>
                <c:pt idx="118">
                  <c:v>0.5067</c:v>
                </c:pt>
                <c:pt idx="119">
                  <c:v>0.4967</c:v>
                </c:pt>
                <c:pt idx="120">
                  <c:v>0.4633</c:v>
                </c:pt>
                <c:pt idx="121">
                  <c:v>0.4667</c:v>
                </c:pt>
                <c:pt idx="122">
                  <c:v>0.4833</c:v>
                </c:pt>
                <c:pt idx="123">
                  <c:v>0.51</c:v>
                </c:pt>
                <c:pt idx="124">
                  <c:v>0.5267</c:v>
                </c:pt>
                <c:pt idx="125">
                  <c:v>0.53</c:v>
                </c:pt>
                <c:pt idx="126">
                  <c:v>0.5367</c:v>
                </c:pt>
                <c:pt idx="127">
                  <c:v>0.5467</c:v>
                </c:pt>
                <c:pt idx="128">
                  <c:v>0.55</c:v>
                </c:pt>
                <c:pt idx="129">
                  <c:v>0.5267</c:v>
                </c:pt>
                <c:pt idx="130">
                  <c:v>0.5267</c:v>
                </c:pt>
                <c:pt idx="131">
                  <c:v>0.5367</c:v>
                </c:pt>
                <c:pt idx="132">
                  <c:v>0.5533</c:v>
                </c:pt>
                <c:pt idx="133">
                  <c:v>0.5433</c:v>
                </c:pt>
                <c:pt idx="134">
                  <c:v>0.5533</c:v>
                </c:pt>
                <c:pt idx="135">
                  <c:v>0.5467</c:v>
                </c:pt>
                <c:pt idx="136">
                  <c:v>0.52</c:v>
                </c:pt>
                <c:pt idx="137">
                  <c:v>0.5233</c:v>
                </c:pt>
                <c:pt idx="138">
                  <c:v>0.51</c:v>
                </c:pt>
                <c:pt idx="139">
                  <c:v>0.5</c:v>
                </c:pt>
                <c:pt idx="140">
                  <c:v>0.4933</c:v>
                </c:pt>
                <c:pt idx="141">
                  <c:v>0.5067</c:v>
                </c:pt>
                <c:pt idx="142">
                  <c:v>0.53</c:v>
                </c:pt>
                <c:pt idx="143">
                  <c:v>0.51</c:v>
                </c:pt>
                <c:pt idx="144">
                  <c:v>0.51</c:v>
                </c:pt>
                <c:pt idx="145">
                  <c:v>0.5067</c:v>
                </c:pt>
                <c:pt idx="146">
                  <c:v>0.5</c:v>
                </c:pt>
                <c:pt idx="147">
                  <c:v>0.4967</c:v>
                </c:pt>
                <c:pt idx="148">
                  <c:v>0.4867</c:v>
                </c:pt>
                <c:pt idx="149">
                  <c:v>0.5133</c:v>
                </c:pt>
                <c:pt idx="150">
                  <c:v>0.4967</c:v>
                </c:pt>
                <c:pt idx="151">
                  <c:v>0.4967</c:v>
                </c:pt>
                <c:pt idx="152">
                  <c:v>0.4867</c:v>
                </c:pt>
                <c:pt idx="153">
                  <c:v>0.4967</c:v>
                </c:pt>
                <c:pt idx="154">
                  <c:v>0.49</c:v>
                </c:pt>
                <c:pt idx="155">
                  <c:v>0.47</c:v>
                </c:pt>
                <c:pt idx="156">
                  <c:v>0.47</c:v>
                </c:pt>
                <c:pt idx="157">
                  <c:v>0.4933</c:v>
                </c:pt>
                <c:pt idx="158">
                  <c:v>0.4933</c:v>
                </c:pt>
                <c:pt idx="159">
                  <c:v>0.5033</c:v>
                </c:pt>
                <c:pt idx="160">
                  <c:v>0.5067</c:v>
                </c:pt>
                <c:pt idx="161">
                  <c:v>0.5167</c:v>
                </c:pt>
                <c:pt idx="162">
                  <c:v>0.5467</c:v>
                </c:pt>
                <c:pt idx="163">
                  <c:v>0.55</c:v>
                </c:pt>
                <c:pt idx="164">
                  <c:v>0.5633</c:v>
                </c:pt>
                <c:pt idx="165">
                  <c:v>0.5567</c:v>
                </c:pt>
                <c:pt idx="166">
                  <c:v>0.5667</c:v>
                </c:pt>
                <c:pt idx="167">
                  <c:v>0.59</c:v>
                </c:pt>
                <c:pt idx="168">
                  <c:v>0.5767</c:v>
                </c:pt>
                <c:pt idx="169">
                  <c:v>0.5667</c:v>
                </c:pt>
                <c:pt idx="170">
                  <c:v>0.58</c:v>
                </c:pt>
                <c:pt idx="171">
                  <c:v>0.58</c:v>
                </c:pt>
                <c:pt idx="172">
                  <c:v>0.5733</c:v>
                </c:pt>
                <c:pt idx="173">
                  <c:v>0.5567</c:v>
                </c:pt>
                <c:pt idx="174">
                  <c:v>0.5333</c:v>
                </c:pt>
                <c:pt idx="175">
                  <c:v>0.51</c:v>
                </c:pt>
                <c:pt idx="176">
                  <c:v>0.4833</c:v>
                </c:pt>
                <c:pt idx="177">
                  <c:v>0.4767</c:v>
                </c:pt>
                <c:pt idx="178">
                  <c:v>0.49</c:v>
                </c:pt>
                <c:pt idx="179">
                  <c:v>0.5067</c:v>
                </c:pt>
                <c:pt idx="180">
                  <c:v>0.5333</c:v>
                </c:pt>
                <c:pt idx="181">
                  <c:v>0.5333</c:v>
                </c:pt>
                <c:pt idx="182">
                  <c:v>0.5367</c:v>
                </c:pt>
                <c:pt idx="183">
                  <c:v>0.52</c:v>
                </c:pt>
                <c:pt idx="184">
                  <c:v>0.5</c:v>
                </c:pt>
                <c:pt idx="185">
                  <c:v>0.43</c:v>
                </c:pt>
                <c:pt idx="186">
                  <c:v>0.4167</c:v>
                </c:pt>
                <c:pt idx="187">
                  <c:v>0.4433</c:v>
                </c:pt>
                <c:pt idx="188">
                  <c:v>0.43</c:v>
                </c:pt>
                <c:pt idx="189">
                  <c:v>0.4167</c:v>
                </c:pt>
                <c:pt idx="190">
                  <c:v>0.4267</c:v>
                </c:pt>
                <c:pt idx="191">
                  <c:v>0.47</c:v>
                </c:pt>
                <c:pt idx="192">
                  <c:v>0.47</c:v>
                </c:pt>
                <c:pt idx="193">
                  <c:v>0.4367</c:v>
                </c:pt>
                <c:pt idx="194">
                  <c:v>0.4533</c:v>
                </c:pt>
                <c:pt idx="195">
                  <c:v>0.4533</c:v>
                </c:pt>
                <c:pt idx="196">
                  <c:v>0.42</c:v>
                </c:pt>
                <c:pt idx="197">
                  <c:v>0.4133</c:v>
                </c:pt>
                <c:pt idx="198">
                  <c:v>0.3933</c:v>
                </c:pt>
                <c:pt idx="199">
                  <c:v>0.3967</c:v>
                </c:pt>
                <c:pt idx="200">
                  <c:v>0.3933</c:v>
                </c:pt>
                <c:pt idx="201">
                  <c:v>0.41</c:v>
                </c:pt>
                <c:pt idx="202">
                  <c:v>0.41</c:v>
                </c:pt>
                <c:pt idx="203">
                  <c:v>0.39</c:v>
                </c:pt>
                <c:pt idx="204">
                  <c:v>0.42</c:v>
                </c:pt>
                <c:pt idx="205">
                  <c:v>0.43</c:v>
                </c:pt>
                <c:pt idx="206">
                  <c:v>0.4233</c:v>
                </c:pt>
                <c:pt idx="207">
                  <c:v>0.4333</c:v>
                </c:pt>
                <c:pt idx="208">
                  <c:v>0.4567</c:v>
                </c:pt>
                <c:pt idx="209">
                  <c:v>0.4867</c:v>
                </c:pt>
                <c:pt idx="210">
                  <c:v>0.49</c:v>
                </c:pt>
                <c:pt idx="211">
                  <c:v>0.5</c:v>
                </c:pt>
                <c:pt idx="212">
                  <c:v>0.5067</c:v>
                </c:pt>
                <c:pt idx="213">
                  <c:v>0.4767</c:v>
                </c:pt>
                <c:pt idx="214">
                  <c:v>0.48</c:v>
                </c:pt>
                <c:pt idx="215">
                  <c:v>0.4567</c:v>
                </c:pt>
                <c:pt idx="216">
                  <c:v>0.45</c:v>
                </c:pt>
                <c:pt idx="217">
                  <c:v>0.46</c:v>
                </c:pt>
                <c:pt idx="218">
                  <c:v>0.45</c:v>
                </c:pt>
                <c:pt idx="219">
                  <c:v>0.4567</c:v>
                </c:pt>
                <c:pt idx="220">
                  <c:v>0.46</c:v>
                </c:pt>
                <c:pt idx="221">
                  <c:v>0.4767</c:v>
                </c:pt>
                <c:pt idx="222">
                  <c:v>0.4833</c:v>
                </c:pt>
                <c:pt idx="223">
                  <c:v>0.4667</c:v>
                </c:pt>
                <c:pt idx="224">
                  <c:v>0.4633</c:v>
                </c:pt>
                <c:pt idx="225">
                  <c:v>0.4767</c:v>
                </c:pt>
                <c:pt idx="226">
                  <c:v>0.46</c:v>
                </c:pt>
                <c:pt idx="227">
                  <c:v>0.4533</c:v>
                </c:pt>
                <c:pt idx="228">
                  <c:v>0.4433</c:v>
                </c:pt>
                <c:pt idx="229">
                  <c:v>0.4533</c:v>
                </c:pt>
                <c:pt idx="230">
                  <c:v>0.48</c:v>
                </c:pt>
                <c:pt idx="231">
                  <c:v>0.4667</c:v>
                </c:pt>
                <c:pt idx="232">
                  <c:v>0.48</c:v>
                </c:pt>
                <c:pt idx="233">
                  <c:v>0.4633</c:v>
                </c:pt>
                <c:pt idx="234">
                  <c:v>0.4467</c:v>
                </c:pt>
                <c:pt idx="235">
                  <c:v>0.4333</c:v>
                </c:pt>
                <c:pt idx="236">
                  <c:v>0.4233</c:v>
                </c:pt>
                <c:pt idx="237">
                  <c:v>0.4233</c:v>
                </c:pt>
                <c:pt idx="238">
                  <c:v>0.4333</c:v>
                </c:pt>
                <c:pt idx="239">
                  <c:v>0.46</c:v>
                </c:pt>
                <c:pt idx="240">
                  <c:v>0.4633</c:v>
                </c:pt>
                <c:pt idx="241">
                  <c:v>0.4767</c:v>
                </c:pt>
                <c:pt idx="242">
                  <c:v>0.4733</c:v>
                </c:pt>
                <c:pt idx="243">
                  <c:v>0.4867</c:v>
                </c:pt>
                <c:pt idx="244">
                  <c:v>0.46</c:v>
                </c:pt>
                <c:pt idx="245">
                  <c:v>0.4633</c:v>
                </c:pt>
                <c:pt idx="246">
                  <c:v>0.47</c:v>
                </c:pt>
                <c:pt idx="247">
                  <c:v>0.4433</c:v>
                </c:pt>
                <c:pt idx="248">
                  <c:v>0.4433</c:v>
                </c:pt>
                <c:pt idx="249">
                  <c:v>0.4667</c:v>
                </c:pt>
                <c:pt idx="250">
                  <c:v>0.4767</c:v>
                </c:pt>
                <c:pt idx="251">
                  <c:v>0.46</c:v>
                </c:pt>
                <c:pt idx="252">
                  <c:v>0.4633</c:v>
                </c:pt>
                <c:pt idx="253">
                  <c:v>0.4867</c:v>
                </c:pt>
                <c:pt idx="254">
                  <c:v>0.51</c:v>
                </c:pt>
                <c:pt idx="255">
                  <c:v>0.4867</c:v>
                </c:pt>
                <c:pt idx="256">
                  <c:v>0.4767</c:v>
                </c:pt>
                <c:pt idx="257">
                  <c:v>0.4567</c:v>
                </c:pt>
                <c:pt idx="258">
                  <c:v>0.4433</c:v>
                </c:pt>
                <c:pt idx="259">
                  <c:v>0.4467</c:v>
                </c:pt>
                <c:pt idx="260">
                  <c:v>0.4333</c:v>
                </c:pt>
                <c:pt idx="261">
                  <c:v>0.4367</c:v>
                </c:pt>
                <c:pt idx="262">
                  <c:v>0.42</c:v>
                </c:pt>
                <c:pt idx="263">
                  <c:v>0.4367</c:v>
                </c:pt>
                <c:pt idx="264">
                  <c:v>0.45</c:v>
                </c:pt>
                <c:pt idx="265">
                  <c:v>0.4233</c:v>
                </c:pt>
                <c:pt idx="266">
                  <c:v>0.3933</c:v>
                </c:pt>
                <c:pt idx="267">
                  <c:v>0.3867</c:v>
                </c:pt>
                <c:pt idx="268">
                  <c:v>0.4233</c:v>
                </c:pt>
                <c:pt idx="269">
                  <c:v>0.4333</c:v>
                </c:pt>
                <c:pt idx="270">
                  <c:v>0.4167</c:v>
                </c:pt>
                <c:pt idx="271">
                  <c:v>0.4267</c:v>
                </c:pt>
                <c:pt idx="272">
                  <c:v>0.46</c:v>
                </c:pt>
                <c:pt idx="273">
                  <c:v>0.45</c:v>
                </c:pt>
                <c:pt idx="274">
                  <c:v>0.43</c:v>
                </c:pt>
                <c:pt idx="275">
                  <c:v>0.4267</c:v>
                </c:pt>
                <c:pt idx="276">
                  <c:v>0.43</c:v>
                </c:pt>
                <c:pt idx="277">
                  <c:v>0.4367</c:v>
                </c:pt>
                <c:pt idx="278">
                  <c:v>0.4233</c:v>
                </c:pt>
                <c:pt idx="279">
                  <c:v>0.43</c:v>
                </c:pt>
                <c:pt idx="280">
                  <c:v>0.4367</c:v>
                </c:pt>
                <c:pt idx="281">
                  <c:v>0.4167</c:v>
                </c:pt>
                <c:pt idx="282">
                  <c:v>0.4467</c:v>
                </c:pt>
                <c:pt idx="283">
                  <c:v>0.46</c:v>
                </c:pt>
                <c:pt idx="284">
                  <c:v>0.4467</c:v>
                </c:pt>
                <c:pt idx="285">
                  <c:v>0.45</c:v>
                </c:pt>
                <c:pt idx="286">
                  <c:v>0.44</c:v>
                </c:pt>
                <c:pt idx="287">
                  <c:v>0.46</c:v>
                </c:pt>
                <c:pt idx="288">
                  <c:v>0.4267</c:v>
                </c:pt>
                <c:pt idx="289">
                  <c:v>0.4267</c:v>
                </c:pt>
                <c:pt idx="290">
                  <c:v>0.46</c:v>
                </c:pt>
                <c:pt idx="291">
                  <c:v>0.4633</c:v>
                </c:pt>
                <c:pt idx="292">
                  <c:v>0.46</c:v>
                </c:pt>
                <c:pt idx="293">
                  <c:v>0.46</c:v>
                </c:pt>
                <c:pt idx="294">
                  <c:v>0.4767</c:v>
                </c:pt>
                <c:pt idx="295">
                  <c:v>0.45</c:v>
                </c:pt>
                <c:pt idx="296">
                  <c:v>0.4233</c:v>
                </c:pt>
                <c:pt idx="297">
                  <c:v>0.41</c:v>
                </c:pt>
                <c:pt idx="298">
                  <c:v>0.4233</c:v>
                </c:pt>
                <c:pt idx="299">
                  <c:v>0.42</c:v>
                </c:pt>
                <c:pt idx="300">
                  <c:v>0.4233</c:v>
                </c:pt>
                <c:pt idx="301">
                  <c:v>0.4267</c:v>
                </c:pt>
                <c:pt idx="302">
                  <c:v>0.4467</c:v>
                </c:pt>
                <c:pt idx="303">
                  <c:v>0.4833</c:v>
                </c:pt>
                <c:pt idx="304">
                  <c:v>0.5067</c:v>
                </c:pt>
                <c:pt idx="305">
                  <c:v>0.5267</c:v>
                </c:pt>
                <c:pt idx="306">
                  <c:v>0.5167</c:v>
                </c:pt>
                <c:pt idx="307">
                  <c:v>0.5333</c:v>
                </c:pt>
                <c:pt idx="308">
                  <c:v>0.5367</c:v>
                </c:pt>
                <c:pt idx="309">
                  <c:v>0.5233</c:v>
                </c:pt>
                <c:pt idx="310">
                  <c:v>0.5167</c:v>
                </c:pt>
                <c:pt idx="311">
                  <c:v>0.5167</c:v>
                </c:pt>
                <c:pt idx="312">
                  <c:v>0.5667</c:v>
                </c:pt>
                <c:pt idx="313">
                  <c:v>0.5667</c:v>
                </c:pt>
                <c:pt idx="314">
                  <c:v>0.57</c:v>
                </c:pt>
                <c:pt idx="315">
                  <c:v>0.5733</c:v>
                </c:pt>
                <c:pt idx="316">
                  <c:v>0.5667</c:v>
                </c:pt>
                <c:pt idx="317">
                  <c:v>0.5467</c:v>
                </c:pt>
                <c:pt idx="318">
                  <c:v>0.5233</c:v>
                </c:pt>
                <c:pt idx="319">
                  <c:v>0.54</c:v>
                </c:pt>
                <c:pt idx="320">
                  <c:v>0.5267</c:v>
                </c:pt>
                <c:pt idx="321">
                  <c:v>0.5267</c:v>
                </c:pt>
                <c:pt idx="322">
                  <c:v>0.5267</c:v>
                </c:pt>
                <c:pt idx="323">
                  <c:v>0.5233</c:v>
                </c:pt>
                <c:pt idx="324">
                  <c:v>0.5433</c:v>
                </c:pt>
                <c:pt idx="325">
                  <c:v>0.5333</c:v>
                </c:pt>
                <c:pt idx="326">
                  <c:v>0.5567</c:v>
                </c:pt>
                <c:pt idx="327">
                  <c:v>0.5533</c:v>
                </c:pt>
                <c:pt idx="328">
                  <c:v>0.56</c:v>
                </c:pt>
                <c:pt idx="329">
                  <c:v>0.56</c:v>
                </c:pt>
                <c:pt idx="330">
                  <c:v>0.5467</c:v>
                </c:pt>
                <c:pt idx="331">
                  <c:v>0.5433</c:v>
                </c:pt>
                <c:pt idx="332">
                  <c:v>0.54</c:v>
                </c:pt>
                <c:pt idx="333">
                  <c:v>0.5433</c:v>
                </c:pt>
                <c:pt idx="334">
                  <c:v>0.5433</c:v>
                </c:pt>
                <c:pt idx="335">
                  <c:v>0.59</c:v>
                </c:pt>
                <c:pt idx="336">
                  <c:v>0.5933</c:v>
                </c:pt>
                <c:pt idx="337">
                  <c:v>0.5933</c:v>
                </c:pt>
                <c:pt idx="338">
                  <c:v>0.5733</c:v>
                </c:pt>
                <c:pt idx="339">
                  <c:v>0.5567</c:v>
                </c:pt>
                <c:pt idx="340">
                  <c:v>0.5433</c:v>
                </c:pt>
                <c:pt idx="341">
                  <c:v>0.4967</c:v>
                </c:pt>
                <c:pt idx="342">
                  <c:v>0.49</c:v>
                </c:pt>
                <c:pt idx="343">
                  <c:v>0.4767</c:v>
                </c:pt>
                <c:pt idx="344">
                  <c:v>0.47</c:v>
                </c:pt>
                <c:pt idx="345">
                  <c:v>0.4933</c:v>
                </c:pt>
                <c:pt idx="346">
                  <c:v>0.5133</c:v>
                </c:pt>
                <c:pt idx="347">
                  <c:v>0.53</c:v>
                </c:pt>
                <c:pt idx="348">
                  <c:v>0.51</c:v>
                </c:pt>
                <c:pt idx="349">
                  <c:v>0.53</c:v>
                </c:pt>
                <c:pt idx="350">
                  <c:v>0.5533</c:v>
                </c:pt>
                <c:pt idx="351">
                  <c:v>0.5533</c:v>
                </c:pt>
                <c:pt idx="352">
                  <c:v>0.5433</c:v>
                </c:pt>
                <c:pt idx="353">
                  <c:v>0.5533</c:v>
                </c:pt>
                <c:pt idx="354">
                  <c:v>0.58</c:v>
                </c:pt>
                <c:pt idx="355">
                  <c:v>0.5867</c:v>
                </c:pt>
                <c:pt idx="356">
                  <c:v>0.5833</c:v>
                </c:pt>
                <c:pt idx="357">
                  <c:v>0.5833</c:v>
                </c:pt>
                <c:pt idx="358">
                  <c:v>0.59</c:v>
                </c:pt>
                <c:pt idx="359">
                  <c:v>0.5533</c:v>
                </c:pt>
                <c:pt idx="360">
                  <c:v>0.5267</c:v>
                </c:pt>
                <c:pt idx="361">
                  <c:v>0.5267</c:v>
                </c:pt>
                <c:pt idx="362">
                  <c:v>0.5</c:v>
                </c:pt>
                <c:pt idx="363">
                  <c:v>0.48</c:v>
                </c:pt>
                <c:pt idx="364">
                  <c:v>0.4733</c:v>
                </c:pt>
                <c:pt idx="365">
                  <c:v>0.5167</c:v>
                </c:pt>
                <c:pt idx="366">
                  <c:v>0.5433</c:v>
                </c:pt>
                <c:pt idx="367">
                  <c:v>0.56</c:v>
                </c:pt>
                <c:pt idx="368">
                  <c:v>0.58</c:v>
                </c:pt>
                <c:pt idx="369">
                  <c:v>0.6133</c:v>
                </c:pt>
                <c:pt idx="370">
                  <c:v>0.6267</c:v>
                </c:pt>
                <c:pt idx="371">
                  <c:v>0.6</c:v>
                </c:pt>
                <c:pt idx="372">
                  <c:v>0.6</c:v>
                </c:pt>
                <c:pt idx="373">
                  <c:v>0.5667</c:v>
                </c:pt>
                <c:pt idx="374">
                  <c:v>0.5767</c:v>
                </c:pt>
                <c:pt idx="375">
                  <c:v>0.55</c:v>
                </c:pt>
                <c:pt idx="376">
                  <c:v>0.5333</c:v>
                </c:pt>
                <c:pt idx="377">
                  <c:v>0.54</c:v>
                </c:pt>
                <c:pt idx="378">
                  <c:v>0.5133</c:v>
                </c:pt>
                <c:pt idx="379">
                  <c:v>0.51</c:v>
                </c:pt>
              </c:numCache>
            </c:numRef>
          </c:val>
          <c:smooth val="0"/>
        </c:ser>
        <c:ser>
          <c:idx val="1"/>
          <c:order val="1"/>
          <c:tx>
            <c:strRef>
              <c:f>Sheet1!$C$1</c:f>
              <c:strCache>
                <c:ptCount val="1"/>
                <c:pt idx="0">
                  <c:v>Retrain on hybrid</c:v>
                </c:pt>
              </c:strCache>
            </c:strRef>
          </c:tx>
          <c:spPr>
            <a:solidFill>
              <a:srgbClr val="2A78D6"/>
            </a:solidFill>
            <a:ln w="2222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Sheet1!$A$2:$A$381</c:f>
              <c:multiLvlStrCache>
                <c:ptCount val="380"/>
                <c:lvl>
                  <c:pt idx="0">
                    <c:v>1000</c:v>
                  </c:pt>
                  <c:pt idx="1">
                    <c:v>1050</c:v>
                  </c:pt>
                  <c:pt idx="2">
                    <c:v>1100</c:v>
                  </c:pt>
                  <c:pt idx="3">
                    <c:v>1150</c:v>
                  </c:pt>
                  <c:pt idx="4">
                    <c:v>1200</c:v>
                  </c:pt>
                  <c:pt idx="5">
                    <c:v>1250</c:v>
                  </c:pt>
                  <c:pt idx="6">
                    <c:v>1300</c:v>
                  </c:pt>
                  <c:pt idx="7">
                    <c:v>1350</c:v>
                  </c:pt>
                  <c:pt idx="8">
                    <c:v>1400</c:v>
                  </c:pt>
                  <c:pt idx="9">
                    <c:v>1450</c:v>
                  </c:pt>
                  <c:pt idx="10">
                    <c:v>1500</c:v>
                  </c:pt>
                  <c:pt idx="11">
                    <c:v>1550</c:v>
                  </c:pt>
                  <c:pt idx="12">
                    <c:v>1600</c:v>
                  </c:pt>
                  <c:pt idx="13">
                    <c:v>1650</c:v>
                  </c:pt>
                  <c:pt idx="14">
                    <c:v>1700</c:v>
                  </c:pt>
                  <c:pt idx="15">
                    <c:v>1750</c:v>
                  </c:pt>
                  <c:pt idx="16">
                    <c:v>1800</c:v>
                  </c:pt>
                  <c:pt idx="17">
                    <c:v>1850</c:v>
                  </c:pt>
                  <c:pt idx="18">
                    <c:v>1900</c:v>
                  </c:pt>
                  <c:pt idx="19">
                    <c:v>1950</c:v>
                  </c:pt>
                  <c:pt idx="20">
                    <c:v>2000</c:v>
                  </c:pt>
                  <c:pt idx="21">
                    <c:v>2050</c:v>
                  </c:pt>
                  <c:pt idx="22">
                    <c:v>2100</c:v>
                  </c:pt>
                  <c:pt idx="23">
                    <c:v>2150</c:v>
                  </c:pt>
                  <c:pt idx="24">
                    <c:v>2200</c:v>
                  </c:pt>
                  <c:pt idx="25">
                    <c:v>2250</c:v>
                  </c:pt>
                  <c:pt idx="26">
                    <c:v>2300</c:v>
                  </c:pt>
                  <c:pt idx="27">
                    <c:v>2350</c:v>
                  </c:pt>
                  <c:pt idx="28">
                    <c:v>2400</c:v>
                  </c:pt>
                  <c:pt idx="29">
                    <c:v>2450</c:v>
                  </c:pt>
                  <c:pt idx="30">
                    <c:v>2500</c:v>
                  </c:pt>
                  <c:pt idx="31">
                    <c:v>2550</c:v>
                  </c:pt>
                  <c:pt idx="32">
                    <c:v>2600</c:v>
                  </c:pt>
                  <c:pt idx="33">
                    <c:v>2650</c:v>
                  </c:pt>
                  <c:pt idx="34">
                    <c:v>2700</c:v>
                  </c:pt>
                  <c:pt idx="35">
                    <c:v>2750</c:v>
                  </c:pt>
                  <c:pt idx="36">
                    <c:v>2800</c:v>
                  </c:pt>
                  <c:pt idx="37">
                    <c:v>2850</c:v>
                  </c:pt>
                  <c:pt idx="38">
                    <c:v>2900</c:v>
                  </c:pt>
                  <c:pt idx="39">
                    <c:v>2950</c:v>
                  </c:pt>
                  <c:pt idx="40">
                    <c:v>3000</c:v>
                  </c:pt>
                  <c:pt idx="41">
                    <c:v>3050</c:v>
                  </c:pt>
                  <c:pt idx="42">
                    <c:v>3100</c:v>
                  </c:pt>
                  <c:pt idx="43">
                    <c:v>3150</c:v>
                  </c:pt>
                  <c:pt idx="44">
                    <c:v>3200</c:v>
                  </c:pt>
                  <c:pt idx="45">
                    <c:v>3250</c:v>
                  </c:pt>
                  <c:pt idx="46">
                    <c:v>3300</c:v>
                  </c:pt>
                  <c:pt idx="47">
                    <c:v>3350</c:v>
                  </c:pt>
                  <c:pt idx="48">
                    <c:v>3400</c:v>
                  </c:pt>
                  <c:pt idx="49">
                    <c:v>3450</c:v>
                  </c:pt>
                  <c:pt idx="50">
                    <c:v>3500</c:v>
                  </c:pt>
                  <c:pt idx="51">
                    <c:v>3550</c:v>
                  </c:pt>
                  <c:pt idx="52">
                    <c:v>3600</c:v>
                  </c:pt>
                  <c:pt idx="53">
                    <c:v>3650</c:v>
                  </c:pt>
                  <c:pt idx="54">
                    <c:v>3700</c:v>
                  </c:pt>
                  <c:pt idx="55">
                    <c:v>3750</c:v>
                  </c:pt>
                  <c:pt idx="56">
                    <c:v>3800</c:v>
                  </c:pt>
                  <c:pt idx="57">
                    <c:v>3850</c:v>
                  </c:pt>
                  <c:pt idx="58">
                    <c:v>3900</c:v>
                  </c:pt>
                  <c:pt idx="59">
                    <c:v>3950</c:v>
                  </c:pt>
                  <c:pt idx="60">
                    <c:v>4000</c:v>
                  </c:pt>
                  <c:pt idx="61">
                    <c:v>4050</c:v>
                  </c:pt>
                  <c:pt idx="62">
                    <c:v>4100</c:v>
                  </c:pt>
                  <c:pt idx="63">
                    <c:v>4150</c:v>
                  </c:pt>
                  <c:pt idx="64">
                    <c:v>4200</c:v>
                  </c:pt>
                  <c:pt idx="65">
                    <c:v>4250</c:v>
                  </c:pt>
                  <c:pt idx="66">
                    <c:v>4300</c:v>
                  </c:pt>
                  <c:pt idx="67">
                    <c:v>4350</c:v>
                  </c:pt>
                  <c:pt idx="68">
                    <c:v>4400</c:v>
                  </c:pt>
                  <c:pt idx="69">
                    <c:v>4450</c:v>
                  </c:pt>
                  <c:pt idx="70">
                    <c:v>4500</c:v>
                  </c:pt>
                  <c:pt idx="71">
                    <c:v>4550</c:v>
                  </c:pt>
                  <c:pt idx="72">
                    <c:v>4600</c:v>
                  </c:pt>
                  <c:pt idx="73">
                    <c:v>4650</c:v>
                  </c:pt>
                  <c:pt idx="74">
                    <c:v>4700</c:v>
                  </c:pt>
                  <c:pt idx="75">
                    <c:v>4750</c:v>
                  </c:pt>
                  <c:pt idx="76">
                    <c:v>4800</c:v>
                  </c:pt>
                  <c:pt idx="77">
                    <c:v>4850</c:v>
                  </c:pt>
                  <c:pt idx="78">
                    <c:v>4900</c:v>
                  </c:pt>
                  <c:pt idx="79">
                    <c:v>4950</c:v>
                  </c:pt>
                  <c:pt idx="80">
                    <c:v>5000</c:v>
                  </c:pt>
                  <c:pt idx="81">
                    <c:v>5050</c:v>
                  </c:pt>
                  <c:pt idx="82">
                    <c:v>5100</c:v>
                  </c:pt>
                  <c:pt idx="83">
                    <c:v>5150</c:v>
                  </c:pt>
                  <c:pt idx="84">
                    <c:v>5200</c:v>
                  </c:pt>
                  <c:pt idx="85">
                    <c:v>5250</c:v>
                  </c:pt>
                  <c:pt idx="86">
                    <c:v>5300</c:v>
                  </c:pt>
                  <c:pt idx="87">
                    <c:v>5350</c:v>
                  </c:pt>
                  <c:pt idx="88">
                    <c:v>5400</c:v>
                  </c:pt>
                  <c:pt idx="89">
                    <c:v>5450</c:v>
                  </c:pt>
                  <c:pt idx="90">
                    <c:v>5500</c:v>
                  </c:pt>
                  <c:pt idx="91">
                    <c:v>5550</c:v>
                  </c:pt>
                  <c:pt idx="92">
                    <c:v>5600</c:v>
                  </c:pt>
                  <c:pt idx="93">
                    <c:v>5650</c:v>
                  </c:pt>
                  <c:pt idx="94">
                    <c:v>5700</c:v>
                  </c:pt>
                  <c:pt idx="95">
                    <c:v>5750</c:v>
                  </c:pt>
                  <c:pt idx="96">
                    <c:v>5800</c:v>
                  </c:pt>
                  <c:pt idx="97">
                    <c:v>5850</c:v>
                  </c:pt>
                  <c:pt idx="98">
                    <c:v>5900</c:v>
                  </c:pt>
                  <c:pt idx="99">
                    <c:v>5950</c:v>
                  </c:pt>
                  <c:pt idx="100">
                    <c:v>6000</c:v>
                  </c:pt>
                  <c:pt idx="101">
                    <c:v>6050</c:v>
                  </c:pt>
                  <c:pt idx="102">
                    <c:v>6100</c:v>
                  </c:pt>
                  <c:pt idx="103">
                    <c:v>6150</c:v>
                  </c:pt>
                  <c:pt idx="104">
                    <c:v>6200</c:v>
                  </c:pt>
                  <c:pt idx="105">
                    <c:v>6250</c:v>
                  </c:pt>
                  <c:pt idx="106">
                    <c:v>6300</c:v>
                  </c:pt>
                  <c:pt idx="107">
                    <c:v>6350</c:v>
                  </c:pt>
                  <c:pt idx="108">
                    <c:v>6400</c:v>
                  </c:pt>
                  <c:pt idx="109">
                    <c:v>6450</c:v>
                  </c:pt>
                  <c:pt idx="110">
                    <c:v>6500</c:v>
                  </c:pt>
                  <c:pt idx="111">
                    <c:v>6550</c:v>
                  </c:pt>
                  <c:pt idx="112">
                    <c:v>6600</c:v>
                  </c:pt>
                  <c:pt idx="113">
                    <c:v>6650</c:v>
                  </c:pt>
                  <c:pt idx="114">
                    <c:v>6700</c:v>
                  </c:pt>
                  <c:pt idx="115">
                    <c:v>6750</c:v>
                  </c:pt>
                  <c:pt idx="116">
                    <c:v>6800</c:v>
                  </c:pt>
                  <c:pt idx="117">
                    <c:v>6850</c:v>
                  </c:pt>
                  <c:pt idx="118">
                    <c:v>6900</c:v>
                  </c:pt>
                  <c:pt idx="119">
                    <c:v>6950</c:v>
                  </c:pt>
                  <c:pt idx="120">
                    <c:v>7000</c:v>
                  </c:pt>
                  <c:pt idx="121">
                    <c:v>7050</c:v>
                  </c:pt>
                  <c:pt idx="122">
                    <c:v>7100</c:v>
                  </c:pt>
                  <c:pt idx="123">
                    <c:v>7150</c:v>
                  </c:pt>
                  <c:pt idx="124">
                    <c:v>7200</c:v>
                  </c:pt>
                  <c:pt idx="125">
                    <c:v>7250</c:v>
                  </c:pt>
                  <c:pt idx="126">
                    <c:v>7300</c:v>
                  </c:pt>
                  <c:pt idx="127">
                    <c:v>7350</c:v>
                  </c:pt>
                  <c:pt idx="128">
                    <c:v>7400</c:v>
                  </c:pt>
                  <c:pt idx="129">
                    <c:v>7450</c:v>
                  </c:pt>
                  <c:pt idx="130">
                    <c:v>7500</c:v>
                  </c:pt>
                  <c:pt idx="131">
                    <c:v>7550</c:v>
                  </c:pt>
                  <c:pt idx="132">
                    <c:v>7600</c:v>
                  </c:pt>
                  <c:pt idx="133">
                    <c:v>7650</c:v>
                  </c:pt>
                  <c:pt idx="134">
                    <c:v>7700</c:v>
                  </c:pt>
                  <c:pt idx="135">
                    <c:v>7750</c:v>
                  </c:pt>
                  <c:pt idx="136">
                    <c:v>7800</c:v>
                  </c:pt>
                  <c:pt idx="137">
                    <c:v>7850</c:v>
                  </c:pt>
                  <c:pt idx="138">
                    <c:v>7900</c:v>
                  </c:pt>
                  <c:pt idx="139">
                    <c:v>7950</c:v>
                  </c:pt>
                  <c:pt idx="140">
                    <c:v>8000</c:v>
                  </c:pt>
                  <c:pt idx="141">
                    <c:v>8050</c:v>
                  </c:pt>
                  <c:pt idx="142">
                    <c:v>8100</c:v>
                  </c:pt>
                  <c:pt idx="143">
                    <c:v>8150</c:v>
                  </c:pt>
                  <c:pt idx="144">
                    <c:v>8200</c:v>
                  </c:pt>
                  <c:pt idx="145">
                    <c:v>8250</c:v>
                  </c:pt>
                  <c:pt idx="146">
                    <c:v>8300</c:v>
                  </c:pt>
                  <c:pt idx="147">
                    <c:v>8350</c:v>
                  </c:pt>
                  <c:pt idx="148">
                    <c:v>8400</c:v>
                  </c:pt>
                  <c:pt idx="149">
                    <c:v>8450</c:v>
                  </c:pt>
                  <c:pt idx="150">
                    <c:v>8500</c:v>
                  </c:pt>
                  <c:pt idx="151">
                    <c:v>8550</c:v>
                  </c:pt>
                  <c:pt idx="152">
                    <c:v>8600</c:v>
                  </c:pt>
                  <c:pt idx="153">
                    <c:v>8650</c:v>
                  </c:pt>
                  <c:pt idx="154">
                    <c:v>8700</c:v>
                  </c:pt>
                  <c:pt idx="155">
                    <c:v>8750</c:v>
                  </c:pt>
                  <c:pt idx="156">
                    <c:v>8800</c:v>
                  </c:pt>
                  <c:pt idx="157">
                    <c:v>8850</c:v>
                  </c:pt>
                  <c:pt idx="158">
                    <c:v>8900</c:v>
                  </c:pt>
                  <c:pt idx="159">
                    <c:v>8950</c:v>
                  </c:pt>
                  <c:pt idx="160">
                    <c:v>9000</c:v>
                  </c:pt>
                  <c:pt idx="161">
                    <c:v>9050</c:v>
                  </c:pt>
                  <c:pt idx="162">
                    <c:v>9100</c:v>
                  </c:pt>
                  <c:pt idx="163">
                    <c:v>9150</c:v>
                  </c:pt>
                  <c:pt idx="164">
                    <c:v>9200</c:v>
                  </c:pt>
                  <c:pt idx="165">
                    <c:v>9250</c:v>
                  </c:pt>
                  <c:pt idx="166">
                    <c:v>9300</c:v>
                  </c:pt>
                  <c:pt idx="167">
                    <c:v>9350</c:v>
                  </c:pt>
                  <c:pt idx="168">
                    <c:v>9400</c:v>
                  </c:pt>
                  <c:pt idx="169">
                    <c:v>9450</c:v>
                  </c:pt>
                  <c:pt idx="170">
                    <c:v>9500</c:v>
                  </c:pt>
                  <c:pt idx="171">
                    <c:v>9550</c:v>
                  </c:pt>
                  <c:pt idx="172">
                    <c:v>9600</c:v>
                  </c:pt>
                  <c:pt idx="173">
                    <c:v>9650</c:v>
                  </c:pt>
                  <c:pt idx="174">
                    <c:v>9700</c:v>
                  </c:pt>
                  <c:pt idx="175">
                    <c:v>9750</c:v>
                  </c:pt>
                  <c:pt idx="176">
                    <c:v>9800</c:v>
                  </c:pt>
                  <c:pt idx="177">
                    <c:v>9850</c:v>
                  </c:pt>
                  <c:pt idx="178">
                    <c:v>9900</c:v>
                  </c:pt>
                  <c:pt idx="179">
                    <c:v>9950</c:v>
                  </c:pt>
                  <c:pt idx="180">
                    <c:v>10000</c:v>
                  </c:pt>
                  <c:pt idx="181">
                    <c:v>10050</c:v>
                  </c:pt>
                  <c:pt idx="182">
                    <c:v>10100</c:v>
                  </c:pt>
                  <c:pt idx="183">
                    <c:v>10150</c:v>
                  </c:pt>
                  <c:pt idx="184">
                    <c:v>10200</c:v>
                  </c:pt>
                  <c:pt idx="185">
                    <c:v>10250</c:v>
                  </c:pt>
                  <c:pt idx="186">
                    <c:v>10300</c:v>
                  </c:pt>
                  <c:pt idx="187">
                    <c:v>10350</c:v>
                  </c:pt>
                  <c:pt idx="188">
                    <c:v>10400</c:v>
                  </c:pt>
                  <c:pt idx="189">
                    <c:v>10450</c:v>
                  </c:pt>
                  <c:pt idx="190">
                    <c:v>10500</c:v>
                  </c:pt>
                  <c:pt idx="191">
                    <c:v>10550</c:v>
                  </c:pt>
                  <c:pt idx="192">
                    <c:v>10600</c:v>
                  </c:pt>
                  <c:pt idx="193">
                    <c:v>10650</c:v>
                  </c:pt>
                  <c:pt idx="194">
                    <c:v>10700</c:v>
                  </c:pt>
                  <c:pt idx="195">
                    <c:v>10750</c:v>
                  </c:pt>
                  <c:pt idx="196">
                    <c:v>10800</c:v>
                  </c:pt>
                  <c:pt idx="197">
                    <c:v>10850</c:v>
                  </c:pt>
                  <c:pt idx="198">
                    <c:v>10900</c:v>
                  </c:pt>
                  <c:pt idx="199">
                    <c:v>10950</c:v>
                  </c:pt>
                  <c:pt idx="200">
                    <c:v>11000</c:v>
                  </c:pt>
                  <c:pt idx="201">
                    <c:v>11050</c:v>
                  </c:pt>
                  <c:pt idx="202">
                    <c:v>11100</c:v>
                  </c:pt>
                  <c:pt idx="203">
                    <c:v>11150</c:v>
                  </c:pt>
                  <c:pt idx="204">
                    <c:v>11200</c:v>
                  </c:pt>
                  <c:pt idx="205">
                    <c:v>11250</c:v>
                  </c:pt>
                  <c:pt idx="206">
                    <c:v>11300</c:v>
                  </c:pt>
                  <c:pt idx="207">
                    <c:v>11350</c:v>
                  </c:pt>
                  <c:pt idx="208">
                    <c:v>11400</c:v>
                  </c:pt>
                  <c:pt idx="209">
                    <c:v>11450</c:v>
                  </c:pt>
                  <c:pt idx="210">
                    <c:v>11500</c:v>
                  </c:pt>
                  <c:pt idx="211">
                    <c:v>11550</c:v>
                  </c:pt>
                  <c:pt idx="212">
                    <c:v>11600</c:v>
                  </c:pt>
                  <c:pt idx="213">
                    <c:v>11650</c:v>
                  </c:pt>
                  <c:pt idx="214">
                    <c:v>11700</c:v>
                  </c:pt>
                  <c:pt idx="215">
                    <c:v>11750</c:v>
                  </c:pt>
                  <c:pt idx="216">
                    <c:v>11800</c:v>
                  </c:pt>
                  <c:pt idx="217">
                    <c:v>11850</c:v>
                  </c:pt>
                  <c:pt idx="218">
                    <c:v>11900</c:v>
                  </c:pt>
                  <c:pt idx="219">
                    <c:v>11950</c:v>
                  </c:pt>
                  <c:pt idx="220">
                    <c:v>12000</c:v>
                  </c:pt>
                  <c:pt idx="221">
                    <c:v>12050</c:v>
                  </c:pt>
                  <c:pt idx="222">
                    <c:v>12100</c:v>
                  </c:pt>
                  <c:pt idx="223">
                    <c:v>12150</c:v>
                  </c:pt>
                  <c:pt idx="224">
                    <c:v>12200</c:v>
                  </c:pt>
                  <c:pt idx="225">
                    <c:v>12250</c:v>
                  </c:pt>
                  <c:pt idx="226">
                    <c:v>12300</c:v>
                  </c:pt>
                  <c:pt idx="227">
                    <c:v>12350</c:v>
                  </c:pt>
                  <c:pt idx="228">
                    <c:v>12400</c:v>
                  </c:pt>
                  <c:pt idx="229">
                    <c:v>12450</c:v>
                  </c:pt>
                  <c:pt idx="230">
                    <c:v>12500</c:v>
                  </c:pt>
                  <c:pt idx="231">
                    <c:v>12550</c:v>
                  </c:pt>
                  <c:pt idx="232">
                    <c:v>12600</c:v>
                  </c:pt>
                  <c:pt idx="233">
                    <c:v>12650</c:v>
                  </c:pt>
                  <c:pt idx="234">
                    <c:v>12700</c:v>
                  </c:pt>
                  <c:pt idx="235">
                    <c:v>12750</c:v>
                  </c:pt>
                  <c:pt idx="236">
                    <c:v>12800</c:v>
                  </c:pt>
                  <c:pt idx="237">
                    <c:v>12850</c:v>
                  </c:pt>
                  <c:pt idx="238">
                    <c:v>12900</c:v>
                  </c:pt>
                  <c:pt idx="239">
                    <c:v>12950</c:v>
                  </c:pt>
                  <c:pt idx="240">
                    <c:v>13000</c:v>
                  </c:pt>
                  <c:pt idx="241">
                    <c:v>13050</c:v>
                  </c:pt>
                  <c:pt idx="242">
                    <c:v>13100</c:v>
                  </c:pt>
                  <c:pt idx="243">
                    <c:v>13150</c:v>
                  </c:pt>
                  <c:pt idx="244">
                    <c:v>13200</c:v>
                  </c:pt>
                  <c:pt idx="245">
                    <c:v>13250</c:v>
                  </c:pt>
                  <c:pt idx="246">
                    <c:v>13300</c:v>
                  </c:pt>
                  <c:pt idx="247">
                    <c:v>13350</c:v>
                  </c:pt>
                  <c:pt idx="248">
                    <c:v>13400</c:v>
                  </c:pt>
                  <c:pt idx="249">
                    <c:v>13450</c:v>
                  </c:pt>
                  <c:pt idx="250">
                    <c:v>13500</c:v>
                  </c:pt>
                  <c:pt idx="251">
                    <c:v>13550</c:v>
                  </c:pt>
                  <c:pt idx="252">
                    <c:v>13600</c:v>
                  </c:pt>
                  <c:pt idx="253">
                    <c:v>13650</c:v>
                  </c:pt>
                  <c:pt idx="254">
                    <c:v>13700</c:v>
                  </c:pt>
                  <c:pt idx="255">
                    <c:v>13750</c:v>
                  </c:pt>
                  <c:pt idx="256">
                    <c:v>13800</c:v>
                  </c:pt>
                  <c:pt idx="257">
                    <c:v>13850</c:v>
                  </c:pt>
                  <c:pt idx="258">
                    <c:v>13900</c:v>
                  </c:pt>
                  <c:pt idx="259">
                    <c:v>13950</c:v>
                  </c:pt>
                  <c:pt idx="260">
                    <c:v>14000</c:v>
                  </c:pt>
                  <c:pt idx="261">
                    <c:v>14050</c:v>
                  </c:pt>
                  <c:pt idx="262">
                    <c:v>14100</c:v>
                  </c:pt>
                  <c:pt idx="263">
                    <c:v>14150</c:v>
                  </c:pt>
                  <c:pt idx="264">
                    <c:v>14200</c:v>
                  </c:pt>
                  <c:pt idx="265">
                    <c:v>14250</c:v>
                  </c:pt>
                  <c:pt idx="266">
                    <c:v>14300</c:v>
                  </c:pt>
                  <c:pt idx="267">
                    <c:v>14350</c:v>
                  </c:pt>
                  <c:pt idx="268">
                    <c:v>14400</c:v>
                  </c:pt>
                  <c:pt idx="269">
                    <c:v>14450</c:v>
                  </c:pt>
                  <c:pt idx="270">
                    <c:v>14500</c:v>
                  </c:pt>
                  <c:pt idx="271">
                    <c:v>14550</c:v>
                  </c:pt>
                  <c:pt idx="272">
                    <c:v>14600</c:v>
                  </c:pt>
                  <c:pt idx="273">
                    <c:v>14650</c:v>
                  </c:pt>
                  <c:pt idx="274">
                    <c:v>14700</c:v>
                  </c:pt>
                  <c:pt idx="275">
                    <c:v>14750</c:v>
                  </c:pt>
                  <c:pt idx="276">
                    <c:v>14800</c:v>
                  </c:pt>
                  <c:pt idx="277">
                    <c:v>14850</c:v>
                  </c:pt>
                  <c:pt idx="278">
                    <c:v>14900</c:v>
                  </c:pt>
                  <c:pt idx="279">
                    <c:v>14950</c:v>
                  </c:pt>
                  <c:pt idx="280">
                    <c:v>15000</c:v>
                  </c:pt>
                  <c:pt idx="281">
                    <c:v>15050</c:v>
                  </c:pt>
                  <c:pt idx="282">
                    <c:v>15100</c:v>
                  </c:pt>
                  <c:pt idx="283">
                    <c:v>15150</c:v>
                  </c:pt>
                  <c:pt idx="284">
                    <c:v>15200</c:v>
                  </c:pt>
                  <c:pt idx="285">
                    <c:v>15250</c:v>
                  </c:pt>
                  <c:pt idx="286">
                    <c:v>15300</c:v>
                  </c:pt>
                  <c:pt idx="287">
                    <c:v>15350</c:v>
                  </c:pt>
                  <c:pt idx="288">
                    <c:v>15400</c:v>
                  </c:pt>
                  <c:pt idx="289">
                    <c:v>15450</c:v>
                  </c:pt>
                  <c:pt idx="290">
                    <c:v>15500</c:v>
                  </c:pt>
                  <c:pt idx="291">
                    <c:v>15550</c:v>
                  </c:pt>
                  <c:pt idx="292">
                    <c:v>15600</c:v>
                  </c:pt>
                  <c:pt idx="293">
                    <c:v>15650</c:v>
                  </c:pt>
                  <c:pt idx="294">
                    <c:v>15700</c:v>
                  </c:pt>
                  <c:pt idx="295">
                    <c:v>15750</c:v>
                  </c:pt>
                  <c:pt idx="296">
                    <c:v>15800</c:v>
                  </c:pt>
                  <c:pt idx="297">
                    <c:v>15850</c:v>
                  </c:pt>
                  <c:pt idx="298">
                    <c:v>15900</c:v>
                  </c:pt>
                  <c:pt idx="299">
                    <c:v>15950</c:v>
                  </c:pt>
                  <c:pt idx="300">
                    <c:v>16000</c:v>
                  </c:pt>
                  <c:pt idx="301">
                    <c:v>16050</c:v>
                  </c:pt>
                  <c:pt idx="302">
                    <c:v>16100</c:v>
                  </c:pt>
                  <c:pt idx="303">
                    <c:v>16150</c:v>
                  </c:pt>
                  <c:pt idx="304">
                    <c:v>16200</c:v>
                  </c:pt>
                  <c:pt idx="305">
                    <c:v>16250</c:v>
                  </c:pt>
                  <c:pt idx="306">
                    <c:v>16300</c:v>
                  </c:pt>
                  <c:pt idx="307">
                    <c:v>16350</c:v>
                  </c:pt>
                  <c:pt idx="308">
                    <c:v>16400</c:v>
                  </c:pt>
                  <c:pt idx="309">
                    <c:v>16450</c:v>
                  </c:pt>
                  <c:pt idx="310">
                    <c:v>16500</c:v>
                  </c:pt>
                  <c:pt idx="311">
                    <c:v>16550</c:v>
                  </c:pt>
                  <c:pt idx="312">
                    <c:v>16600</c:v>
                  </c:pt>
                  <c:pt idx="313">
                    <c:v>16650</c:v>
                  </c:pt>
                  <c:pt idx="314">
                    <c:v>16700</c:v>
                  </c:pt>
                  <c:pt idx="315">
                    <c:v>16750</c:v>
                  </c:pt>
                  <c:pt idx="316">
                    <c:v>16800</c:v>
                  </c:pt>
                  <c:pt idx="317">
                    <c:v>16850</c:v>
                  </c:pt>
                  <c:pt idx="318">
                    <c:v>16900</c:v>
                  </c:pt>
                  <c:pt idx="319">
                    <c:v>16950</c:v>
                  </c:pt>
                  <c:pt idx="320">
                    <c:v>17000</c:v>
                  </c:pt>
                  <c:pt idx="321">
                    <c:v>17050</c:v>
                  </c:pt>
                  <c:pt idx="322">
                    <c:v>17100</c:v>
                  </c:pt>
                  <c:pt idx="323">
                    <c:v>17150</c:v>
                  </c:pt>
                  <c:pt idx="324">
                    <c:v>17200</c:v>
                  </c:pt>
                  <c:pt idx="325">
                    <c:v>17250</c:v>
                  </c:pt>
                  <c:pt idx="326">
                    <c:v>17300</c:v>
                  </c:pt>
                  <c:pt idx="327">
                    <c:v>17350</c:v>
                  </c:pt>
                  <c:pt idx="328">
                    <c:v>17400</c:v>
                  </c:pt>
                  <c:pt idx="329">
                    <c:v>17450</c:v>
                  </c:pt>
                  <c:pt idx="330">
                    <c:v>17500</c:v>
                  </c:pt>
                  <c:pt idx="331">
                    <c:v>17550</c:v>
                  </c:pt>
                  <c:pt idx="332">
                    <c:v>17600</c:v>
                  </c:pt>
                  <c:pt idx="333">
                    <c:v>17650</c:v>
                  </c:pt>
                  <c:pt idx="334">
                    <c:v>17700</c:v>
                  </c:pt>
                  <c:pt idx="335">
                    <c:v>17750</c:v>
                  </c:pt>
                  <c:pt idx="336">
                    <c:v>17800</c:v>
                  </c:pt>
                  <c:pt idx="337">
                    <c:v>17850</c:v>
                  </c:pt>
                  <c:pt idx="338">
                    <c:v>17900</c:v>
                  </c:pt>
                  <c:pt idx="339">
                    <c:v>17950</c:v>
                  </c:pt>
                  <c:pt idx="340">
                    <c:v>18000</c:v>
                  </c:pt>
                  <c:pt idx="341">
                    <c:v>18050</c:v>
                  </c:pt>
                  <c:pt idx="342">
                    <c:v>18100</c:v>
                  </c:pt>
                  <c:pt idx="343">
                    <c:v>18150</c:v>
                  </c:pt>
                  <c:pt idx="344">
                    <c:v>18200</c:v>
                  </c:pt>
                  <c:pt idx="345">
                    <c:v>18250</c:v>
                  </c:pt>
                  <c:pt idx="346">
                    <c:v>18300</c:v>
                  </c:pt>
                  <c:pt idx="347">
                    <c:v>18350</c:v>
                  </c:pt>
                  <c:pt idx="348">
                    <c:v>18400</c:v>
                  </c:pt>
                  <c:pt idx="349">
                    <c:v>18450</c:v>
                  </c:pt>
                  <c:pt idx="350">
                    <c:v>18500</c:v>
                  </c:pt>
                  <c:pt idx="351">
                    <c:v>18550</c:v>
                  </c:pt>
                  <c:pt idx="352">
                    <c:v>18600</c:v>
                  </c:pt>
                  <c:pt idx="353">
                    <c:v>18650</c:v>
                  </c:pt>
                  <c:pt idx="354">
                    <c:v>18700</c:v>
                  </c:pt>
                  <c:pt idx="355">
                    <c:v>18750</c:v>
                  </c:pt>
                  <c:pt idx="356">
                    <c:v>18800</c:v>
                  </c:pt>
                  <c:pt idx="357">
                    <c:v>18850</c:v>
                  </c:pt>
                  <c:pt idx="358">
                    <c:v>18900</c:v>
                  </c:pt>
                  <c:pt idx="359">
                    <c:v>18950</c:v>
                  </c:pt>
                  <c:pt idx="360">
                    <c:v>19000</c:v>
                  </c:pt>
                  <c:pt idx="361">
                    <c:v>19050</c:v>
                  </c:pt>
                  <c:pt idx="362">
                    <c:v>19100</c:v>
                  </c:pt>
                  <c:pt idx="363">
                    <c:v>19150</c:v>
                  </c:pt>
                  <c:pt idx="364">
                    <c:v>19200</c:v>
                  </c:pt>
                  <c:pt idx="365">
                    <c:v>19250</c:v>
                  </c:pt>
                  <c:pt idx="366">
                    <c:v>19300</c:v>
                  </c:pt>
                  <c:pt idx="367">
                    <c:v>19350</c:v>
                  </c:pt>
                  <c:pt idx="368">
                    <c:v>19400</c:v>
                  </c:pt>
                  <c:pt idx="369">
                    <c:v>19450</c:v>
                  </c:pt>
                  <c:pt idx="370">
                    <c:v>19500</c:v>
                  </c:pt>
                  <c:pt idx="371">
                    <c:v>19550</c:v>
                  </c:pt>
                  <c:pt idx="372">
                    <c:v>19600</c:v>
                  </c:pt>
                  <c:pt idx="373">
                    <c:v>19650</c:v>
                  </c:pt>
                  <c:pt idx="374">
                    <c:v>19700</c:v>
                  </c:pt>
                  <c:pt idx="375">
                    <c:v>19750</c:v>
                  </c:pt>
                  <c:pt idx="376">
                    <c:v>19800</c:v>
                  </c:pt>
                  <c:pt idx="377">
                    <c:v>19850</c:v>
                  </c:pt>
                  <c:pt idx="378">
                    <c:v>19900</c:v>
                  </c:pt>
                  <c:pt idx="379">
                    <c:v>19950</c:v>
                  </c:pt>
                </c:lvl>
              </c:multiLvlStrCache>
            </c:multiLvlStrRef>
          </c:cat>
          <c:val>
            <c:numRef>
              <c:f>Sheet1!$C$2:$C$381</c:f>
              <c:numCache>
                <c:formatCode>General</c:formatCode>
                <c:ptCount val="380"/>
                <c:pt idx="0">
                  <c:v/>
                </c:pt>
                <c:pt idx="1">
                  <c:v/>
                </c:pt>
                <c:pt idx="2">
                  <c:v/>
                </c:pt>
                <c:pt idx="3">
                  <c:v/>
                </c:pt>
                <c:pt idx="4">
                  <c:v/>
                </c:pt>
                <c:pt idx="5">
                  <c:v/>
                </c:pt>
                <c:pt idx="6">
                  <c:v>0.95</c:v>
                </c:pt>
                <c:pt idx="7">
                  <c:v>0.9433</c:v>
                </c:pt>
                <c:pt idx="8">
                  <c:v>0.9433</c:v>
                </c:pt>
                <c:pt idx="9">
                  <c:v>0.93</c:v>
                </c:pt>
                <c:pt idx="10">
                  <c:v>0.9367</c:v>
                </c:pt>
                <c:pt idx="11">
                  <c:v>0.9333</c:v>
                </c:pt>
                <c:pt idx="12">
                  <c:v>0.9267</c:v>
                </c:pt>
                <c:pt idx="13">
                  <c:v>0.9333</c:v>
                </c:pt>
                <c:pt idx="14">
                  <c:v>0.9333</c:v>
                </c:pt>
                <c:pt idx="15">
                  <c:v>0.9367</c:v>
                </c:pt>
                <c:pt idx="16">
                  <c:v>0.9333</c:v>
                </c:pt>
                <c:pt idx="17">
                  <c:v>0.94</c:v>
                </c:pt>
                <c:pt idx="18">
                  <c:v>0.9367</c:v>
                </c:pt>
                <c:pt idx="19">
                  <c:v>0.9267</c:v>
                </c:pt>
                <c:pt idx="20">
                  <c:v>0.9233</c:v>
                </c:pt>
                <c:pt idx="21">
                  <c:v>0.9233</c:v>
                </c:pt>
                <c:pt idx="22">
                  <c:v>0.9267</c:v>
                </c:pt>
                <c:pt idx="23">
                  <c:v>0.9167</c:v>
                </c:pt>
                <c:pt idx="24">
                  <c:v>0.9067</c:v>
                </c:pt>
                <c:pt idx="25">
                  <c:v>0.9167</c:v>
                </c:pt>
                <c:pt idx="26">
                  <c:v>0.9167</c:v>
                </c:pt>
                <c:pt idx="27">
                  <c:v>0.9167</c:v>
                </c:pt>
                <c:pt idx="28">
                  <c:v>0.9133</c:v>
                </c:pt>
                <c:pt idx="29">
                  <c:v>0.9167</c:v>
                </c:pt>
                <c:pt idx="30">
                  <c:v>0.9333</c:v>
                </c:pt>
                <c:pt idx="31">
                  <c:v>0.94</c:v>
                </c:pt>
                <c:pt idx="32">
                  <c:v>0.9433</c:v>
                </c:pt>
                <c:pt idx="33">
                  <c:v>0.9433</c:v>
                </c:pt>
                <c:pt idx="34">
                  <c:v>0.9333</c:v>
                </c:pt>
                <c:pt idx="35">
                  <c:v>0.9367</c:v>
                </c:pt>
                <c:pt idx="36">
                  <c:v>0.9333</c:v>
                </c:pt>
                <c:pt idx="37">
                  <c:v>0.9233</c:v>
                </c:pt>
                <c:pt idx="38">
                  <c:v>0.92</c:v>
                </c:pt>
                <c:pt idx="39">
                  <c:v>0.9233</c:v>
                </c:pt>
                <c:pt idx="40">
                  <c:v>0.93</c:v>
                </c:pt>
                <c:pt idx="41">
                  <c:v>0.94</c:v>
                </c:pt>
                <c:pt idx="42">
                  <c:v>0.9367</c:v>
                </c:pt>
                <c:pt idx="43">
                  <c:v>0.9333</c:v>
                </c:pt>
                <c:pt idx="44">
                  <c:v>0.9267</c:v>
                </c:pt>
                <c:pt idx="45">
                  <c:v>0.9133</c:v>
                </c:pt>
                <c:pt idx="46">
                  <c:v>0.92</c:v>
                </c:pt>
                <c:pt idx="47">
                  <c:v>0.9067</c:v>
                </c:pt>
                <c:pt idx="48">
                  <c:v>0.9</c:v>
                </c:pt>
                <c:pt idx="49">
                  <c:v>0.88</c:v>
                </c:pt>
                <c:pt idx="50">
                  <c:v>0.88</c:v>
                </c:pt>
                <c:pt idx="51">
                  <c:v>0.8933</c:v>
                </c:pt>
                <c:pt idx="52">
                  <c:v>0.8833</c:v>
                </c:pt>
                <c:pt idx="53">
                  <c:v>0.89</c:v>
                </c:pt>
                <c:pt idx="54">
                  <c:v>0.89</c:v>
                </c:pt>
                <c:pt idx="55">
                  <c:v>0.9</c:v>
                </c:pt>
                <c:pt idx="56">
                  <c:v>0.9067</c:v>
                </c:pt>
                <c:pt idx="57">
                  <c:v>0.91</c:v>
                </c:pt>
                <c:pt idx="58">
                  <c:v>0.9133</c:v>
                </c:pt>
                <c:pt idx="59">
                  <c:v>0.9067</c:v>
                </c:pt>
                <c:pt idx="60">
                  <c:v>0.9067</c:v>
                </c:pt>
                <c:pt idx="61">
                  <c:v>0.91</c:v>
                </c:pt>
                <c:pt idx="62">
                  <c:v>0.9167</c:v>
                </c:pt>
                <c:pt idx="63">
                  <c:v>0.9167</c:v>
                </c:pt>
                <c:pt idx="64">
                  <c:v>0.92</c:v>
                </c:pt>
                <c:pt idx="65">
                  <c:v>0.9167</c:v>
                </c:pt>
                <c:pt idx="66">
                  <c:v>0.9167</c:v>
                </c:pt>
                <c:pt idx="67">
                  <c:v>0.9267</c:v>
                </c:pt>
                <c:pt idx="68">
                  <c:v>0.9167</c:v>
                </c:pt>
                <c:pt idx="69">
                  <c:v>0.91</c:v>
                </c:pt>
                <c:pt idx="70">
                  <c:v>0.9067</c:v>
                </c:pt>
                <c:pt idx="71">
                  <c:v>0.92</c:v>
                </c:pt>
                <c:pt idx="72">
                  <c:v>0.9333</c:v>
                </c:pt>
                <c:pt idx="73">
                  <c:v>0.9167</c:v>
                </c:pt>
                <c:pt idx="74">
                  <c:v>0.9133</c:v>
                </c:pt>
                <c:pt idx="75">
                  <c:v>0.9133</c:v>
                </c:pt>
                <c:pt idx="76">
                  <c:v>0.9167</c:v>
                </c:pt>
                <c:pt idx="77">
                  <c:v>0.91</c:v>
                </c:pt>
                <c:pt idx="78">
                  <c:v>0.91</c:v>
                </c:pt>
                <c:pt idx="79">
                  <c:v>0.9233</c:v>
                </c:pt>
                <c:pt idx="80">
                  <c:v>0.9333</c:v>
                </c:pt>
                <c:pt idx="81">
                  <c:v>0.8667</c:v>
                </c:pt>
                <c:pt idx="82">
                  <c:v>0.7767</c:v>
                </c:pt>
                <c:pt idx="83">
                  <c:v>0.7067</c:v>
                </c:pt>
                <c:pt idx="84">
                  <c:v>0.6333</c:v>
                </c:pt>
                <c:pt idx="85">
                  <c:v>0.5667</c:v>
                </c:pt>
                <c:pt idx="86">
                  <c:v>0.49</c:v>
                </c:pt>
                <c:pt idx="87">
                  <c:v>0.5</c:v>
                </c:pt>
                <c:pt idx="88">
                  <c:v>0.5833</c:v>
                </c:pt>
                <c:pt idx="89">
                  <c:v>0.6467</c:v>
                </c:pt>
                <c:pt idx="90">
                  <c:v>0.7133</c:v>
                </c:pt>
                <c:pt idx="91">
                  <c:v>0.77</c:v>
                </c:pt>
                <c:pt idx="92">
                  <c:v>0.8433</c:v>
                </c:pt>
                <c:pt idx="93">
                  <c:v>0.9033</c:v>
                </c:pt>
                <c:pt idx="94">
                  <c:v>0.9133</c:v>
                </c:pt>
                <c:pt idx="95">
                  <c:v>0.93</c:v>
                </c:pt>
                <c:pt idx="96">
                  <c:v>0.9267</c:v>
                </c:pt>
                <c:pt idx="97">
                  <c:v>0.9333</c:v>
                </c:pt>
                <c:pt idx="98">
                  <c:v>0.9333</c:v>
                </c:pt>
                <c:pt idx="99">
                  <c:v>0.93</c:v>
                </c:pt>
                <c:pt idx="100">
                  <c:v>0.9267</c:v>
                </c:pt>
                <c:pt idx="101">
                  <c:v>0.9167</c:v>
                </c:pt>
                <c:pt idx="102">
                  <c:v>0.93</c:v>
                </c:pt>
                <c:pt idx="103">
                  <c:v>0.9233</c:v>
                </c:pt>
                <c:pt idx="104">
                  <c:v>0.92</c:v>
                </c:pt>
                <c:pt idx="105">
                  <c:v>0.9233</c:v>
                </c:pt>
                <c:pt idx="106">
                  <c:v>0.9133</c:v>
                </c:pt>
                <c:pt idx="107">
                  <c:v>0.9167</c:v>
                </c:pt>
                <c:pt idx="108">
                  <c:v>0.9</c:v>
                </c:pt>
                <c:pt idx="109">
                  <c:v>0.9067</c:v>
                </c:pt>
                <c:pt idx="110">
                  <c:v>0.9167</c:v>
                </c:pt>
                <c:pt idx="111">
                  <c:v>0.92</c:v>
                </c:pt>
                <c:pt idx="112">
                  <c:v>0.9267</c:v>
                </c:pt>
                <c:pt idx="113">
                  <c:v>0.9233</c:v>
                </c:pt>
                <c:pt idx="114">
                  <c:v>0.9267</c:v>
                </c:pt>
                <c:pt idx="115">
                  <c:v>0.9367</c:v>
                </c:pt>
                <c:pt idx="116">
                  <c:v>0.93</c:v>
                </c:pt>
                <c:pt idx="117">
                  <c:v>0.9267</c:v>
                </c:pt>
                <c:pt idx="118">
                  <c:v>0.9333</c:v>
                </c:pt>
                <c:pt idx="119">
                  <c:v>0.9433</c:v>
                </c:pt>
                <c:pt idx="120">
                  <c:v>0.9467</c:v>
                </c:pt>
                <c:pt idx="121">
                  <c:v>0.94</c:v>
                </c:pt>
                <c:pt idx="122">
                  <c:v>0.9433</c:v>
                </c:pt>
                <c:pt idx="123">
                  <c:v>0.9433</c:v>
                </c:pt>
                <c:pt idx="124">
                  <c:v>0.9467</c:v>
                </c:pt>
                <c:pt idx="125">
                  <c:v>0.9467</c:v>
                </c:pt>
                <c:pt idx="126">
                  <c:v>0.9467</c:v>
                </c:pt>
                <c:pt idx="127">
                  <c:v>0.9367</c:v>
                </c:pt>
                <c:pt idx="128">
                  <c:v>0.93</c:v>
                </c:pt>
                <c:pt idx="129">
                  <c:v>0.9033</c:v>
                </c:pt>
                <c:pt idx="130">
                  <c:v>0.8967</c:v>
                </c:pt>
                <c:pt idx="131">
                  <c:v>0.8933</c:v>
                </c:pt>
                <c:pt idx="132">
                  <c:v>0.89</c:v>
                </c:pt>
                <c:pt idx="133">
                  <c:v>0.91</c:v>
                </c:pt>
                <c:pt idx="134">
                  <c:v>0.9233</c:v>
                </c:pt>
                <c:pt idx="135">
                  <c:v>0.9467</c:v>
                </c:pt>
                <c:pt idx="136">
                  <c:v>0.9467</c:v>
                </c:pt>
                <c:pt idx="137">
                  <c:v>0.9467</c:v>
                </c:pt>
                <c:pt idx="138">
                  <c:v>0.95</c:v>
                </c:pt>
                <c:pt idx="139">
                  <c:v>0.9433</c:v>
                </c:pt>
                <c:pt idx="140">
                  <c:v>0.94</c:v>
                </c:pt>
                <c:pt idx="141">
                  <c:v>0.95</c:v>
                </c:pt>
                <c:pt idx="142">
                  <c:v>0.9567</c:v>
                </c:pt>
                <c:pt idx="143">
                  <c:v>0.96</c:v>
                </c:pt>
                <c:pt idx="144">
                  <c:v>0.9633</c:v>
                </c:pt>
                <c:pt idx="145">
                  <c:v>0.9567</c:v>
                </c:pt>
                <c:pt idx="146">
                  <c:v>0.95</c:v>
                </c:pt>
                <c:pt idx="147">
                  <c:v>0.94</c:v>
                </c:pt>
                <c:pt idx="148">
                  <c:v>0.93</c:v>
                </c:pt>
                <c:pt idx="149">
                  <c:v>0.9133</c:v>
                </c:pt>
                <c:pt idx="150">
                  <c:v>0.92</c:v>
                </c:pt>
                <c:pt idx="151">
                  <c:v>0.9233</c:v>
                </c:pt>
                <c:pt idx="152">
                  <c:v>0.91</c:v>
                </c:pt>
                <c:pt idx="153">
                  <c:v>0.9167</c:v>
                </c:pt>
                <c:pt idx="154">
                  <c:v>0.92</c:v>
                </c:pt>
                <c:pt idx="155">
                  <c:v>0.93</c:v>
                </c:pt>
                <c:pt idx="156">
                  <c:v>0.92</c:v>
                </c:pt>
                <c:pt idx="157">
                  <c:v>0.9267</c:v>
                </c:pt>
                <c:pt idx="158">
                  <c:v>0.94</c:v>
                </c:pt>
                <c:pt idx="159">
                  <c:v>0.9267</c:v>
                </c:pt>
                <c:pt idx="160">
                  <c:v>0.9333</c:v>
                </c:pt>
                <c:pt idx="161">
                  <c:v>0.9267</c:v>
                </c:pt>
                <c:pt idx="162">
                  <c:v>0.93</c:v>
                </c:pt>
                <c:pt idx="163">
                  <c:v>0.9133</c:v>
                </c:pt>
                <c:pt idx="164">
                  <c:v>0.9067</c:v>
                </c:pt>
                <c:pt idx="165">
                  <c:v>0.92</c:v>
                </c:pt>
                <c:pt idx="166">
                  <c:v>0.91</c:v>
                </c:pt>
                <c:pt idx="167">
                  <c:v>0.9167</c:v>
                </c:pt>
                <c:pt idx="168">
                  <c:v>0.92</c:v>
                </c:pt>
                <c:pt idx="169">
                  <c:v>0.9167</c:v>
                </c:pt>
                <c:pt idx="170">
                  <c:v>0.91</c:v>
                </c:pt>
                <c:pt idx="171">
                  <c:v>0.9</c:v>
                </c:pt>
                <c:pt idx="172">
                  <c:v>0.9033</c:v>
                </c:pt>
                <c:pt idx="173">
                  <c:v>0.91</c:v>
                </c:pt>
                <c:pt idx="174">
                  <c:v>0.91</c:v>
                </c:pt>
                <c:pt idx="175">
                  <c:v>0.93</c:v>
                </c:pt>
                <c:pt idx="176">
                  <c:v>0.94</c:v>
                </c:pt>
                <c:pt idx="177">
                  <c:v>0.9433</c:v>
                </c:pt>
                <c:pt idx="178">
                  <c:v>0.9467</c:v>
                </c:pt>
                <c:pt idx="179">
                  <c:v>0.94</c:v>
                </c:pt>
                <c:pt idx="180">
                  <c:v>0.9333</c:v>
                </c:pt>
                <c:pt idx="181">
                  <c:v>0.8433</c:v>
                </c:pt>
                <c:pt idx="182">
                  <c:v>0.7367</c:v>
                </c:pt>
                <c:pt idx="183">
                  <c:v>0.6567</c:v>
                </c:pt>
                <c:pt idx="184">
                  <c:v>0.56</c:v>
                </c:pt>
                <c:pt idx="185">
                  <c:v>0.46</c:v>
                </c:pt>
                <c:pt idx="186">
                  <c:v>0.3667</c:v>
                </c:pt>
                <c:pt idx="187">
                  <c:v>0.3767</c:v>
                </c:pt>
                <c:pt idx="188">
                  <c:v>0.4833</c:v>
                </c:pt>
                <c:pt idx="189">
                  <c:v>0.5433</c:v>
                </c:pt>
                <c:pt idx="190">
                  <c:v>0.6367</c:v>
                </c:pt>
                <c:pt idx="191">
                  <c:v>0.72</c:v>
                </c:pt>
                <c:pt idx="192">
                  <c:v>0.82</c:v>
                </c:pt>
                <c:pt idx="193">
                  <c:v>0.89</c:v>
                </c:pt>
                <c:pt idx="194">
                  <c:v>0.89</c:v>
                </c:pt>
                <c:pt idx="195">
                  <c:v>0.9033</c:v>
                </c:pt>
                <c:pt idx="196">
                  <c:v>0.89</c:v>
                </c:pt>
                <c:pt idx="197">
                  <c:v>0.89</c:v>
                </c:pt>
                <c:pt idx="198">
                  <c:v>0.89</c:v>
                </c:pt>
                <c:pt idx="199">
                  <c:v>0.89</c:v>
                </c:pt>
                <c:pt idx="200">
                  <c:v>0.8833</c:v>
                </c:pt>
                <c:pt idx="201">
                  <c:v>0.8867</c:v>
                </c:pt>
                <c:pt idx="202">
                  <c:v>0.9033</c:v>
                </c:pt>
                <c:pt idx="203">
                  <c:v>0.9</c:v>
                </c:pt>
                <c:pt idx="204">
                  <c:v>0.8867</c:v>
                </c:pt>
                <c:pt idx="205">
                  <c:v>0.8733</c:v>
                </c:pt>
                <c:pt idx="206">
                  <c:v>0.8667</c:v>
                </c:pt>
                <c:pt idx="207">
                  <c:v>0.8633</c:v>
                </c:pt>
                <c:pt idx="208">
                  <c:v>0.86</c:v>
                </c:pt>
                <c:pt idx="209">
                  <c:v>0.8667</c:v>
                </c:pt>
                <c:pt idx="210">
                  <c:v>0.8633</c:v>
                </c:pt>
                <c:pt idx="211">
                  <c:v>0.88</c:v>
                </c:pt>
                <c:pt idx="212">
                  <c:v>0.8967</c:v>
                </c:pt>
                <c:pt idx="213">
                  <c:v>0.8933</c:v>
                </c:pt>
                <c:pt idx="214">
                  <c:v>0.8767</c:v>
                </c:pt>
                <c:pt idx="215">
                  <c:v>0.8833</c:v>
                </c:pt>
                <c:pt idx="216">
                  <c:v>0.8933</c:v>
                </c:pt>
                <c:pt idx="217">
                  <c:v>0.88</c:v>
                </c:pt>
                <c:pt idx="218">
                  <c:v>0.87</c:v>
                </c:pt>
                <c:pt idx="219">
                  <c:v>0.8867</c:v>
                </c:pt>
                <c:pt idx="220">
                  <c:v>0.9</c:v>
                </c:pt>
                <c:pt idx="221">
                  <c:v>0.8967</c:v>
                </c:pt>
                <c:pt idx="222">
                  <c:v>0.9033</c:v>
                </c:pt>
                <c:pt idx="223">
                  <c:v>0.9033</c:v>
                </c:pt>
                <c:pt idx="224">
                  <c:v>0.9067</c:v>
                </c:pt>
                <c:pt idx="225">
                  <c:v>0.8967</c:v>
                </c:pt>
                <c:pt idx="226">
                  <c:v>0.9</c:v>
                </c:pt>
                <c:pt idx="227">
                  <c:v>0.9</c:v>
                </c:pt>
                <c:pt idx="228">
                  <c:v>0.89</c:v>
                </c:pt>
                <c:pt idx="229">
                  <c:v>0.8967</c:v>
                </c:pt>
                <c:pt idx="230">
                  <c:v>0.88</c:v>
                </c:pt>
                <c:pt idx="231">
                  <c:v>0.8767</c:v>
                </c:pt>
                <c:pt idx="232">
                  <c:v>0.88</c:v>
                </c:pt>
                <c:pt idx="233">
                  <c:v>0.8767</c:v>
                </c:pt>
                <c:pt idx="234">
                  <c:v>0.87</c:v>
                </c:pt>
                <c:pt idx="235">
                  <c:v>0.8667</c:v>
                </c:pt>
                <c:pt idx="236">
                  <c:v>0.8833</c:v>
                </c:pt>
                <c:pt idx="237">
                  <c:v>0.8933</c:v>
                </c:pt>
                <c:pt idx="238">
                  <c:v>0.8833</c:v>
                </c:pt>
                <c:pt idx="239">
                  <c:v>0.8867</c:v>
                </c:pt>
                <c:pt idx="240">
                  <c:v>0.8833</c:v>
                </c:pt>
                <c:pt idx="241">
                  <c:v>0.8933</c:v>
                </c:pt>
                <c:pt idx="242">
                  <c:v>0.8667</c:v>
                </c:pt>
                <c:pt idx="243">
                  <c:v>0.8633</c:v>
                </c:pt>
                <c:pt idx="244">
                  <c:v>0.8767</c:v>
                </c:pt>
                <c:pt idx="245">
                  <c:v>0.8933</c:v>
                </c:pt>
                <c:pt idx="246">
                  <c:v>0.9067</c:v>
                </c:pt>
                <c:pt idx="247">
                  <c:v>0.8933</c:v>
                </c:pt>
                <c:pt idx="248">
                  <c:v>0.92</c:v>
                </c:pt>
                <c:pt idx="249">
                  <c:v>0.9133</c:v>
                </c:pt>
                <c:pt idx="250">
                  <c:v>0.8833</c:v>
                </c:pt>
                <c:pt idx="251">
                  <c:v>0.88</c:v>
                </c:pt>
                <c:pt idx="252">
                  <c:v>0.8667</c:v>
                </c:pt>
                <c:pt idx="253">
                  <c:v>0.87</c:v>
                </c:pt>
                <c:pt idx="254">
                  <c:v>0.8667</c:v>
                </c:pt>
                <c:pt idx="255">
                  <c:v>0.8767</c:v>
                </c:pt>
                <c:pt idx="256">
                  <c:v>0.89</c:v>
                </c:pt>
                <c:pt idx="257">
                  <c:v>0.8633</c:v>
                </c:pt>
                <c:pt idx="258">
                  <c:v>0.8767</c:v>
                </c:pt>
                <c:pt idx="259">
                  <c:v>0.89</c:v>
                </c:pt>
                <c:pt idx="260">
                  <c:v>0.8967</c:v>
                </c:pt>
                <c:pt idx="261">
                  <c:v>0.8833</c:v>
                </c:pt>
                <c:pt idx="262">
                  <c:v>0.8767</c:v>
                </c:pt>
                <c:pt idx="263">
                  <c:v>0.89</c:v>
                </c:pt>
                <c:pt idx="264">
                  <c:v>0.8933</c:v>
                </c:pt>
                <c:pt idx="265">
                  <c:v>0.8767</c:v>
                </c:pt>
                <c:pt idx="266">
                  <c:v>0.8667</c:v>
                </c:pt>
                <c:pt idx="267">
                  <c:v>0.8633</c:v>
                </c:pt>
                <c:pt idx="268">
                  <c:v>0.8667</c:v>
                </c:pt>
                <c:pt idx="269">
                  <c:v>0.8633</c:v>
                </c:pt>
                <c:pt idx="270">
                  <c:v>0.8467</c:v>
                </c:pt>
                <c:pt idx="271">
                  <c:v>0.8667</c:v>
                </c:pt>
                <c:pt idx="272">
                  <c:v>0.8533</c:v>
                </c:pt>
                <c:pt idx="273">
                  <c:v>0.8767</c:v>
                </c:pt>
                <c:pt idx="274">
                  <c:v>0.8933</c:v>
                </c:pt>
                <c:pt idx="275">
                  <c:v>0.8933</c:v>
                </c:pt>
                <c:pt idx="276">
                  <c:v>0.91</c:v>
                </c:pt>
                <c:pt idx="277">
                  <c:v>0.8967</c:v>
                </c:pt>
                <c:pt idx="278">
                  <c:v>0.9133</c:v>
                </c:pt>
                <c:pt idx="279">
                  <c:v>0.8967</c:v>
                </c:pt>
                <c:pt idx="280">
                  <c:v>0.8933</c:v>
                </c:pt>
                <c:pt idx="281">
                  <c:v>0.9</c:v>
                </c:pt>
                <c:pt idx="282">
                  <c:v>0.8867</c:v>
                </c:pt>
                <c:pt idx="283">
                  <c:v>0.8867</c:v>
                </c:pt>
                <c:pt idx="284">
                  <c:v>0.89</c:v>
                </c:pt>
                <c:pt idx="285">
                  <c:v>0.8733</c:v>
                </c:pt>
                <c:pt idx="286">
                  <c:v>0.8433</c:v>
                </c:pt>
                <c:pt idx="287">
                  <c:v>0.8367</c:v>
                </c:pt>
                <c:pt idx="288">
                  <c:v>0.8267</c:v>
                </c:pt>
                <c:pt idx="289">
                  <c:v>0.8067</c:v>
                </c:pt>
                <c:pt idx="290">
                  <c:v>0.8067</c:v>
                </c:pt>
                <c:pt idx="291">
                  <c:v>0.81</c:v>
                </c:pt>
                <c:pt idx="292">
                  <c:v>0.8167</c:v>
                </c:pt>
                <c:pt idx="293">
                  <c:v>0.8</c:v>
                </c:pt>
                <c:pt idx="294">
                  <c:v>0.7933</c:v>
                </c:pt>
                <c:pt idx="295">
                  <c:v>0.8</c:v>
                </c:pt>
                <c:pt idx="296">
                  <c:v>0.76</c:v>
                </c:pt>
                <c:pt idx="297">
                  <c:v>0.7633</c:v>
                </c:pt>
                <c:pt idx="298">
                  <c:v>0.7633</c:v>
                </c:pt>
                <c:pt idx="299">
                  <c:v>0.7767</c:v>
                </c:pt>
                <c:pt idx="300">
                  <c:v>0.7733</c:v>
                </c:pt>
                <c:pt idx="301">
                  <c:v>0.7733</c:v>
                </c:pt>
                <c:pt idx="302">
                  <c:v>0.79</c:v>
                </c:pt>
                <c:pt idx="303">
                  <c:v>0.8067</c:v>
                </c:pt>
                <c:pt idx="304">
                  <c:v>0.8133</c:v>
                </c:pt>
                <c:pt idx="305">
                  <c:v>0.81</c:v>
                </c:pt>
                <c:pt idx="306">
                  <c:v>0.8067</c:v>
                </c:pt>
                <c:pt idx="307">
                  <c:v>0.8167</c:v>
                </c:pt>
                <c:pt idx="308">
                  <c:v>0.8233</c:v>
                </c:pt>
                <c:pt idx="309">
                  <c:v>0.8067</c:v>
                </c:pt>
                <c:pt idx="310">
                  <c:v>0.7967</c:v>
                </c:pt>
                <c:pt idx="311">
                  <c:v>0.8033</c:v>
                </c:pt>
                <c:pt idx="312">
                  <c:v>0.8233</c:v>
                </c:pt>
                <c:pt idx="313">
                  <c:v>0.8133</c:v>
                </c:pt>
                <c:pt idx="314">
                  <c:v>0.8367</c:v>
                </c:pt>
                <c:pt idx="315">
                  <c:v>0.8233</c:v>
                </c:pt>
                <c:pt idx="316">
                  <c:v>0.84</c:v>
                </c:pt>
                <c:pt idx="317">
                  <c:v>0.84</c:v>
                </c:pt>
                <c:pt idx="318">
                  <c:v>0.85</c:v>
                </c:pt>
                <c:pt idx="319">
                  <c:v>0.86</c:v>
                </c:pt>
                <c:pt idx="320">
                  <c:v>0.85</c:v>
                </c:pt>
                <c:pt idx="321">
                  <c:v>0.86</c:v>
                </c:pt>
                <c:pt idx="322">
                  <c:v>0.86</c:v>
                </c:pt>
                <c:pt idx="323">
                  <c:v>0.8367</c:v>
                </c:pt>
                <c:pt idx="324">
                  <c:v>0.8233</c:v>
                </c:pt>
                <c:pt idx="325">
                  <c:v>0.82</c:v>
                </c:pt>
                <c:pt idx="326">
                  <c:v>0.79</c:v>
                </c:pt>
                <c:pt idx="327">
                  <c:v>0.79</c:v>
                </c:pt>
                <c:pt idx="328">
                  <c:v>0.7767</c:v>
                </c:pt>
                <c:pt idx="329">
                  <c:v>0.7833</c:v>
                </c:pt>
                <c:pt idx="330">
                  <c:v>0.7767</c:v>
                </c:pt>
                <c:pt idx="331">
                  <c:v>0.78</c:v>
                </c:pt>
                <c:pt idx="332">
                  <c:v>0.8067</c:v>
                </c:pt>
                <c:pt idx="333">
                  <c:v>0.8133</c:v>
                </c:pt>
                <c:pt idx="334">
                  <c:v>0.8233</c:v>
                </c:pt>
                <c:pt idx="335">
                  <c:v>0.82</c:v>
                </c:pt>
                <c:pt idx="336">
                  <c:v>0.8267</c:v>
                </c:pt>
                <c:pt idx="337">
                  <c:v>0.83</c:v>
                </c:pt>
                <c:pt idx="338">
                  <c:v>0.8333</c:v>
                </c:pt>
                <c:pt idx="339">
                  <c:v>0.83</c:v>
                </c:pt>
                <c:pt idx="340">
                  <c:v>0.8467</c:v>
                </c:pt>
                <c:pt idx="341">
                  <c:v>0.87</c:v>
                </c:pt>
                <c:pt idx="342">
                  <c:v>0.87</c:v>
                </c:pt>
                <c:pt idx="343">
                  <c:v>0.8733</c:v>
                </c:pt>
                <c:pt idx="344">
                  <c:v>0.8567</c:v>
                </c:pt>
                <c:pt idx="345">
                  <c:v>0.8667</c:v>
                </c:pt>
                <c:pt idx="346">
                  <c:v>0.8467</c:v>
                </c:pt>
                <c:pt idx="347">
                  <c:v>0.83</c:v>
                </c:pt>
                <c:pt idx="348">
                  <c:v>0.83</c:v>
                </c:pt>
                <c:pt idx="349">
                  <c:v>0.81</c:v>
                </c:pt>
                <c:pt idx="350">
                  <c:v>0.8333</c:v>
                </c:pt>
                <c:pt idx="351">
                  <c:v>0.8233</c:v>
                </c:pt>
                <c:pt idx="352">
                  <c:v>0.82</c:v>
                </c:pt>
                <c:pt idx="353">
                  <c:v>0.8433</c:v>
                </c:pt>
                <c:pt idx="354">
                  <c:v>0.84</c:v>
                </c:pt>
                <c:pt idx="355">
                  <c:v>0.8467</c:v>
                </c:pt>
                <c:pt idx="356">
                  <c:v>0.82</c:v>
                </c:pt>
                <c:pt idx="357">
                  <c:v>0.8167</c:v>
                </c:pt>
                <c:pt idx="358">
                  <c:v>0.8133</c:v>
                </c:pt>
                <c:pt idx="359">
                  <c:v>0.8067</c:v>
                </c:pt>
                <c:pt idx="360">
                  <c:v>0.8267</c:v>
                </c:pt>
                <c:pt idx="361">
                  <c:v>0.8367</c:v>
                </c:pt>
                <c:pt idx="362">
                  <c:v>0.8533</c:v>
                </c:pt>
                <c:pt idx="363">
                  <c:v>0.8733</c:v>
                </c:pt>
                <c:pt idx="364">
                  <c:v>0.88</c:v>
                </c:pt>
                <c:pt idx="365">
                  <c:v>0.8767</c:v>
                </c:pt>
                <c:pt idx="366">
                  <c:v>0.86</c:v>
                </c:pt>
                <c:pt idx="367">
                  <c:v>0.85</c:v>
                </c:pt>
                <c:pt idx="368">
                  <c:v>0.8433</c:v>
                </c:pt>
                <c:pt idx="369">
                  <c:v>0.8233</c:v>
                </c:pt>
                <c:pt idx="370">
                  <c:v>0.82</c:v>
                </c:pt>
                <c:pt idx="371">
                  <c:v>0.8</c:v>
                </c:pt>
                <c:pt idx="372">
                  <c:v>0.79</c:v>
                </c:pt>
                <c:pt idx="373">
                  <c:v>0.7833</c:v>
                </c:pt>
                <c:pt idx="374">
                  <c:v>0.7767</c:v>
                </c:pt>
                <c:pt idx="375">
                  <c:v>0.7733</c:v>
                </c:pt>
                <c:pt idx="376">
                  <c:v>0.78</c:v>
                </c:pt>
                <c:pt idx="377">
                  <c:v>0.8033</c:v>
                </c:pt>
                <c:pt idx="378">
                  <c:v>0.82</c:v>
                </c:pt>
                <c:pt idx="379">
                  <c:v>0.8233</c:v>
                </c:pt>
              </c:numCache>
            </c:numRef>
          </c:val>
          <c:smooth val="0"/>
        </c:ser>
        <c:ser>
          <c:idx val="2"/>
          <c:order val="2"/>
          <c:tx>
            <c:strRef>
              <c:f>Sheet1!$D$1</c:f>
              <c:strCache>
                <c:ptCount val="1"/>
                <c:pt idx="0">
                  <c:v>River HAT (online)</c:v>
                </c:pt>
              </c:strCache>
            </c:strRef>
          </c:tx>
          <c:spPr>
            <a:solidFill>
              <a:srgbClr val="5B2A86"/>
            </a:solidFill>
            <a:ln w="22225" cap="flat">
              <a:solidFill>
                <a:srgbClr val="5B2A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2A86"/>
              </a:solidFill>
              <a:ln w="9525" cap="flat">
                <a:solidFill>
                  <a:srgbClr val="5B2A86"/>
                </a:solidFill>
                <a:prstDash val="solid"/>
                <a:round/>
              </a:ln>
              <a:effectLst/>
            </c:spPr>
          </c:marker>
          <c:cat>
            <c:multiLvlStrRef>
              <c:f>Sheet1!$A$2:$A$381</c:f>
              <c:multiLvlStrCache>
                <c:ptCount val="380"/>
                <c:lvl>
                  <c:pt idx="0">
                    <c:v>1000</c:v>
                  </c:pt>
                  <c:pt idx="1">
                    <c:v>1050</c:v>
                  </c:pt>
                  <c:pt idx="2">
                    <c:v>1100</c:v>
                  </c:pt>
                  <c:pt idx="3">
                    <c:v>1150</c:v>
                  </c:pt>
                  <c:pt idx="4">
                    <c:v>1200</c:v>
                  </c:pt>
                  <c:pt idx="5">
                    <c:v>1250</c:v>
                  </c:pt>
                  <c:pt idx="6">
                    <c:v>1300</c:v>
                  </c:pt>
                  <c:pt idx="7">
                    <c:v>1350</c:v>
                  </c:pt>
                  <c:pt idx="8">
                    <c:v>1400</c:v>
                  </c:pt>
                  <c:pt idx="9">
                    <c:v>1450</c:v>
                  </c:pt>
                  <c:pt idx="10">
                    <c:v>1500</c:v>
                  </c:pt>
                  <c:pt idx="11">
                    <c:v>1550</c:v>
                  </c:pt>
                  <c:pt idx="12">
                    <c:v>1600</c:v>
                  </c:pt>
                  <c:pt idx="13">
                    <c:v>1650</c:v>
                  </c:pt>
                  <c:pt idx="14">
                    <c:v>1700</c:v>
                  </c:pt>
                  <c:pt idx="15">
                    <c:v>1750</c:v>
                  </c:pt>
                  <c:pt idx="16">
                    <c:v>1800</c:v>
                  </c:pt>
                  <c:pt idx="17">
                    <c:v>1850</c:v>
                  </c:pt>
                  <c:pt idx="18">
                    <c:v>1900</c:v>
                  </c:pt>
                  <c:pt idx="19">
                    <c:v>1950</c:v>
                  </c:pt>
                  <c:pt idx="20">
                    <c:v>2000</c:v>
                  </c:pt>
                  <c:pt idx="21">
                    <c:v>2050</c:v>
                  </c:pt>
                  <c:pt idx="22">
                    <c:v>2100</c:v>
                  </c:pt>
                  <c:pt idx="23">
                    <c:v>2150</c:v>
                  </c:pt>
                  <c:pt idx="24">
                    <c:v>2200</c:v>
                  </c:pt>
                  <c:pt idx="25">
                    <c:v>2250</c:v>
                  </c:pt>
                  <c:pt idx="26">
                    <c:v>2300</c:v>
                  </c:pt>
                  <c:pt idx="27">
                    <c:v>2350</c:v>
                  </c:pt>
                  <c:pt idx="28">
                    <c:v>2400</c:v>
                  </c:pt>
                  <c:pt idx="29">
                    <c:v>2450</c:v>
                  </c:pt>
                  <c:pt idx="30">
                    <c:v>2500</c:v>
                  </c:pt>
                  <c:pt idx="31">
                    <c:v>2550</c:v>
                  </c:pt>
                  <c:pt idx="32">
                    <c:v>2600</c:v>
                  </c:pt>
                  <c:pt idx="33">
                    <c:v>2650</c:v>
                  </c:pt>
                  <c:pt idx="34">
                    <c:v>2700</c:v>
                  </c:pt>
                  <c:pt idx="35">
                    <c:v>2750</c:v>
                  </c:pt>
                  <c:pt idx="36">
                    <c:v>2800</c:v>
                  </c:pt>
                  <c:pt idx="37">
                    <c:v>2850</c:v>
                  </c:pt>
                  <c:pt idx="38">
                    <c:v>2900</c:v>
                  </c:pt>
                  <c:pt idx="39">
                    <c:v>2950</c:v>
                  </c:pt>
                  <c:pt idx="40">
                    <c:v>3000</c:v>
                  </c:pt>
                  <c:pt idx="41">
                    <c:v>3050</c:v>
                  </c:pt>
                  <c:pt idx="42">
                    <c:v>3100</c:v>
                  </c:pt>
                  <c:pt idx="43">
                    <c:v>3150</c:v>
                  </c:pt>
                  <c:pt idx="44">
                    <c:v>3200</c:v>
                  </c:pt>
                  <c:pt idx="45">
                    <c:v>3250</c:v>
                  </c:pt>
                  <c:pt idx="46">
                    <c:v>3300</c:v>
                  </c:pt>
                  <c:pt idx="47">
                    <c:v>3350</c:v>
                  </c:pt>
                  <c:pt idx="48">
                    <c:v>3400</c:v>
                  </c:pt>
                  <c:pt idx="49">
                    <c:v>3450</c:v>
                  </c:pt>
                  <c:pt idx="50">
                    <c:v>3500</c:v>
                  </c:pt>
                  <c:pt idx="51">
                    <c:v>3550</c:v>
                  </c:pt>
                  <c:pt idx="52">
                    <c:v>3600</c:v>
                  </c:pt>
                  <c:pt idx="53">
                    <c:v>3650</c:v>
                  </c:pt>
                  <c:pt idx="54">
                    <c:v>3700</c:v>
                  </c:pt>
                  <c:pt idx="55">
                    <c:v>3750</c:v>
                  </c:pt>
                  <c:pt idx="56">
                    <c:v>3800</c:v>
                  </c:pt>
                  <c:pt idx="57">
                    <c:v>3850</c:v>
                  </c:pt>
                  <c:pt idx="58">
                    <c:v>3900</c:v>
                  </c:pt>
                  <c:pt idx="59">
                    <c:v>3950</c:v>
                  </c:pt>
                  <c:pt idx="60">
                    <c:v>4000</c:v>
                  </c:pt>
                  <c:pt idx="61">
                    <c:v>4050</c:v>
                  </c:pt>
                  <c:pt idx="62">
                    <c:v>4100</c:v>
                  </c:pt>
                  <c:pt idx="63">
                    <c:v>4150</c:v>
                  </c:pt>
                  <c:pt idx="64">
                    <c:v>4200</c:v>
                  </c:pt>
                  <c:pt idx="65">
                    <c:v>4250</c:v>
                  </c:pt>
                  <c:pt idx="66">
                    <c:v>4300</c:v>
                  </c:pt>
                  <c:pt idx="67">
                    <c:v>4350</c:v>
                  </c:pt>
                  <c:pt idx="68">
                    <c:v>4400</c:v>
                  </c:pt>
                  <c:pt idx="69">
                    <c:v>4450</c:v>
                  </c:pt>
                  <c:pt idx="70">
                    <c:v>4500</c:v>
                  </c:pt>
                  <c:pt idx="71">
                    <c:v>4550</c:v>
                  </c:pt>
                  <c:pt idx="72">
                    <c:v>4600</c:v>
                  </c:pt>
                  <c:pt idx="73">
                    <c:v>4650</c:v>
                  </c:pt>
                  <c:pt idx="74">
                    <c:v>4700</c:v>
                  </c:pt>
                  <c:pt idx="75">
                    <c:v>4750</c:v>
                  </c:pt>
                  <c:pt idx="76">
                    <c:v>4800</c:v>
                  </c:pt>
                  <c:pt idx="77">
                    <c:v>4850</c:v>
                  </c:pt>
                  <c:pt idx="78">
                    <c:v>4900</c:v>
                  </c:pt>
                  <c:pt idx="79">
                    <c:v>4950</c:v>
                  </c:pt>
                  <c:pt idx="80">
                    <c:v>5000</c:v>
                  </c:pt>
                  <c:pt idx="81">
                    <c:v>5050</c:v>
                  </c:pt>
                  <c:pt idx="82">
                    <c:v>5100</c:v>
                  </c:pt>
                  <c:pt idx="83">
                    <c:v>5150</c:v>
                  </c:pt>
                  <c:pt idx="84">
                    <c:v>5200</c:v>
                  </c:pt>
                  <c:pt idx="85">
                    <c:v>5250</c:v>
                  </c:pt>
                  <c:pt idx="86">
                    <c:v>5300</c:v>
                  </c:pt>
                  <c:pt idx="87">
                    <c:v>5350</c:v>
                  </c:pt>
                  <c:pt idx="88">
                    <c:v>5400</c:v>
                  </c:pt>
                  <c:pt idx="89">
                    <c:v>5450</c:v>
                  </c:pt>
                  <c:pt idx="90">
                    <c:v>5500</c:v>
                  </c:pt>
                  <c:pt idx="91">
                    <c:v>5550</c:v>
                  </c:pt>
                  <c:pt idx="92">
                    <c:v>5600</c:v>
                  </c:pt>
                  <c:pt idx="93">
                    <c:v>5650</c:v>
                  </c:pt>
                  <c:pt idx="94">
                    <c:v>5700</c:v>
                  </c:pt>
                  <c:pt idx="95">
                    <c:v>5750</c:v>
                  </c:pt>
                  <c:pt idx="96">
                    <c:v>5800</c:v>
                  </c:pt>
                  <c:pt idx="97">
                    <c:v>5850</c:v>
                  </c:pt>
                  <c:pt idx="98">
                    <c:v>5900</c:v>
                  </c:pt>
                  <c:pt idx="99">
                    <c:v>5950</c:v>
                  </c:pt>
                  <c:pt idx="100">
                    <c:v>6000</c:v>
                  </c:pt>
                  <c:pt idx="101">
                    <c:v>6050</c:v>
                  </c:pt>
                  <c:pt idx="102">
                    <c:v>6100</c:v>
                  </c:pt>
                  <c:pt idx="103">
                    <c:v>6150</c:v>
                  </c:pt>
                  <c:pt idx="104">
                    <c:v>6200</c:v>
                  </c:pt>
                  <c:pt idx="105">
                    <c:v>6250</c:v>
                  </c:pt>
                  <c:pt idx="106">
                    <c:v>6300</c:v>
                  </c:pt>
                  <c:pt idx="107">
                    <c:v>6350</c:v>
                  </c:pt>
                  <c:pt idx="108">
                    <c:v>6400</c:v>
                  </c:pt>
                  <c:pt idx="109">
                    <c:v>6450</c:v>
                  </c:pt>
                  <c:pt idx="110">
                    <c:v>6500</c:v>
                  </c:pt>
                  <c:pt idx="111">
                    <c:v>6550</c:v>
                  </c:pt>
                  <c:pt idx="112">
                    <c:v>6600</c:v>
                  </c:pt>
                  <c:pt idx="113">
                    <c:v>6650</c:v>
                  </c:pt>
                  <c:pt idx="114">
                    <c:v>6700</c:v>
                  </c:pt>
                  <c:pt idx="115">
                    <c:v>6750</c:v>
                  </c:pt>
                  <c:pt idx="116">
                    <c:v>6800</c:v>
                  </c:pt>
                  <c:pt idx="117">
                    <c:v>6850</c:v>
                  </c:pt>
                  <c:pt idx="118">
                    <c:v>6900</c:v>
                  </c:pt>
                  <c:pt idx="119">
                    <c:v>6950</c:v>
                  </c:pt>
                  <c:pt idx="120">
                    <c:v>7000</c:v>
                  </c:pt>
                  <c:pt idx="121">
                    <c:v>7050</c:v>
                  </c:pt>
                  <c:pt idx="122">
                    <c:v>7100</c:v>
                  </c:pt>
                  <c:pt idx="123">
                    <c:v>7150</c:v>
                  </c:pt>
                  <c:pt idx="124">
                    <c:v>7200</c:v>
                  </c:pt>
                  <c:pt idx="125">
                    <c:v>7250</c:v>
                  </c:pt>
                  <c:pt idx="126">
                    <c:v>7300</c:v>
                  </c:pt>
                  <c:pt idx="127">
                    <c:v>7350</c:v>
                  </c:pt>
                  <c:pt idx="128">
                    <c:v>7400</c:v>
                  </c:pt>
                  <c:pt idx="129">
                    <c:v>7450</c:v>
                  </c:pt>
                  <c:pt idx="130">
                    <c:v>7500</c:v>
                  </c:pt>
                  <c:pt idx="131">
                    <c:v>7550</c:v>
                  </c:pt>
                  <c:pt idx="132">
                    <c:v>7600</c:v>
                  </c:pt>
                  <c:pt idx="133">
                    <c:v>7650</c:v>
                  </c:pt>
                  <c:pt idx="134">
                    <c:v>7700</c:v>
                  </c:pt>
                  <c:pt idx="135">
                    <c:v>7750</c:v>
                  </c:pt>
                  <c:pt idx="136">
                    <c:v>7800</c:v>
                  </c:pt>
                  <c:pt idx="137">
                    <c:v>7850</c:v>
                  </c:pt>
                  <c:pt idx="138">
                    <c:v>7900</c:v>
                  </c:pt>
                  <c:pt idx="139">
                    <c:v>7950</c:v>
                  </c:pt>
                  <c:pt idx="140">
                    <c:v>8000</c:v>
                  </c:pt>
                  <c:pt idx="141">
                    <c:v>8050</c:v>
                  </c:pt>
                  <c:pt idx="142">
                    <c:v>8100</c:v>
                  </c:pt>
                  <c:pt idx="143">
                    <c:v>8150</c:v>
                  </c:pt>
                  <c:pt idx="144">
                    <c:v>8200</c:v>
                  </c:pt>
                  <c:pt idx="145">
                    <c:v>8250</c:v>
                  </c:pt>
                  <c:pt idx="146">
                    <c:v>8300</c:v>
                  </c:pt>
                  <c:pt idx="147">
                    <c:v>8350</c:v>
                  </c:pt>
                  <c:pt idx="148">
                    <c:v>8400</c:v>
                  </c:pt>
                  <c:pt idx="149">
                    <c:v>8450</c:v>
                  </c:pt>
                  <c:pt idx="150">
                    <c:v>8500</c:v>
                  </c:pt>
                  <c:pt idx="151">
                    <c:v>8550</c:v>
                  </c:pt>
                  <c:pt idx="152">
                    <c:v>8600</c:v>
                  </c:pt>
                  <c:pt idx="153">
                    <c:v>8650</c:v>
                  </c:pt>
                  <c:pt idx="154">
                    <c:v>8700</c:v>
                  </c:pt>
                  <c:pt idx="155">
                    <c:v>8750</c:v>
                  </c:pt>
                  <c:pt idx="156">
                    <c:v>8800</c:v>
                  </c:pt>
                  <c:pt idx="157">
                    <c:v>8850</c:v>
                  </c:pt>
                  <c:pt idx="158">
                    <c:v>8900</c:v>
                  </c:pt>
                  <c:pt idx="159">
                    <c:v>8950</c:v>
                  </c:pt>
                  <c:pt idx="160">
                    <c:v>9000</c:v>
                  </c:pt>
                  <c:pt idx="161">
                    <c:v>9050</c:v>
                  </c:pt>
                  <c:pt idx="162">
                    <c:v>9100</c:v>
                  </c:pt>
                  <c:pt idx="163">
                    <c:v>9150</c:v>
                  </c:pt>
                  <c:pt idx="164">
                    <c:v>9200</c:v>
                  </c:pt>
                  <c:pt idx="165">
                    <c:v>9250</c:v>
                  </c:pt>
                  <c:pt idx="166">
                    <c:v>9300</c:v>
                  </c:pt>
                  <c:pt idx="167">
                    <c:v>9350</c:v>
                  </c:pt>
                  <c:pt idx="168">
                    <c:v>9400</c:v>
                  </c:pt>
                  <c:pt idx="169">
                    <c:v>9450</c:v>
                  </c:pt>
                  <c:pt idx="170">
                    <c:v>9500</c:v>
                  </c:pt>
                  <c:pt idx="171">
                    <c:v>9550</c:v>
                  </c:pt>
                  <c:pt idx="172">
                    <c:v>9600</c:v>
                  </c:pt>
                  <c:pt idx="173">
                    <c:v>9650</c:v>
                  </c:pt>
                  <c:pt idx="174">
                    <c:v>9700</c:v>
                  </c:pt>
                  <c:pt idx="175">
                    <c:v>9750</c:v>
                  </c:pt>
                  <c:pt idx="176">
                    <c:v>9800</c:v>
                  </c:pt>
                  <c:pt idx="177">
                    <c:v>9850</c:v>
                  </c:pt>
                  <c:pt idx="178">
                    <c:v>9900</c:v>
                  </c:pt>
                  <c:pt idx="179">
                    <c:v>9950</c:v>
                  </c:pt>
                  <c:pt idx="180">
                    <c:v>10000</c:v>
                  </c:pt>
                  <c:pt idx="181">
                    <c:v>10050</c:v>
                  </c:pt>
                  <c:pt idx="182">
                    <c:v>10100</c:v>
                  </c:pt>
                  <c:pt idx="183">
                    <c:v>10150</c:v>
                  </c:pt>
                  <c:pt idx="184">
                    <c:v>10200</c:v>
                  </c:pt>
                  <c:pt idx="185">
                    <c:v>10250</c:v>
                  </c:pt>
                  <c:pt idx="186">
                    <c:v>10300</c:v>
                  </c:pt>
                  <c:pt idx="187">
                    <c:v>10350</c:v>
                  </c:pt>
                  <c:pt idx="188">
                    <c:v>10400</c:v>
                  </c:pt>
                  <c:pt idx="189">
                    <c:v>10450</c:v>
                  </c:pt>
                  <c:pt idx="190">
                    <c:v>10500</c:v>
                  </c:pt>
                  <c:pt idx="191">
                    <c:v>10550</c:v>
                  </c:pt>
                  <c:pt idx="192">
                    <c:v>10600</c:v>
                  </c:pt>
                  <c:pt idx="193">
                    <c:v>10650</c:v>
                  </c:pt>
                  <c:pt idx="194">
                    <c:v>10700</c:v>
                  </c:pt>
                  <c:pt idx="195">
                    <c:v>10750</c:v>
                  </c:pt>
                  <c:pt idx="196">
                    <c:v>10800</c:v>
                  </c:pt>
                  <c:pt idx="197">
                    <c:v>10850</c:v>
                  </c:pt>
                  <c:pt idx="198">
                    <c:v>10900</c:v>
                  </c:pt>
                  <c:pt idx="199">
                    <c:v>10950</c:v>
                  </c:pt>
                  <c:pt idx="200">
                    <c:v>11000</c:v>
                  </c:pt>
                  <c:pt idx="201">
                    <c:v>11050</c:v>
                  </c:pt>
                  <c:pt idx="202">
                    <c:v>11100</c:v>
                  </c:pt>
                  <c:pt idx="203">
                    <c:v>11150</c:v>
                  </c:pt>
                  <c:pt idx="204">
                    <c:v>11200</c:v>
                  </c:pt>
                  <c:pt idx="205">
                    <c:v>11250</c:v>
                  </c:pt>
                  <c:pt idx="206">
                    <c:v>11300</c:v>
                  </c:pt>
                  <c:pt idx="207">
                    <c:v>11350</c:v>
                  </c:pt>
                  <c:pt idx="208">
                    <c:v>11400</c:v>
                  </c:pt>
                  <c:pt idx="209">
                    <c:v>11450</c:v>
                  </c:pt>
                  <c:pt idx="210">
                    <c:v>11500</c:v>
                  </c:pt>
                  <c:pt idx="211">
                    <c:v>11550</c:v>
                  </c:pt>
                  <c:pt idx="212">
                    <c:v>11600</c:v>
                  </c:pt>
                  <c:pt idx="213">
                    <c:v>11650</c:v>
                  </c:pt>
                  <c:pt idx="214">
                    <c:v>11700</c:v>
                  </c:pt>
                  <c:pt idx="215">
                    <c:v>11750</c:v>
                  </c:pt>
                  <c:pt idx="216">
                    <c:v>11800</c:v>
                  </c:pt>
                  <c:pt idx="217">
                    <c:v>11850</c:v>
                  </c:pt>
                  <c:pt idx="218">
                    <c:v>11900</c:v>
                  </c:pt>
                  <c:pt idx="219">
                    <c:v>11950</c:v>
                  </c:pt>
                  <c:pt idx="220">
                    <c:v>12000</c:v>
                  </c:pt>
                  <c:pt idx="221">
                    <c:v>12050</c:v>
                  </c:pt>
                  <c:pt idx="222">
                    <c:v>12100</c:v>
                  </c:pt>
                  <c:pt idx="223">
                    <c:v>12150</c:v>
                  </c:pt>
                  <c:pt idx="224">
                    <c:v>12200</c:v>
                  </c:pt>
                  <c:pt idx="225">
                    <c:v>12250</c:v>
                  </c:pt>
                  <c:pt idx="226">
                    <c:v>12300</c:v>
                  </c:pt>
                  <c:pt idx="227">
                    <c:v>12350</c:v>
                  </c:pt>
                  <c:pt idx="228">
                    <c:v>12400</c:v>
                  </c:pt>
                  <c:pt idx="229">
                    <c:v>12450</c:v>
                  </c:pt>
                  <c:pt idx="230">
                    <c:v>12500</c:v>
                  </c:pt>
                  <c:pt idx="231">
                    <c:v>12550</c:v>
                  </c:pt>
                  <c:pt idx="232">
                    <c:v>12600</c:v>
                  </c:pt>
                  <c:pt idx="233">
                    <c:v>12650</c:v>
                  </c:pt>
                  <c:pt idx="234">
                    <c:v>12700</c:v>
                  </c:pt>
                  <c:pt idx="235">
                    <c:v>12750</c:v>
                  </c:pt>
                  <c:pt idx="236">
                    <c:v>12800</c:v>
                  </c:pt>
                  <c:pt idx="237">
                    <c:v>12850</c:v>
                  </c:pt>
                  <c:pt idx="238">
                    <c:v>12900</c:v>
                  </c:pt>
                  <c:pt idx="239">
                    <c:v>12950</c:v>
                  </c:pt>
                  <c:pt idx="240">
                    <c:v>13000</c:v>
                  </c:pt>
                  <c:pt idx="241">
                    <c:v>13050</c:v>
                  </c:pt>
                  <c:pt idx="242">
                    <c:v>13100</c:v>
                  </c:pt>
                  <c:pt idx="243">
                    <c:v>13150</c:v>
                  </c:pt>
                  <c:pt idx="244">
                    <c:v>13200</c:v>
                  </c:pt>
                  <c:pt idx="245">
                    <c:v>13250</c:v>
                  </c:pt>
                  <c:pt idx="246">
                    <c:v>13300</c:v>
                  </c:pt>
                  <c:pt idx="247">
                    <c:v>13350</c:v>
                  </c:pt>
                  <c:pt idx="248">
                    <c:v>13400</c:v>
                  </c:pt>
                  <c:pt idx="249">
                    <c:v>13450</c:v>
                  </c:pt>
                  <c:pt idx="250">
                    <c:v>13500</c:v>
                  </c:pt>
                  <c:pt idx="251">
                    <c:v>13550</c:v>
                  </c:pt>
                  <c:pt idx="252">
                    <c:v>13600</c:v>
                  </c:pt>
                  <c:pt idx="253">
                    <c:v>13650</c:v>
                  </c:pt>
                  <c:pt idx="254">
                    <c:v>13700</c:v>
                  </c:pt>
                  <c:pt idx="255">
                    <c:v>13750</c:v>
                  </c:pt>
                  <c:pt idx="256">
                    <c:v>13800</c:v>
                  </c:pt>
                  <c:pt idx="257">
                    <c:v>13850</c:v>
                  </c:pt>
                  <c:pt idx="258">
                    <c:v>13900</c:v>
                  </c:pt>
                  <c:pt idx="259">
                    <c:v>13950</c:v>
                  </c:pt>
                  <c:pt idx="260">
                    <c:v>14000</c:v>
                  </c:pt>
                  <c:pt idx="261">
                    <c:v>14050</c:v>
                  </c:pt>
                  <c:pt idx="262">
                    <c:v>14100</c:v>
                  </c:pt>
                  <c:pt idx="263">
                    <c:v>14150</c:v>
                  </c:pt>
                  <c:pt idx="264">
                    <c:v>14200</c:v>
                  </c:pt>
                  <c:pt idx="265">
                    <c:v>14250</c:v>
                  </c:pt>
                  <c:pt idx="266">
                    <c:v>14300</c:v>
                  </c:pt>
                  <c:pt idx="267">
                    <c:v>14350</c:v>
                  </c:pt>
                  <c:pt idx="268">
                    <c:v>14400</c:v>
                  </c:pt>
                  <c:pt idx="269">
                    <c:v>14450</c:v>
                  </c:pt>
                  <c:pt idx="270">
                    <c:v>14500</c:v>
                  </c:pt>
                  <c:pt idx="271">
                    <c:v>14550</c:v>
                  </c:pt>
                  <c:pt idx="272">
                    <c:v>14600</c:v>
                  </c:pt>
                  <c:pt idx="273">
                    <c:v>14650</c:v>
                  </c:pt>
                  <c:pt idx="274">
                    <c:v>14700</c:v>
                  </c:pt>
                  <c:pt idx="275">
                    <c:v>14750</c:v>
                  </c:pt>
                  <c:pt idx="276">
                    <c:v>14800</c:v>
                  </c:pt>
                  <c:pt idx="277">
                    <c:v>14850</c:v>
                  </c:pt>
                  <c:pt idx="278">
                    <c:v>14900</c:v>
                  </c:pt>
                  <c:pt idx="279">
                    <c:v>14950</c:v>
                  </c:pt>
                  <c:pt idx="280">
                    <c:v>15000</c:v>
                  </c:pt>
                  <c:pt idx="281">
                    <c:v>15050</c:v>
                  </c:pt>
                  <c:pt idx="282">
                    <c:v>15100</c:v>
                  </c:pt>
                  <c:pt idx="283">
                    <c:v>15150</c:v>
                  </c:pt>
                  <c:pt idx="284">
                    <c:v>15200</c:v>
                  </c:pt>
                  <c:pt idx="285">
                    <c:v>15250</c:v>
                  </c:pt>
                  <c:pt idx="286">
                    <c:v>15300</c:v>
                  </c:pt>
                  <c:pt idx="287">
                    <c:v>15350</c:v>
                  </c:pt>
                  <c:pt idx="288">
                    <c:v>15400</c:v>
                  </c:pt>
                  <c:pt idx="289">
                    <c:v>15450</c:v>
                  </c:pt>
                  <c:pt idx="290">
                    <c:v>15500</c:v>
                  </c:pt>
                  <c:pt idx="291">
                    <c:v>15550</c:v>
                  </c:pt>
                  <c:pt idx="292">
                    <c:v>15600</c:v>
                  </c:pt>
                  <c:pt idx="293">
                    <c:v>15650</c:v>
                  </c:pt>
                  <c:pt idx="294">
                    <c:v>15700</c:v>
                  </c:pt>
                  <c:pt idx="295">
                    <c:v>15750</c:v>
                  </c:pt>
                  <c:pt idx="296">
                    <c:v>15800</c:v>
                  </c:pt>
                  <c:pt idx="297">
                    <c:v>15850</c:v>
                  </c:pt>
                  <c:pt idx="298">
                    <c:v>15900</c:v>
                  </c:pt>
                  <c:pt idx="299">
                    <c:v>15950</c:v>
                  </c:pt>
                  <c:pt idx="300">
                    <c:v>16000</c:v>
                  </c:pt>
                  <c:pt idx="301">
                    <c:v>16050</c:v>
                  </c:pt>
                  <c:pt idx="302">
                    <c:v>16100</c:v>
                  </c:pt>
                  <c:pt idx="303">
                    <c:v>16150</c:v>
                  </c:pt>
                  <c:pt idx="304">
                    <c:v>16200</c:v>
                  </c:pt>
                  <c:pt idx="305">
                    <c:v>16250</c:v>
                  </c:pt>
                  <c:pt idx="306">
                    <c:v>16300</c:v>
                  </c:pt>
                  <c:pt idx="307">
                    <c:v>16350</c:v>
                  </c:pt>
                  <c:pt idx="308">
                    <c:v>16400</c:v>
                  </c:pt>
                  <c:pt idx="309">
                    <c:v>16450</c:v>
                  </c:pt>
                  <c:pt idx="310">
                    <c:v>16500</c:v>
                  </c:pt>
                  <c:pt idx="311">
                    <c:v>16550</c:v>
                  </c:pt>
                  <c:pt idx="312">
                    <c:v>16600</c:v>
                  </c:pt>
                  <c:pt idx="313">
                    <c:v>16650</c:v>
                  </c:pt>
                  <c:pt idx="314">
                    <c:v>16700</c:v>
                  </c:pt>
                  <c:pt idx="315">
                    <c:v>16750</c:v>
                  </c:pt>
                  <c:pt idx="316">
                    <c:v>16800</c:v>
                  </c:pt>
                  <c:pt idx="317">
                    <c:v>16850</c:v>
                  </c:pt>
                  <c:pt idx="318">
                    <c:v>16900</c:v>
                  </c:pt>
                  <c:pt idx="319">
                    <c:v>16950</c:v>
                  </c:pt>
                  <c:pt idx="320">
                    <c:v>17000</c:v>
                  </c:pt>
                  <c:pt idx="321">
                    <c:v>17050</c:v>
                  </c:pt>
                  <c:pt idx="322">
                    <c:v>17100</c:v>
                  </c:pt>
                  <c:pt idx="323">
                    <c:v>17150</c:v>
                  </c:pt>
                  <c:pt idx="324">
                    <c:v>17200</c:v>
                  </c:pt>
                  <c:pt idx="325">
                    <c:v>17250</c:v>
                  </c:pt>
                  <c:pt idx="326">
                    <c:v>17300</c:v>
                  </c:pt>
                  <c:pt idx="327">
                    <c:v>17350</c:v>
                  </c:pt>
                  <c:pt idx="328">
                    <c:v>17400</c:v>
                  </c:pt>
                  <c:pt idx="329">
                    <c:v>17450</c:v>
                  </c:pt>
                  <c:pt idx="330">
                    <c:v>17500</c:v>
                  </c:pt>
                  <c:pt idx="331">
                    <c:v>17550</c:v>
                  </c:pt>
                  <c:pt idx="332">
                    <c:v>17600</c:v>
                  </c:pt>
                  <c:pt idx="333">
                    <c:v>17650</c:v>
                  </c:pt>
                  <c:pt idx="334">
                    <c:v>17700</c:v>
                  </c:pt>
                  <c:pt idx="335">
                    <c:v>17750</c:v>
                  </c:pt>
                  <c:pt idx="336">
                    <c:v>17800</c:v>
                  </c:pt>
                  <c:pt idx="337">
                    <c:v>17850</c:v>
                  </c:pt>
                  <c:pt idx="338">
                    <c:v>17900</c:v>
                  </c:pt>
                  <c:pt idx="339">
                    <c:v>17950</c:v>
                  </c:pt>
                  <c:pt idx="340">
                    <c:v>18000</c:v>
                  </c:pt>
                  <c:pt idx="341">
                    <c:v>18050</c:v>
                  </c:pt>
                  <c:pt idx="342">
                    <c:v>18100</c:v>
                  </c:pt>
                  <c:pt idx="343">
                    <c:v>18150</c:v>
                  </c:pt>
                  <c:pt idx="344">
                    <c:v>18200</c:v>
                  </c:pt>
                  <c:pt idx="345">
                    <c:v>18250</c:v>
                  </c:pt>
                  <c:pt idx="346">
                    <c:v>18300</c:v>
                  </c:pt>
                  <c:pt idx="347">
                    <c:v>18350</c:v>
                  </c:pt>
                  <c:pt idx="348">
                    <c:v>18400</c:v>
                  </c:pt>
                  <c:pt idx="349">
                    <c:v>18450</c:v>
                  </c:pt>
                  <c:pt idx="350">
                    <c:v>18500</c:v>
                  </c:pt>
                  <c:pt idx="351">
                    <c:v>18550</c:v>
                  </c:pt>
                  <c:pt idx="352">
                    <c:v>18600</c:v>
                  </c:pt>
                  <c:pt idx="353">
                    <c:v>18650</c:v>
                  </c:pt>
                  <c:pt idx="354">
                    <c:v>18700</c:v>
                  </c:pt>
                  <c:pt idx="355">
                    <c:v>18750</c:v>
                  </c:pt>
                  <c:pt idx="356">
                    <c:v>18800</c:v>
                  </c:pt>
                  <c:pt idx="357">
                    <c:v>18850</c:v>
                  </c:pt>
                  <c:pt idx="358">
                    <c:v>18900</c:v>
                  </c:pt>
                  <c:pt idx="359">
                    <c:v>18950</c:v>
                  </c:pt>
                  <c:pt idx="360">
                    <c:v>19000</c:v>
                  </c:pt>
                  <c:pt idx="361">
                    <c:v>19050</c:v>
                  </c:pt>
                  <c:pt idx="362">
                    <c:v>19100</c:v>
                  </c:pt>
                  <c:pt idx="363">
                    <c:v>19150</c:v>
                  </c:pt>
                  <c:pt idx="364">
                    <c:v>19200</c:v>
                  </c:pt>
                  <c:pt idx="365">
                    <c:v>19250</c:v>
                  </c:pt>
                  <c:pt idx="366">
                    <c:v>19300</c:v>
                  </c:pt>
                  <c:pt idx="367">
                    <c:v>19350</c:v>
                  </c:pt>
                  <c:pt idx="368">
                    <c:v>19400</c:v>
                  </c:pt>
                  <c:pt idx="369">
                    <c:v>19450</c:v>
                  </c:pt>
                  <c:pt idx="370">
                    <c:v>19500</c:v>
                  </c:pt>
                  <c:pt idx="371">
                    <c:v>19550</c:v>
                  </c:pt>
                  <c:pt idx="372">
                    <c:v>19600</c:v>
                  </c:pt>
                  <c:pt idx="373">
                    <c:v>19650</c:v>
                  </c:pt>
                  <c:pt idx="374">
                    <c:v>19700</c:v>
                  </c:pt>
                  <c:pt idx="375">
                    <c:v>19750</c:v>
                  </c:pt>
                  <c:pt idx="376">
                    <c:v>19800</c:v>
                  </c:pt>
                  <c:pt idx="377">
                    <c:v>19850</c:v>
                  </c:pt>
                  <c:pt idx="378">
                    <c:v>19900</c:v>
                  </c:pt>
                  <c:pt idx="379">
                    <c:v>19950</c:v>
                  </c:pt>
                </c:lvl>
              </c:multiLvlStrCache>
            </c:multiLvlStrRef>
          </c:cat>
          <c:val>
            <c:numRef>
              <c:f>Sheet1!$D$2:$D$381</c:f>
              <c:numCache>
                <c:formatCode>General</c:formatCode>
                <c:ptCount val="380"/>
                <c:pt idx="0">
                  <c:v/>
                </c:pt>
                <c:pt idx="1">
                  <c:v/>
                </c:pt>
                <c:pt idx="2">
                  <c:v/>
                </c:pt>
                <c:pt idx="3">
                  <c:v/>
                </c:pt>
                <c:pt idx="4">
                  <c:v/>
                </c:pt>
                <c:pt idx="5">
                  <c:v/>
                </c:pt>
                <c:pt idx="6">
                  <c:v>0.9667</c:v>
                </c:pt>
                <c:pt idx="7">
                  <c:v>0.9467</c:v>
                </c:pt>
                <c:pt idx="8">
                  <c:v>0.95</c:v>
                </c:pt>
                <c:pt idx="9">
                  <c:v>0.9433</c:v>
                </c:pt>
                <c:pt idx="10">
                  <c:v>0.9467</c:v>
                </c:pt>
                <c:pt idx="11">
                  <c:v>0.9367</c:v>
                </c:pt>
                <c:pt idx="12">
                  <c:v>0.9367</c:v>
                </c:pt>
                <c:pt idx="13">
                  <c:v>0.9467</c:v>
                </c:pt>
                <c:pt idx="14">
                  <c:v>0.9433</c:v>
                </c:pt>
                <c:pt idx="15">
                  <c:v>0.9367</c:v>
                </c:pt>
                <c:pt idx="16">
                  <c:v>0.94</c:v>
                </c:pt>
                <c:pt idx="17">
                  <c:v>0.9467</c:v>
                </c:pt>
                <c:pt idx="18">
                  <c:v>0.9467</c:v>
                </c:pt>
                <c:pt idx="19">
                  <c:v>0.95</c:v>
                </c:pt>
                <c:pt idx="20">
                  <c:v>0.95</c:v>
                </c:pt>
                <c:pt idx="21">
                  <c:v>0.9567</c:v>
                </c:pt>
                <c:pt idx="22">
                  <c:v>0.9467</c:v>
                </c:pt>
                <c:pt idx="23">
                  <c:v>0.9467</c:v>
                </c:pt>
                <c:pt idx="24">
                  <c:v>0.94</c:v>
                </c:pt>
                <c:pt idx="25">
                  <c:v>0.9467</c:v>
                </c:pt>
                <c:pt idx="26">
                  <c:v>0.95</c:v>
                </c:pt>
                <c:pt idx="27">
                  <c:v>0.9533</c:v>
                </c:pt>
                <c:pt idx="28">
                  <c:v>0.9633</c:v>
                </c:pt>
                <c:pt idx="29">
                  <c:v>0.9633</c:v>
                </c:pt>
                <c:pt idx="30">
                  <c:v>0.93</c:v>
                </c:pt>
                <c:pt idx="31">
                  <c:v>0.9</c:v>
                </c:pt>
                <c:pt idx="32">
                  <c:v>0.8767</c:v>
                </c:pt>
                <c:pt idx="33">
                  <c:v>0.8567</c:v>
                </c:pt>
                <c:pt idx="34">
                  <c:v>0.84</c:v>
                </c:pt>
                <c:pt idx="35">
                  <c:v>0.8233</c:v>
                </c:pt>
                <c:pt idx="36">
                  <c:v>0.8467</c:v>
                </c:pt>
                <c:pt idx="37">
                  <c:v>0.8367</c:v>
                </c:pt>
                <c:pt idx="38">
                  <c:v>0.8367</c:v>
                </c:pt>
                <c:pt idx="39">
                  <c:v>0.83</c:v>
                </c:pt>
                <c:pt idx="40">
                  <c:v>0.81</c:v>
                </c:pt>
                <c:pt idx="41">
                  <c:v>0.8133</c:v>
                </c:pt>
                <c:pt idx="42">
                  <c:v>0.7933</c:v>
                </c:pt>
                <c:pt idx="43">
                  <c:v>0.82</c:v>
                </c:pt>
                <c:pt idx="44">
                  <c:v>0.8267</c:v>
                </c:pt>
                <c:pt idx="45">
                  <c:v>0.8367</c:v>
                </c:pt>
                <c:pt idx="46">
                  <c:v>0.8667</c:v>
                </c:pt>
                <c:pt idx="47">
                  <c:v>0.8567</c:v>
                </c:pt>
                <c:pt idx="48">
                  <c:v>0.8767</c:v>
                </c:pt>
                <c:pt idx="49">
                  <c:v>0.8633</c:v>
                </c:pt>
                <c:pt idx="50">
                  <c:v>0.8633</c:v>
                </c:pt>
                <c:pt idx="51">
                  <c:v>0.8667</c:v>
                </c:pt>
                <c:pt idx="52">
                  <c:v>0.87</c:v>
                </c:pt>
                <c:pt idx="53">
                  <c:v>0.8833</c:v>
                </c:pt>
                <c:pt idx="54">
                  <c:v>0.8833</c:v>
                </c:pt>
                <c:pt idx="55">
                  <c:v>0.9</c:v>
                </c:pt>
                <c:pt idx="56">
                  <c:v>0.8933</c:v>
                </c:pt>
                <c:pt idx="57">
                  <c:v>0.8967</c:v>
                </c:pt>
                <c:pt idx="58">
                  <c:v>0.89</c:v>
                </c:pt>
                <c:pt idx="59">
                  <c:v>0.8933</c:v>
                </c:pt>
                <c:pt idx="60">
                  <c:v>0.8967</c:v>
                </c:pt>
                <c:pt idx="61">
                  <c:v>0.8933</c:v>
                </c:pt>
                <c:pt idx="62">
                  <c:v>0.9133</c:v>
                </c:pt>
                <c:pt idx="63">
                  <c:v>0.9167</c:v>
                </c:pt>
                <c:pt idx="64">
                  <c:v>0.9167</c:v>
                </c:pt>
                <c:pt idx="65">
                  <c:v>0.9133</c:v>
                </c:pt>
                <c:pt idx="66">
                  <c:v>0.91</c:v>
                </c:pt>
                <c:pt idx="67">
                  <c:v>0.9</c:v>
                </c:pt>
                <c:pt idx="68">
                  <c:v>0.88</c:v>
                </c:pt>
                <c:pt idx="69">
                  <c:v>0.8633</c:v>
                </c:pt>
                <c:pt idx="70">
                  <c:v>0.85</c:v>
                </c:pt>
                <c:pt idx="71">
                  <c:v>0.85</c:v>
                </c:pt>
                <c:pt idx="72">
                  <c:v>0.85</c:v>
                </c:pt>
                <c:pt idx="73">
                  <c:v>0.8433</c:v>
                </c:pt>
                <c:pt idx="74">
                  <c:v>0.8467</c:v>
                </c:pt>
                <c:pt idx="75">
                  <c:v>0.8633</c:v>
                </c:pt>
                <c:pt idx="76">
                  <c:v>0.8733</c:v>
                </c:pt>
                <c:pt idx="77">
                  <c:v>0.8733</c:v>
                </c:pt>
                <c:pt idx="78">
                  <c:v>0.8667</c:v>
                </c:pt>
                <c:pt idx="79">
                  <c:v>0.8767</c:v>
                </c:pt>
                <c:pt idx="80">
                  <c:v>0.8867</c:v>
                </c:pt>
                <c:pt idx="81">
                  <c:v>0.8067</c:v>
                </c:pt>
                <c:pt idx="82">
                  <c:v>0.74</c:v>
                </c:pt>
                <c:pt idx="83">
                  <c:v>0.6767</c:v>
                </c:pt>
                <c:pt idx="84">
                  <c:v>0.6333</c:v>
                </c:pt>
                <c:pt idx="85">
                  <c:v>0.5667</c:v>
                </c:pt>
                <c:pt idx="86">
                  <c:v>0.5167</c:v>
                </c:pt>
                <c:pt idx="87">
                  <c:v>0.56</c:v>
                </c:pt>
                <c:pt idx="88">
                  <c:v>0.6</c:v>
                </c:pt>
                <c:pt idx="89">
                  <c:v>0.6233</c:v>
                </c:pt>
                <c:pt idx="90">
                  <c:v>0.6233</c:v>
                </c:pt>
                <c:pt idx="91">
                  <c:v>0.6567</c:v>
                </c:pt>
                <c:pt idx="92">
                  <c:v>0.6833</c:v>
                </c:pt>
                <c:pt idx="93">
                  <c:v>0.6933</c:v>
                </c:pt>
                <c:pt idx="94">
                  <c:v>0.7</c:v>
                </c:pt>
                <c:pt idx="95">
                  <c:v>0.73</c:v>
                </c:pt>
                <c:pt idx="96">
                  <c:v>0.7633</c:v>
                </c:pt>
                <c:pt idx="97">
                  <c:v>0.77</c:v>
                </c:pt>
                <c:pt idx="98">
                  <c:v>0.77</c:v>
                </c:pt>
                <c:pt idx="99">
                  <c:v>0.7933</c:v>
                </c:pt>
                <c:pt idx="100">
                  <c:v>0.8033</c:v>
                </c:pt>
                <c:pt idx="101">
                  <c:v>0.7933</c:v>
                </c:pt>
                <c:pt idx="102">
                  <c:v>0.8033</c:v>
                </c:pt>
                <c:pt idx="103">
                  <c:v>0.8133</c:v>
                </c:pt>
                <c:pt idx="104">
                  <c:v>0.8167</c:v>
                </c:pt>
                <c:pt idx="105">
                  <c:v>0.81</c:v>
                </c:pt>
                <c:pt idx="106">
                  <c:v>0.8</c:v>
                </c:pt>
                <c:pt idx="107">
                  <c:v>0.82</c:v>
                </c:pt>
                <c:pt idx="108">
                  <c:v>0.81</c:v>
                </c:pt>
                <c:pt idx="109">
                  <c:v>0.8133</c:v>
                </c:pt>
                <c:pt idx="110">
                  <c:v>0.82</c:v>
                </c:pt>
                <c:pt idx="111">
                  <c:v>0.83</c:v>
                </c:pt>
                <c:pt idx="112">
                  <c:v>0.8267</c:v>
                </c:pt>
                <c:pt idx="113">
                  <c:v>0.82</c:v>
                </c:pt>
                <c:pt idx="114">
                  <c:v>0.8467</c:v>
                </c:pt>
                <c:pt idx="115">
                  <c:v>0.86</c:v>
                </c:pt>
                <c:pt idx="116">
                  <c:v>0.8467</c:v>
                </c:pt>
                <c:pt idx="117">
                  <c:v>0.8233</c:v>
                </c:pt>
                <c:pt idx="118">
                  <c:v>0.8433</c:v>
                </c:pt>
                <c:pt idx="119">
                  <c:v>0.85</c:v>
                </c:pt>
                <c:pt idx="120">
                  <c:v>0.8333</c:v>
                </c:pt>
                <c:pt idx="121">
                  <c:v>0.8267</c:v>
                </c:pt>
                <c:pt idx="122">
                  <c:v>0.8467</c:v>
                </c:pt>
                <c:pt idx="123">
                  <c:v>0.87</c:v>
                </c:pt>
                <c:pt idx="124">
                  <c:v>0.8733</c:v>
                </c:pt>
                <c:pt idx="125">
                  <c:v>0.8667</c:v>
                </c:pt>
                <c:pt idx="126">
                  <c:v>0.8567</c:v>
                </c:pt>
                <c:pt idx="127">
                  <c:v>0.8667</c:v>
                </c:pt>
                <c:pt idx="128">
                  <c:v>0.8667</c:v>
                </c:pt>
                <c:pt idx="129">
                  <c:v>0.8567</c:v>
                </c:pt>
                <c:pt idx="130">
                  <c:v>0.8667</c:v>
                </c:pt>
                <c:pt idx="131">
                  <c:v>0.8667</c:v>
                </c:pt>
                <c:pt idx="132">
                  <c:v>0.8767</c:v>
                </c:pt>
                <c:pt idx="133">
                  <c:v>0.8733</c:v>
                </c:pt>
                <c:pt idx="134">
                  <c:v>0.87</c:v>
                </c:pt>
                <c:pt idx="135">
                  <c:v>0.8767</c:v>
                </c:pt>
                <c:pt idx="136">
                  <c:v>0.8533</c:v>
                </c:pt>
                <c:pt idx="137">
                  <c:v>0.86</c:v>
                </c:pt>
                <c:pt idx="138">
                  <c:v>0.8567</c:v>
                </c:pt>
                <c:pt idx="139">
                  <c:v>0.8567</c:v>
                </c:pt>
                <c:pt idx="140">
                  <c:v>0.8733</c:v>
                </c:pt>
                <c:pt idx="141">
                  <c:v>0.87</c:v>
                </c:pt>
                <c:pt idx="142">
                  <c:v>0.89</c:v>
                </c:pt>
                <c:pt idx="143">
                  <c:v>0.88</c:v>
                </c:pt>
                <c:pt idx="144">
                  <c:v>0.9</c:v>
                </c:pt>
                <c:pt idx="145">
                  <c:v>0.8833</c:v>
                </c:pt>
                <c:pt idx="146">
                  <c:v>0.88</c:v>
                </c:pt>
                <c:pt idx="147">
                  <c:v>0.8833</c:v>
                </c:pt>
                <c:pt idx="148">
                  <c:v>0.8567</c:v>
                </c:pt>
                <c:pt idx="149">
                  <c:v>0.86</c:v>
                </c:pt>
                <c:pt idx="150">
                  <c:v>0.8567</c:v>
                </c:pt>
                <c:pt idx="151">
                  <c:v>0.8767</c:v>
                </c:pt>
                <c:pt idx="152">
                  <c:v>0.87</c:v>
                </c:pt>
                <c:pt idx="153">
                  <c:v>0.8767</c:v>
                </c:pt>
                <c:pt idx="154">
                  <c:v>0.9033</c:v>
                </c:pt>
                <c:pt idx="155">
                  <c:v>0.91</c:v>
                </c:pt>
                <c:pt idx="156">
                  <c:v>0.9</c:v>
                </c:pt>
                <c:pt idx="157">
                  <c:v>0.8933</c:v>
                </c:pt>
                <c:pt idx="158">
                  <c:v>0.8933</c:v>
                </c:pt>
                <c:pt idx="159">
                  <c:v>0.88</c:v>
                </c:pt>
                <c:pt idx="160">
                  <c:v>0.89</c:v>
                </c:pt>
                <c:pt idx="161">
                  <c:v>0.8833</c:v>
                </c:pt>
                <c:pt idx="162">
                  <c:v>0.8967</c:v>
                </c:pt>
                <c:pt idx="163">
                  <c:v>0.9</c:v>
                </c:pt>
                <c:pt idx="164">
                  <c:v>0.89</c:v>
                </c:pt>
                <c:pt idx="165">
                  <c:v>0.9</c:v>
                </c:pt>
                <c:pt idx="166">
                  <c:v>0.8933</c:v>
                </c:pt>
                <c:pt idx="167">
                  <c:v>0.9067</c:v>
                </c:pt>
                <c:pt idx="168">
                  <c:v>0.9033</c:v>
                </c:pt>
                <c:pt idx="169">
                  <c:v>0.9</c:v>
                </c:pt>
                <c:pt idx="170">
                  <c:v>0.9167</c:v>
                </c:pt>
                <c:pt idx="171">
                  <c:v>0.93</c:v>
                </c:pt>
                <c:pt idx="172">
                  <c:v>0.9267</c:v>
                </c:pt>
                <c:pt idx="173">
                  <c:v>0.9333</c:v>
                </c:pt>
                <c:pt idx="174">
                  <c:v>0.94</c:v>
                </c:pt>
                <c:pt idx="175">
                  <c:v>0.94</c:v>
                </c:pt>
                <c:pt idx="176">
                  <c:v>0.95</c:v>
                </c:pt>
                <c:pt idx="177">
                  <c:v>0.9367</c:v>
                </c:pt>
                <c:pt idx="178">
                  <c:v>0.94</c:v>
                </c:pt>
                <c:pt idx="179">
                  <c:v>0.9333</c:v>
                </c:pt>
                <c:pt idx="180">
                  <c:v>0.9067</c:v>
                </c:pt>
                <c:pt idx="181">
                  <c:v>0.8367</c:v>
                </c:pt>
                <c:pt idx="182">
                  <c:v>0.7267</c:v>
                </c:pt>
                <c:pt idx="183">
                  <c:v>0.66</c:v>
                </c:pt>
                <c:pt idx="184">
                  <c:v>0.6</c:v>
                </c:pt>
                <c:pt idx="185">
                  <c:v>0.5467</c:v>
                </c:pt>
                <c:pt idx="186">
                  <c:v>0.5267</c:v>
                </c:pt>
                <c:pt idx="187">
                  <c:v>0.5967</c:v>
                </c:pt>
                <c:pt idx="188">
                  <c:v>0.69</c:v>
                </c:pt>
                <c:pt idx="189">
                  <c:v>0.7533</c:v>
                </c:pt>
                <c:pt idx="190">
                  <c:v>0.81</c:v>
                </c:pt>
                <c:pt idx="191">
                  <c:v>0.8533</c:v>
                </c:pt>
                <c:pt idx="192">
                  <c:v>0.89</c:v>
                </c:pt>
                <c:pt idx="193">
                  <c:v>0.8667</c:v>
                </c:pt>
                <c:pt idx="194">
                  <c:v>0.8467</c:v>
                </c:pt>
                <c:pt idx="195">
                  <c:v>0.8433</c:v>
                </c:pt>
                <c:pt idx="196">
                  <c:v>0.8367</c:v>
                </c:pt>
                <c:pt idx="197">
                  <c:v>0.8467</c:v>
                </c:pt>
                <c:pt idx="198">
                  <c:v>0.8533</c:v>
                </c:pt>
                <c:pt idx="199">
                  <c:v>0.87</c:v>
                </c:pt>
                <c:pt idx="200">
                  <c:v>0.8833</c:v>
                </c:pt>
                <c:pt idx="201">
                  <c:v>0.9</c:v>
                </c:pt>
                <c:pt idx="202">
                  <c:v>0.8967</c:v>
                </c:pt>
                <c:pt idx="203">
                  <c:v>0.88</c:v>
                </c:pt>
                <c:pt idx="204">
                  <c:v>0.8833</c:v>
                </c:pt>
                <c:pt idx="205">
                  <c:v>0.87</c:v>
                </c:pt>
                <c:pt idx="206">
                  <c:v>0.87</c:v>
                </c:pt>
                <c:pt idx="207">
                  <c:v>0.8667</c:v>
                </c:pt>
                <c:pt idx="208">
                  <c:v>0.87</c:v>
                </c:pt>
                <c:pt idx="209">
                  <c:v>0.8833</c:v>
                </c:pt>
                <c:pt idx="210">
                  <c:v>0.8767</c:v>
                </c:pt>
                <c:pt idx="211">
                  <c:v>0.8967</c:v>
                </c:pt>
                <c:pt idx="212">
                  <c:v>0.91</c:v>
                </c:pt>
                <c:pt idx="213">
                  <c:v>0.9033</c:v>
                </c:pt>
                <c:pt idx="214">
                  <c:v>0.9133</c:v>
                </c:pt>
                <c:pt idx="215">
                  <c:v>0.9133</c:v>
                </c:pt>
                <c:pt idx="216">
                  <c:v>0.91</c:v>
                </c:pt>
                <c:pt idx="217">
                  <c:v>0.9033</c:v>
                </c:pt>
                <c:pt idx="218">
                  <c:v>0.89</c:v>
                </c:pt>
                <c:pt idx="219">
                  <c:v>0.8967</c:v>
                </c:pt>
                <c:pt idx="220">
                  <c:v>0.89</c:v>
                </c:pt>
                <c:pt idx="221">
                  <c:v>0.8833</c:v>
                </c:pt>
                <c:pt idx="222">
                  <c:v>0.8933</c:v>
                </c:pt>
                <c:pt idx="223">
                  <c:v>0.8967</c:v>
                </c:pt>
                <c:pt idx="224">
                  <c:v>0.8967</c:v>
                </c:pt>
                <c:pt idx="225">
                  <c:v>0.89</c:v>
                </c:pt>
                <c:pt idx="226">
                  <c:v>0.8933</c:v>
                </c:pt>
                <c:pt idx="227">
                  <c:v>0.9067</c:v>
                </c:pt>
                <c:pt idx="228">
                  <c:v>0.8933</c:v>
                </c:pt>
                <c:pt idx="229">
                  <c:v>0.9033</c:v>
                </c:pt>
                <c:pt idx="230">
                  <c:v>0.9033</c:v>
                </c:pt>
                <c:pt idx="231">
                  <c:v>0.9</c:v>
                </c:pt>
                <c:pt idx="232">
                  <c:v>0.9033</c:v>
                </c:pt>
                <c:pt idx="233">
                  <c:v>0.9</c:v>
                </c:pt>
                <c:pt idx="234">
                  <c:v>0.9067</c:v>
                </c:pt>
                <c:pt idx="235">
                  <c:v>0.9</c:v>
                </c:pt>
                <c:pt idx="236">
                  <c:v>0.9067</c:v>
                </c:pt>
                <c:pt idx="237">
                  <c:v>0.91</c:v>
                </c:pt>
                <c:pt idx="238">
                  <c:v>0.9067</c:v>
                </c:pt>
                <c:pt idx="239">
                  <c:v>0.9033</c:v>
                </c:pt>
                <c:pt idx="240">
                  <c:v>0.9033</c:v>
                </c:pt>
                <c:pt idx="241">
                  <c:v>0.9067</c:v>
                </c:pt>
                <c:pt idx="242">
                  <c:v>0.8967</c:v>
                </c:pt>
                <c:pt idx="243">
                  <c:v>0.9033</c:v>
                </c:pt>
                <c:pt idx="244">
                  <c:v>0.9033</c:v>
                </c:pt>
                <c:pt idx="245">
                  <c:v>0.9033</c:v>
                </c:pt>
                <c:pt idx="246">
                  <c:v>0.91</c:v>
                </c:pt>
                <c:pt idx="247">
                  <c:v>0.9167</c:v>
                </c:pt>
                <c:pt idx="248">
                  <c:v>0.93</c:v>
                </c:pt>
                <c:pt idx="249">
                  <c:v>0.9267</c:v>
                </c:pt>
                <c:pt idx="250">
                  <c:v>0.9233</c:v>
                </c:pt>
                <c:pt idx="251">
                  <c:v>0.93</c:v>
                </c:pt>
                <c:pt idx="252">
                  <c:v>0.92</c:v>
                </c:pt>
                <c:pt idx="253">
                  <c:v>0.93</c:v>
                </c:pt>
                <c:pt idx="254">
                  <c:v>0.93</c:v>
                </c:pt>
                <c:pt idx="255">
                  <c:v>0.93</c:v>
                </c:pt>
                <c:pt idx="256">
                  <c:v>0.9267</c:v>
                </c:pt>
                <c:pt idx="257">
                  <c:v>0.91</c:v>
                </c:pt>
                <c:pt idx="258">
                  <c:v>0.9167</c:v>
                </c:pt>
                <c:pt idx="259">
                  <c:v>0.91</c:v>
                </c:pt>
                <c:pt idx="260">
                  <c:v>0.9167</c:v>
                </c:pt>
                <c:pt idx="261">
                  <c:v>0.9133</c:v>
                </c:pt>
                <c:pt idx="262">
                  <c:v>0.9067</c:v>
                </c:pt>
                <c:pt idx="263">
                  <c:v>0.9267</c:v>
                </c:pt>
                <c:pt idx="264">
                  <c:v>0.9233</c:v>
                </c:pt>
                <c:pt idx="265">
                  <c:v>0.9267</c:v>
                </c:pt>
                <c:pt idx="266">
                  <c:v>0.9167</c:v>
                </c:pt>
                <c:pt idx="267">
                  <c:v>0.91</c:v>
                </c:pt>
                <c:pt idx="268">
                  <c:v>0.9133</c:v>
                </c:pt>
                <c:pt idx="269">
                  <c:v>0.9067</c:v>
                </c:pt>
                <c:pt idx="270">
                  <c:v>0.9067</c:v>
                </c:pt>
                <c:pt idx="271">
                  <c:v>0.8967</c:v>
                </c:pt>
                <c:pt idx="272">
                  <c:v>0.9033</c:v>
                </c:pt>
                <c:pt idx="273">
                  <c:v>0.92</c:v>
                </c:pt>
                <c:pt idx="274">
                  <c:v>0.9433</c:v>
                </c:pt>
                <c:pt idx="275">
                  <c:v>0.9233</c:v>
                </c:pt>
                <c:pt idx="276">
                  <c:v>0.9133</c:v>
                </c:pt>
                <c:pt idx="277">
                  <c:v>0.8967</c:v>
                </c:pt>
                <c:pt idx="278">
                  <c:v>0.8867</c:v>
                </c:pt>
                <c:pt idx="279">
                  <c:v>0.8567</c:v>
                </c:pt>
                <c:pt idx="280">
                  <c:v>0.83</c:v>
                </c:pt>
                <c:pt idx="281">
                  <c:v>0.83</c:v>
                </c:pt>
                <c:pt idx="282">
                  <c:v>0.8267</c:v>
                </c:pt>
                <c:pt idx="283">
                  <c:v>0.8367</c:v>
                </c:pt>
                <c:pt idx="284">
                  <c:v>0.83</c:v>
                </c:pt>
                <c:pt idx="285">
                  <c:v>0.83</c:v>
                </c:pt>
                <c:pt idx="286">
                  <c:v>0.8</c:v>
                </c:pt>
                <c:pt idx="287">
                  <c:v>0.7967</c:v>
                </c:pt>
                <c:pt idx="288">
                  <c:v>0.7867</c:v>
                </c:pt>
                <c:pt idx="289">
                  <c:v>0.7633</c:v>
                </c:pt>
                <c:pt idx="290">
                  <c:v>0.74</c:v>
                </c:pt>
                <c:pt idx="291">
                  <c:v>0.7367</c:v>
                </c:pt>
                <c:pt idx="292">
                  <c:v>0.7567</c:v>
                </c:pt>
                <c:pt idx="293">
                  <c:v>0.76</c:v>
                </c:pt>
                <c:pt idx="294">
                  <c:v>0.74</c:v>
                </c:pt>
                <c:pt idx="295">
                  <c:v>0.76</c:v>
                </c:pt>
                <c:pt idx="296">
                  <c:v>0.7467</c:v>
                </c:pt>
                <c:pt idx="297">
                  <c:v>0.7433</c:v>
                </c:pt>
                <c:pt idx="298">
                  <c:v>0.74</c:v>
                </c:pt>
                <c:pt idx="299">
                  <c:v>0.7433</c:v>
                </c:pt>
                <c:pt idx="300">
                  <c:v>0.7533</c:v>
                </c:pt>
                <c:pt idx="301">
                  <c:v>0.7467</c:v>
                </c:pt>
                <c:pt idx="302">
                  <c:v>0.7667</c:v>
                </c:pt>
                <c:pt idx="303">
                  <c:v>0.7933</c:v>
                </c:pt>
                <c:pt idx="304">
                  <c:v>0.8133</c:v>
                </c:pt>
                <c:pt idx="305">
                  <c:v>0.7967</c:v>
                </c:pt>
                <c:pt idx="306">
                  <c:v>0.7833</c:v>
                </c:pt>
                <c:pt idx="307">
                  <c:v>0.7733</c:v>
                </c:pt>
                <c:pt idx="308">
                  <c:v>0.7767</c:v>
                </c:pt>
                <c:pt idx="309">
                  <c:v>0.76</c:v>
                </c:pt>
                <c:pt idx="310">
                  <c:v>0.7233</c:v>
                </c:pt>
                <c:pt idx="311">
                  <c:v>0.7433</c:v>
                </c:pt>
                <c:pt idx="312">
                  <c:v>0.78</c:v>
                </c:pt>
                <c:pt idx="313">
                  <c:v>0.7833</c:v>
                </c:pt>
                <c:pt idx="314">
                  <c:v>0.79</c:v>
                </c:pt>
                <c:pt idx="315">
                  <c:v>0.7933</c:v>
                </c:pt>
                <c:pt idx="316">
                  <c:v>0.83</c:v>
                </c:pt>
                <c:pt idx="317">
                  <c:v>0.8333</c:v>
                </c:pt>
                <c:pt idx="318">
                  <c:v>0.8467</c:v>
                </c:pt>
                <c:pt idx="319">
                  <c:v>0.86</c:v>
                </c:pt>
                <c:pt idx="320">
                  <c:v>0.8633</c:v>
                </c:pt>
                <c:pt idx="321">
                  <c:v>0.86</c:v>
                </c:pt>
                <c:pt idx="322">
                  <c:v>0.86</c:v>
                </c:pt>
                <c:pt idx="323">
                  <c:v>0.8467</c:v>
                </c:pt>
                <c:pt idx="324">
                  <c:v>0.8367</c:v>
                </c:pt>
                <c:pt idx="325">
                  <c:v>0.83</c:v>
                </c:pt>
                <c:pt idx="326">
                  <c:v>0.8367</c:v>
                </c:pt>
                <c:pt idx="327">
                  <c:v>0.8533</c:v>
                </c:pt>
                <c:pt idx="328">
                  <c:v>0.8467</c:v>
                </c:pt>
                <c:pt idx="329">
                  <c:v>0.8567</c:v>
                </c:pt>
                <c:pt idx="330">
                  <c:v>0.8533</c:v>
                </c:pt>
                <c:pt idx="331">
                  <c:v>0.87</c:v>
                </c:pt>
                <c:pt idx="332">
                  <c:v>0.88</c:v>
                </c:pt>
                <c:pt idx="333">
                  <c:v>0.88</c:v>
                </c:pt>
                <c:pt idx="334">
                  <c:v>0.9</c:v>
                </c:pt>
                <c:pt idx="335">
                  <c:v>0.9033</c:v>
                </c:pt>
                <c:pt idx="336">
                  <c:v>0.9</c:v>
                </c:pt>
                <c:pt idx="337">
                  <c:v>0.9033</c:v>
                </c:pt>
                <c:pt idx="338">
                  <c:v>0.8967</c:v>
                </c:pt>
                <c:pt idx="339">
                  <c:v>0.9033</c:v>
                </c:pt>
                <c:pt idx="340">
                  <c:v>0.88</c:v>
                </c:pt>
                <c:pt idx="341">
                  <c:v>0.8833</c:v>
                </c:pt>
                <c:pt idx="342">
                  <c:v>0.89</c:v>
                </c:pt>
                <c:pt idx="343">
                  <c:v>0.8833</c:v>
                </c:pt>
                <c:pt idx="344">
                  <c:v>0.8933</c:v>
                </c:pt>
                <c:pt idx="345">
                  <c:v>0.89</c:v>
                </c:pt>
                <c:pt idx="346">
                  <c:v>0.89</c:v>
                </c:pt>
                <c:pt idx="347">
                  <c:v>0.8833</c:v>
                </c:pt>
                <c:pt idx="348">
                  <c:v>0.8867</c:v>
                </c:pt>
                <c:pt idx="349">
                  <c:v>0.89</c:v>
                </c:pt>
                <c:pt idx="350">
                  <c:v>0.8933</c:v>
                </c:pt>
                <c:pt idx="351">
                  <c:v>0.8933</c:v>
                </c:pt>
                <c:pt idx="352">
                  <c:v>0.9067</c:v>
                </c:pt>
                <c:pt idx="353">
                  <c:v>0.9267</c:v>
                </c:pt>
                <c:pt idx="354">
                  <c:v>0.92</c:v>
                </c:pt>
                <c:pt idx="355">
                  <c:v>0.9067</c:v>
                </c:pt>
                <c:pt idx="356">
                  <c:v>0.8967</c:v>
                </c:pt>
                <c:pt idx="357">
                  <c:v>0.88</c:v>
                </c:pt>
                <c:pt idx="358">
                  <c:v>0.8767</c:v>
                </c:pt>
                <c:pt idx="359">
                  <c:v>0.87</c:v>
                </c:pt>
                <c:pt idx="360">
                  <c:v>0.88</c:v>
                </c:pt>
                <c:pt idx="361">
                  <c:v>0.8967</c:v>
                </c:pt>
                <c:pt idx="362">
                  <c:v>0.8933</c:v>
                </c:pt>
                <c:pt idx="363">
                  <c:v>0.9067</c:v>
                </c:pt>
                <c:pt idx="364">
                  <c:v>0.91</c:v>
                </c:pt>
                <c:pt idx="365">
                  <c:v>0.9067</c:v>
                </c:pt>
                <c:pt idx="366">
                  <c:v>0.9133</c:v>
                </c:pt>
                <c:pt idx="367">
                  <c:v>0.91</c:v>
                </c:pt>
                <c:pt idx="368">
                  <c:v>0.9133</c:v>
                </c:pt>
                <c:pt idx="369">
                  <c:v>0.91</c:v>
                </c:pt>
                <c:pt idx="370">
                  <c:v>0.91</c:v>
                </c:pt>
                <c:pt idx="371">
                  <c:v>0.9</c:v>
                </c:pt>
                <c:pt idx="372">
                  <c:v>0.88</c:v>
                </c:pt>
                <c:pt idx="373">
                  <c:v>0.89</c:v>
                </c:pt>
                <c:pt idx="374">
                  <c:v>0.8867</c:v>
                </c:pt>
                <c:pt idx="375">
                  <c:v>0.89</c:v>
                </c:pt>
                <c:pt idx="376">
                  <c:v>0.8967</c:v>
                </c:pt>
                <c:pt idx="377">
                  <c:v>0.9033</c:v>
                </c:pt>
                <c:pt idx="378">
                  <c:v>0.9233</c:v>
                </c:pt>
                <c:pt idx="379">
                  <c:v>0.9067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3"/>
        </c:scaling>
        <c:delete val="0"/>
        <c:axPos val="l"/>
        <c:majorGridlines>
          <c:spPr>
            <a:ln w="6350" cap="flat">
              <a:solidFill>
                <a:srgbClr val="DDE2E6"/>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majorUnit val="0.1"/>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18"/>
          <c:w val="0.9"/>
          <c:h val="0.72"/>
        </c:manualLayout>
      </c:layout>
      <c:lineChart>
        <c:varyColors val="0"/>
        <c:ser>
          <c:idx val="0"/>
          <c:order val="0"/>
          <c:tx>
            <c:strRef>
              <c:f>Sheet1!$B$1</c:f>
              <c:strCache>
                <c:ptCount val="1"/>
                <c:pt idx="0">
                  <c:v>Two-sided hybrid</c:v>
                </c:pt>
              </c:strCache>
            </c:strRef>
          </c:tx>
          <c:spPr>
            <a:solidFill>
              <a:srgbClr val="2A78D6"/>
            </a:solidFill>
            <a:ln w="190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Sheet1!$A$2:$A$198</c:f>
              <c:multiLvlStrCache>
                <c:ptCount val="197"/>
                <c:lvl>
                  <c:pt idx="0">
                    <c:v>300</c:v>
                  </c:pt>
                  <c:pt idx="1">
                    <c:v>400</c:v>
                  </c:pt>
                  <c:pt idx="2">
                    <c:v>500</c:v>
                  </c:pt>
                  <c:pt idx="3">
                    <c:v>600</c:v>
                  </c:pt>
                  <c:pt idx="4">
                    <c:v>700</c:v>
                  </c:pt>
                  <c:pt idx="5">
                    <c:v>800</c:v>
                  </c:pt>
                  <c:pt idx="6">
                    <c:v>900</c:v>
                  </c:pt>
                  <c:pt idx="7">
                    <c:v>1000</c:v>
                  </c:pt>
                  <c:pt idx="8">
                    <c:v>1100</c:v>
                  </c:pt>
                  <c:pt idx="9">
                    <c:v>1200</c:v>
                  </c:pt>
                  <c:pt idx="10">
                    <c:v>1300</c:v>
                  </c:pt>
                  <c:pt idx="11">
                    <c:v>1400</c:v>
                  </c:pt>
                  <c:pt idx="12">
                    <c:v>1500</c:v>
                  </c:pt>
                  <c:pt idx="13">
                    <c:v>1600</c:v>
                  </c:pt>
                  <c:pt idx="14">
                    <c:v>1700</c:v>
                  </c:pt>
                  <c:pt idx="15">
                    <c:v>1800</c:v>
                  </c:pt>
                  <c:pt idx="16">
                    <c:v>1900</c:v>
                  </c:pt>
                  <c:pt idx="17">
                    <c:v>2000</c:v>
                  </c:pt>
                  <c:pt idx="18">
                    <c:v>2100</c:v>
                  </c:pt>
                  <c:pt idx="19">
                    <c:v>2200</c:v>
                  </c:pt>
                  <c:pt idx="20">
                    <c:v>2300</c:v>
                  </c:pt>
                  <c:pt idx="21">
                    <c:v>2400</c:v>
                  </c:pt>
                  <c:pt idx="22">
                    <c:v>2500</c:v>
                  </c:pt>
                  <c:pt idx="23">
                    <c:v>2600</c:v>
                  </c:pt>
                  <c:pt idx="24">
                    <c:v>2700</c:v>
                  </c:pt>
                  <c:pt idx="25">
                    <c:v>2800</c:v>
                  </c:pt>
                  <c:pt idx="26">
                    <c:v>2900</c:v>
                  </c:pt>
                  <c:pt idx="27">
                    <c:v>3000</c:v>
                  </c:pt>
                  <c:pt idx="28">
                    <c:v>3100</c:v>
                  </c:pt>
                  <c:pt idx="29">
                    <c:v>3200</c:v>
                  </c:pt>
                  <c:pt idx="30">
                    <c:v>3300</c:v>
                  </c:pt>
                  <c:pt idx="31">
                    <c:v>3400</c:v>
                  </c:pt>
                  <c:pt idx="32">
                    <c:v>3500</c:v>
                  </c:pt>
                  <c:pt idx="33">
                    <c:v>3600</c:v>
                  </c:pt>
                  <c:pt idx="34">
                    <c:v>3700</c:v>
                  </c:pt>
                  <c:pt idx="35">
                    <c:v>3800</c:v>
                  </c:pt>
                  <c:pt idx="36">
                    <c:v>3900</c:v>
                  </c:pt>
                  <c:pt idx="37">
                    <c:v>4000</c:v>
                  </c:pt>
                  <c:pt idx="38">
                    <c:v>4100</c:v>
                  </c:pt>
                  <c:pt idx="39">
                    <c:v>4200</c:v>
                  </c:pt>
                  <c:pt idx="40">
                    <c:v>4300</c:v>
                  </c:pt>
                  <c:pt idx="41">
                    <c:v>4400</c:v>
                  </c:pt>
                  <c:pt idx="42">
                    <c:v>4500</c:v>
                  </c:pt>
                  <c:pt idx="43">
                    <c:v>4600</c:v>
                  </c:pt>
                  <c:pt idx="44">
                    <c:v>4700</c:v>
                  </c:pt>
                  <c:pt idx="45">
                    <c:v>4800</c:v>
                  </c:pt>
                  <c:pt idx="46">
                    <c:v>4900</c:v>
                  </c:pt>
                  <c:pt idx="47">
                    <c:v>5000</c:v>
                  </c:pt>
                  <c:pt idx="48">
                    <c:v>5100</c:v>
                  </c:pt>
                  <c:pt idx="49">
                    <c:v>5200</c:v>
                  </c:pt>
                  <c:pt idx="50">
                    <c:v>5300</c:v>
                  </c:pt>
                  <c:pt idx="51">
                    <c:v>5400</c:v>
                  </c:pt>
                  <c:pt idx="52">
                    <c:v>5500</c:v>
                  </c:pt>
                  <c:pt idx="53">
                    <c:v>5600</c:v>
                  </c:pt>
                  <c:pt idx="54">
                    <c:v>5700</c:v>
                  </c:pt>
                  <c:pt idx="55">
                    <c:v>5800</c:v>
                  </c:pt>
                  <c:pt idx="56">
                    <c:v>5900</c:v>
                  </c:pt>
                  <c:pt idx="57">
                    <c:v>6000</c:v>
                  </c:pt>
                  <c:pt idx="58">
                    <c:v>6100</c:v>
                  </c:pt>
                  <c:pt idx="59">
                    <c:v>6200</c:v>
                  </c:pt>
                  <c:pt idx="60">
                    <c:v>6300</c:v>
                  </c:pt>
                  <c:pt idx="61">
                    <c:v>6400</c:v>
                  </c:pt>
                  <c:pt idx="62">
                    <c:v>6500</c:v>
                  </c:pt>
                  <c:pt idx="63">
                    <c:v>6600</c:v>
                  </c:pt>
                  <c:pt idx="64">
                    <c:v>6700</c:v>
                  </c:pt>
                  <c:pt idx="65">
                    <c:v>6800</c:v>
                  </c:pt>
                  <c:pt idx="66">
                    <c:v>6900</c:v>
                  </c:pt>
                  <c:pt idx="67">
                    <c:v>7000</c:v>
                  </c:pt>
                  <c:pt idx="68">
                    <c:v>7100</c:v>
                  </c:pt>
                  <c:pt idx="69">
                    <c:v>7200</c:v>
                  </c:pt>
                  <c:pt idx="70">
                    <c:v>7300</c:v>
                  </c:pt>
                  <c:pt idx="71">
                    <c:v>7400</c:v>
                  </c:pt>
                  <c:pt idx="72">
                    <c:v>7500</c:v>
                  </c:pt>
                  <c:pt idx="73">
                    <c:v>7600</c:v>
                  </c:pt>
                  <c:pt idx="74">
                    <c:v>7700</c:v>
                  </c:pt>
                  <c:pt idx="75">
                    <c:v>7800</c:v>
                  </c:pt>
                  <c:pt idx="76">
                    <c:v>7900</c:v>
                  </c:pt>
                  <c:pt idx="77">
                    <c:v>8000</c:v>
                  </c:pt>
                  <c:pt idx="78">
                    <c:v>8100</c:v>
                  </c:pt>
                  <c:pt idx="79">
                    <c:v>8200</c:v>
                  </c:pt>
                  <c:pt idx="80">
                    <c:v>8300</c:v>
                  </c:pt>
                  <c:pt idx="81">
                    <c:v>8400</c:v>
                  </c:pt>
                  <c:pt idx="82">
                    <c:v>8500</c:v>
                  </c:pt>
                  <c:pt idx="83">
                    <c:v>8600</c:v>
                  </c:pt>
                  <c:pt idx="84">
                    <c:v>8700</c:v>
                  </c:pt>
                  <c:pt idx="85">
                    <c:v>8800</c:v>
                  </c:pt>
                  <c:pt idx="86">
                    <c:v>8900</c:v>
                  </c:pt>
                  <c:pt idx="87">
                    <c:v>9000</c:v>
                  </c:pt>
                  <c:pt idx="88">
                    <c:v>9100</c:v>
                  </c:pt>
                  <c:pt idx="89">
                    <c:v>9200</c:v>
                  </c:pt>
                  <c:pt idx="90">
                    <c:v>9300</c:v>
                  </c:pt>
                  <c:pt idx="91">
                    <c:v>9400</c:v>
                  </c:pt>
                  <c:pt idx="92">
                    <c:v>9500</c:v>
                  </c:pt>
                  <c:pt idx="93">
                    <c:v>9600</c:v>
                  </c:pt>
                  <c:pt idx="94">
                    <c:v>9700</c:v>
                  </c:pt>
                  <c:pt idx="95">
                    <c:v>9800</c:v>
                  </c:pt>
                  <c:pt idx="96">
                    <c:v>9900</c:v>
                  </c:pt>
                  <c:pt idx="97">
                    <c:v>10000</c:v>
                  </c:pt>
                  <c:pt idx="98">
                    <c:v>10100</c:v>
                  </c:pt>
                  <c:pt idx="99">
                    <c:v>10200</c:v>
                  </c:pt>
                  <c:pt idx="100">
                    <c:v>10300</c:v>
                  </c:pt>
                  <c:pt idx="101">
                    <c:v>10400</c:v>
                  </c:pt>
                  <c:pt idx="102">
                    <c:v>10500</c:v>
                  </c:pt>
                  <c:pt idx="103">
                    <c:v>10600</c:v>
                  </c:pt>
                  <c:pt idx="104">
                    <c:v>10700</c:v>
                  </c:pt>
                  <c:pt idx="105">
                    <c:v>10800</c:v>
                  </c:pt>
                  <c:pt idx="106">
                    <c:v>10900</c:v>
                  </c:pt>
                  <c:pt idx="107">
                    <c:v>11000</c:v>
                  </c:pt>
                  <c:pt idx="108">
                    <c:v>11100</c:v>
                  </c:pt>
                  <c:pt idx="109">
                    <c:v>11200</c:v>
                  </c:pt>
                  <c:pt idx="110">
                    <c:v>11300</c:v>
                  </c:pt>
                  <c:pt idx="111">
                    <c:v>11400</c:v>
                  </c:pt>
                  <c:pt idx="112">
                    <c:v>11500</c:v>
                  </c:pt>
                  <c:pt idx="113">
                    <c:v>11600</c:v>
                  </c:pt>
                  <c:pt idx="114">
                    <c:v>11700</c:v>
                  </c:pt>
                  <c:pt idx="115">
                    <c:v>11800</c:v>
                  </c:pt>
                  <c:pt idx="116">
                    <c:v>11900</c:v>
                  </c:pt>
                  <c:pt idx="117">
                    <c:v>12000</c:v>
                  </c:pt>
                  <c:pt idx="118">
                    <c:v>12100</c:v>
                  </c:pt>
                  <c:pt idx="119">
                    <c:v>12200</c:v>
                  </c:pt>
                  <c:pt idx="120">
                    <c:v>12300</c:v>
                  </c:pt>
                  <c:pt idx="121">
                    <c:v>12400</c:v>
                  </c:pt>
                  <c:pt idx="122">
                    <c:v>12500</c:v>
                  </c:pt>
                  <c:pt idx="123">
                    <c:v>12600</c:v>
                  </c:pt>
                  <c:pt idx="124">
                    <c:v>12700</c:v>
                  </c:pt>
                  <c:pt idx="125">
                    <c:v>12800</c:v>
                  </c:pt>
                  <c:pt idx="126">
                    <c:v>12900</c:v>
                  </c:pt>
                  <c:pt idx="127">
                    <c:v>13000</c:v>
                  </c:pt>
                  <c:pt idx="128">
                    <c:v>13100</c:v>
                  </c:pt>
                  <c:pt idx="129">
                    <c:v>13200</c:v>
                  </c:pt>
                  <c:pt idx="130">
                    <c:v>13300</c:v>
                  </c:pt>
                  <c:pt idx="131">
                    <c:v>13400</c:v>
                  </c:pt>
                  <c:pt idx="132">
                    <c:v>13500</c:v>
                  </c:pt>
                  <c:pt idx="133">
                    <c:v>13600</c:v>
                  </c:pt>
                  <c:pt idx="134">
                    <c:v>13700</c:v>
                  </c:pt>
                  <c:pt idx="135">
                    <c:v>13800</c:v>
                  </c:pt>
                  <c:pt idx="136">
                    <c:v>13900</c:v>
                  </c:pt>
                  <c:pt idx="137">
                    <c:v>14000</c:v>
                  </c:pt>
                  <c:pt idx="138">
                    <c:v>14100</c:v>
                  </c:pt>
                  <c:pt idx="139">
                    <c:v>14200</c:v>
                  </c:pt>
                  <c:pt idx="140">
                    <c:v>14300</c:v>
                  </c:pt>
                  <c:pt idx="141">
                    <c:v>14400</c:v>
                  </c:pt>
                  <c:pt idx="142">
                    <c:v>14500</c:v>
                  </c:pt>
                  <c:pt idx="143">
                    <c:v>14600</c:v>
                  </c:pt>
                  <c:pt idx="144">
                    <c:v>14700</c:v>
                  </c:pt>
                  <c:pt idx="145">
                    <c:v>14800</c:v>
                  </c:pt>
                  <c:pt idx="146">
                    <c:v>14900</c:v>
                  </c:pt>
                  <c:pt idx="147">
                    <c:v>15000</c:v>
                  </c:pt>
                  <c:pt idx="148">
                    <c:v>15100</c:v>
                  </c:pt>
                  <c:pt idx="149">
                    <c:v>15200</c:v>
                  </c:pt>
                  <c:pt idx="150">
                    <c:v>15300</c:v>
                  </c:pt>
                  <c:pt idx="151">
                    <c:v>15400</c:v>
                  </c:pt>
                  <c:pt idx="152">
                    <c:v>15500</c:v>
                  </c:pt>
                  <c:pt idx="153">
                    <c:v>15600</c:v>
                  </c:pt>
                  <c:pt idx="154">
                    <c:v>15700</c:v>
                  </c:pt>
                  <c:pt idx="155">
                    <c:v>15800</c:v>
                  </c:pt>
                  <c:pt idx="156">
                    <c:v>15900</c:v>
                  </c:pt>
                  <c:pt idx="157">
                    <c:v>16000</c:v>
                  </c:pt>
                  <c:pt idx="158">
                    <c:v>16100</c:v>
                  </c:pt>
                  <c:pt idx="159">
                    <c:v>16200</c:v>
                  </c:pt>
                  <c:pt idx="160">
                    <c:v>16300</c:v>
                  </c:pt>
                  <c:pt idx="161">
                    <c:v>16400</c:v>
                  </c:pt>
                  <c:pt idx="162">
                    <c:v>16500</c:v>
                  </c:pt>
                  <c:pt idx="163">
                    <c:v>16600</c:v>
                  </c:pt>
                  <c:pt idx="164">
                    <c:v>16700</c:v>
                  </c:pt>
                  <c:pt idx="165">
                    <c:v>16800</c:v>
                  </c:pt>
                  <c:pt idx="166">
                    <c:v>16900</c:v>
                  </c:pt>
                  <c:pt idx="167">
                    <c:v>17000</c:v>
                  </c:pt>
                  <c:pt idx="168">
                    <c:v>17100</c:v>
                  </c:pt>
                  <c:pt idx="169">
                    <c:v>17200</c:v>
                  </c:pt>
                  <c:pt idx="170">
                    <c:v>17300</c:v>
                  </c:pt>
                  <c:pt idx="171">
                    <c:v>17400</c:v>
                  </c:pt>
                  <c:pt idx="172">
                    <c:v>17500</c:v>
                  </c:pt>
                  <c:pt idx="173">
                    <c:v>17600</c:v>
                  </c:pt>
                  <c:pt idx="174">
                    <c:v>17700</c:v>
                  </c:pt>
                  <c:pt idx="175">
                    <c:v>17800</c:v>
                  </c:pt>
                  <c:pt idx="176">
                    <c:v>17900</c:v>
                  </c:pt>
                  <c:pt idx="177">
                    <c:v>18000</c:v>
                  </c:pt>
                  <c:pt idx="178">
                    <c:v>18100</c:v>
                  </c:pt>
                  <c:pt idx="179">
                    <c:v>18200</c:v>
                  </c:pt>
                  <c:pt idx="180">
                    <c:v>18300</c:v>
                  </c:pt>
                  <c:pt idx="181">
                    <c:v>18400</c:v>
                  </c:pt>
                  <c:pt idx="182">
                    <c:v>18500</c:v>
                  </c:pt>
                  <c:pt idx="183">
                    <c:v>18600</c:v>
                  </c:pt>
                  <c:pt idx="184">
                    <c:v>18700</c:v>
                  </c:pt>
                  <c:pt idx="185">
                    <c:v>18800</c:v>
                  </c:pt>
                  <c:pt idx="186">
                    <c:v>18900</c:v>
                  </c:pt>
                  <c:pt idx="187">
                    <c:v>19000</c:v>
                  </c:pt>
                  <c:pt idx="188">
                    <c:v>19100</c:v>
                  </c:pt>
                  <c:pt idx="189">
                    <c:v>19200</c:v>
                  </c:pt>
                  <c:pt idx="190">
                    <c:v>19300</c:v>
                  </c:pt>
                  <c:pt idx="191">
                    <c:v>19400</c:v>
                  </c:pt>
                  <c:pt idx="192">
                    <c:v>19500</c:v>
                  </c:pt>
                  <c:pt idx="193">
                    <c:v>19600</c:v>
                  </c:pt>
                  <c:pt idx="194">
                    <c:v>19700</c:v>
                  </c:pt>
                  <c:pt idx="195">
                    <c:v>19800</c:v>
                  </c:pt>
                  <c:pt idx="196">
                    <c:v>19900</c:v>
                  </c:pt>
                </c:lvl>
              </c:multiLvlStrCache>
            </c:multiLvlStrRef>
          </c:cat>
          <c:val>
            <c:numRef>
              <c:f>Sheet1!$B$2:$B$198</c:f>
              <c:numCache>
                <c:formatCode>General</c:formatCode>
                <c:ptCount val="197"/>
                <c:pt idx="0">
                  <c:v>0.1894</c:v>
                </c:pt>
                <c:pt idx="1">
                  <c:v>0.1471</c:v>
                </c:pt>
                <c:pt idx="2">
                  <c:v>0.136</c:v>
                </c:pt>
                <c:pt idx="3">
                  <c:v>0.078</c:v>
                </c:pt>
                <c:pt idx="4">
                  <c:v>0.076</c:v>
                </c:pt>
                <c:pt idx="5">
                  <c:v>0.066</c:v>
                </c:pt>
                <c:pt idx="6">
                  <c:v>0.078</c:v>
                </c:pt>
                <c:pt idx="7">
                  <c:v>0.066</c:v>
                </c:pt>
                <c:pt idx="8">
                  <c:v>0.062</c:v>
                </c:pt>
                <c:pt idx="9">
                  <c:v>0.054</c:v>
                </c:pt>
                <c:pt idx="10">
                  <c:v>0.044</c:v>
                </c:pt>
                <c:pt idx="11">
                  <c:v>0.038</c:v>
                </c:pt>
                <c:pt idx="12">
                  <c:v>0.044</c:v>
                </c:pt>
                <c:pt idx="13">
                  <c:v>0.048</c:v>
                </c:pt>
                <c:pt idx="14">
                  <c:v>0.046</c:v>
                </c:pt>
                <c:pt idx="15">
                  <c:v>0.052</c:v>
                </c:pt>
                <c:pt idx="16">
                  <c:v>0.046</c:v>
                </c:pt>
                <c:pt idx="17">
                  <c:v>0.044</c:v>
                </c:pt>
                <c:pt idx="18">
                  <c:v>0.054</c:v>
                </c:pt>
                <c:pt idx="19">
                  <c:v>0.052</c:v>
                </c:pt>
                <c:pt idx="20">
                  <c:v>0.048</c:v>
                </c:pt>
                <c:pt idx="21">
                  <c:v>0.052</c:v>
                </c:pt>
                <c:pt idx="22">
                  <c:v>0.06</c:v>
                </c:pt>
                <c:pt idx="23">
                  <c:v>0.084</c:v>
                </c:pt>
                <c:pt idx="24">
                  <c:v>0.104</c:v>
                </c:pt>
                <c:pt idx="25">
                  <c:v>0.126</c:v>
                </c:pt>
                <c:pt idx="26">
                  <c:v>0.138</c:v>
                </c:pt>
                <c:pt idx="27">
                  <c:v>0.146</c:v>
                </c:pt>
                <c:pt idx="28">
                  <c:v>0.126</c:v>
                </c:pt>
                <c:pt idx="29">
                  <c:v>0.114</c:v>
                </c:pt>
                <c:pt idx="30">
                  <c:v>0.102</c:v>
                </c:pt>
                <c:pt idx="31">
                  <c:v>0.104</c:v>
                </c:pt>
                <c:pt idx="32">
                  <c:v>0.092</c:v>
                </c:pt>
                <c:pt idx="33">
                  <c:v>0.088</c:v>
                </c:pt>
                <c:pt idx="34">
                  <c:v>0.086</c:v>
                </c:pt>
                <c:pt idx="35">
                  <c:v>0.088</c:v>
                </c:pt>
                <c:pt idx="36">
                  <c:v>0.078</c:v>
                </c:pt>
                <c:pt idx="37">
                  <c:v>0.076</c:v>
                </c:pt>
                <c:pt idx="38">
                  <c:v>0.066</c:v>
                </c:pt>
                <c:pt idx="39">
                  <c:v>0.06</c:v>
                </c:pt>
                <c:pt idx="40">
                  <c:v>0.052</c:v>
                </c:pt>
                <c:pt idx="41">
                  <c:v>0.044</c:v>
                </c:pt>
                <c:pt idx="42">
                  <c:v>0.046</c:v>
                </c:pt>
                <c:pt idx="43">
                  <c:v>0.052</c:v>
                </c:pt>
                <c:pt idx="44">
                  <c:v>0.052</c:v>
                </c:pt>
                <c:pt idx="45">
                  <c:v>0.05</c:v>
                </c:pt>
                <c:pt idx="46">
                  <c:v>0.054</c:v>
                </c:pt>
                <c:pt idx="47">
                  <c:v>0.052</c:v>
                </c:pt>
                <c:pt idx="48">
                  <c:v>0.098</c:v>
                </c:pt>
                <c:pt idx="49">
                  <c:v>0.11</c:v>
                </c:pt>
                <c:pt idx="50">
                  <c:v>0.122</c:v>
                </c:pt>
                <c:pt idx="51">
                  <c:v>0.126</c:v>
                </c:pt>
                <c:pt idx="52">
                  <c:v>0.124</c:v>
                </c:pt>
                <c:pt idx="53">
                  <c:v>0.08</c:v>
                </c:pt>
                <c:pt idx="54">
                  <c:v>0.072</c:v>
                </c:pt>
                <c:pt idx="55">
                  <c:v>0.062</c:v>
                </c:pt>
                <c:pt idx="56">
                  <c:v>0.074</c:v>
                </c:pt>
                <c:pt idx="57">
                  <c:v>0.09</c:v>
                </c:pt>
                <c:pt idx="58">
                  <c:v>0.1</c:v>
                </c:pt>
                <c:pt idx="59">
                  <c:v>0.116</c:v>
                </c:pt>
                <c:pt idx="60">
                  <c:v>0.138</c:v>
                </c:pt>
                <c:pt idx="61">
                  <c:v>0.134</c:v>
                </c:pt>
                <c:pt idx="62">
                  <c:v>0.13</c:v>
                </c:pt>
                <c:pt idx="63">
                  <c:v>0.136</c:v>
                </c:pt>
                <c:pt idx="64">
                  <c:v>0.134</c:v>
                </c:pt>
                <c:pt idx="65">
                  <c:v>0.13</c:v>
                </c:pt>
                <c:pt idx="66">
                  <c:v>0.14</c:v>
                </c:pt>
                <c:pt idx="67">
                  <c:v>0.138</c:v>
                </c:pt>
                <c:pt idx="68">
                  <c:v>0.114</c:v>
                </c:pt>
                <c:pt idx="69">
                  <c:v>0.106</c:v>
                </c:pt>
                <c:pt idx="70">
                  <c:v>0.098</c:v>
                </c:pt>
                <c:pt idx="71">
                  <c:v>0.092</c:v>
                </c:pt>
                <c:pt idx="72">
                  <c:v>0.086</c:v>
                </c:pt>
                <c:pt idx="73">
                  <c:v>0.088</c:v>
                </c:pt>
                <c:pt idx="74">
                  <c:v>0.088</c:v>
                </c:pt>
                <c:pt idx="75">
                  <c:v>0.096</c:v>
                </c:pt>
                <c:pt idx="76">
                  <c:v>0.086</c:v>
                </c:pt>
                <c:pt idx="77">
                  <c:v>0.076</c:v>
                </c:pt>
                <c:pt idx="78">
                  <c:v>0.084</c:v>
                </c:pt>
                <c:pt idx="79">
                  <c:v>0.084</c:v>
                </c:pt>
                <c:pt idx="80">
                  <c:v>0.068</c:v>
                </c:pt>
                <c:pt idx="81">
                  <c:v>0.076</c:v>
                </c:pt>
                <c:pt idx="82">
                  <c:v>0.09</c:v>
                </c:pt>
                <c:pt idx="83">
                  <c:v>0.098</c:v>
                </c:pt>
                <c:pt idx="84">
                  <c:v>0.098</c:v>
                </c:pt>
                <c:pt idx="85">
                  <c:v>0.1</c:v>
                </c:pt>
                <c:pt idx="86">
                  <c:v>0.104</c:v>
                </c:pt>
                <c:pt idx="87">
                  <c:v>0.102</c:v>
                </c:pt>
                <c:pt idx="88">
                  <c:v>0.088</c:v>
                </c:pt>
                <c:pt idx="89">
                  <c:v>0.1</c:v>
                </c:pt>
                <c:pt idx="90">
                  <c:v>0.108</c:v>
                </c:pt>
                <c:pt idx="91">
                  <c:v>0.09</c:v>
                </c:pt>
                <c:pt idx="92">
                  <c:v>0.09</c:v>
                </c:pt>
                <c:pt idx="93">
                  <c:v>0.098</c:v>
                </c:pt>
                <c:pt idx="94">
                  <c:v>0.082</c:v>
                </c:pt>
                <c:pt idx="95">
                  <c:v>0.078</c:v>
                </c:pt>
                <c:pt idx="96">
                  <c:v>0.086</c:v>
                </c:pt>
                <c:pt idx="97">
                  <c:v>0.074</c:v>
                </c:pt>
                <c:pt idx="98">
                  <c:v>0.108</c:v>
                </c:pt>
                <c:pt idx="99">
                  <c:v>0.122</c:v>
                </c:pt>
                <c:pt idx="100">
                  <c:v>0.132</c:v>
                </c:pt>
                <c:pt idx="101">
                  <c:v>0.134</c:v>
                </c:pt>
                <c:pt idx="102">
                  <c:v>0.162</c:v>
                </c:pt>
                <c:pt idx="103">
                  <c:v>0.158</c:v>
                </c:pt>
                <c:pt idx="104">
                  <c:v>0.152</c:v>
                </c:pt>
                <c:pt idx="105">
                  <c:v>0.158</c:v>
                </c:pt>
                <c:pt idx="106">
                  <c:v>0.156</c:v>
                </c:pt>
                <c:pt idx="107">
                  <c:v>0.154</c:v>
                </c:pt>
                <c:pt idx="108">
                  <c:v>0.13</c:v>
                </c:pt>
                <c:pt idx="109">
                  <c:v>0.136</c:v>
                </c:pt>
                <c:pt idx="110">
                  <c:v>0.142</c:v>
                </c:pt>
                <c:pt idx="111">
                  <c:v>0.148</c:v>
                </c:pt>
                <c:pt idx="112">
                  <c:v>0.134</c:v>
                </c:pt>
                <c:pt idx="113">
                  <c:v>0.124</c:v>
                </c:pt>
                <c:pt idx="114">
                  <c:v>0.114</c:v>
                </c:pt>
                <c:pt idx="115">
                  <c:v>0.094</c:v>
                </c:pt>
                <c:pt idx="116">
                  <c:v>0.096</c:v>
                </c:pt>
                <c:pt idx="117">
                  <c:v>0.092</c:v>
                </c:pt>
                <c:pt idx="118">
                  <c:v>0.092</c:v>
                </c:pt>
                <c:pt idx="119">
                  <c:v>0.1</c:v>
                </c:pt>
                <c:pt idx="120">
                  <c:v>0.094</c:v>
                </c:pt>
                <c:pt idx="121">
                  <c:v>0.09</c:v>
                </c:pt>
                <c:pt idx="122">
                  <c:v>0.102</c:v>
                </c:pt>
                <c:pt idx="123">
                  <c:v>0.098</c:v>
                </c:pt>
                <c:pt idx="124">
                  <c:v>0.086</c:v>
                </c:pt>
                <c:pt idx="125">
                  <c:v>0.104</c:v>
                </c:pt>
                <c:pt idx="126">
                  <c:v>0.104</c:v>
                </c:pt>
                <c:pt idx="127">
                  <c:v>0.094</c:v>
                </c:pt>
                <c:pt idx="128">
                  <c:v>0.106</c:v>
                </c:pt>
                <c:pt idx="129">
                  <c:v>0.108</c:v>
                </c:pt>
                <c:pt idx="130">
                  <c:v>0.09</c:v>
                </c:pt>
                <c:pt idx="131">
                  <c:v>0.09</c:v>
                </c:pt>
                <c:pt idx="132">
                  <c:v>0.09</c:v>
                </c:pt>
                <c:pt idx="133">
                  <c:v>0.08</c:v>
                </c:pt>
                <c:pt idx="134">
                  <c:v>0.076</c:v>
                </c:pt>
                <c:pt idx="135">
                  <c:v>0.08</c:v>
                </c:pt>
                <c:pt idx="136">
                  <c:v>0.082</c:v>
                </c:pt>
                <c:pt idx="137">
                  <c:v>0.08</c:v>
                </c:pt>
                <c:pt idx="138">
                  <c:v>0.096</c:v>
                </c:pt>
                <c:pt idx="139">
                  <c:v>0.094</c:v>
                </c:pt>
                <c:pt idx="140">
                  <c:v>0.112</c:v>
                </c:pt>
                <c:pt idx="141">
                  <c:v>0.134</c:v>
                </c:pt>
                <c:pt idx="142">
                  <c:v>0.136</c:v>
                </c:pt>
                <c:pt idx="143">
                  <c:v>0.128</c:v>
                </c:pt>
                <c:pt idx="144">
                  <c:v>0.144</c:v>
                </c:pt>
                <c:pt idx="145">
                  <c:v>0.158</c:v>
                </c:pt>
                <c:pt idx="146">
                  <c:v>0.146</c:v>
                </c:pt>
                <c:pt idx="147">
                  <c:v>0.164</c:v>
                </c:pt>
                <c:pt idx="148">
                  <c:v>0.172</c:v>
                </c:pt>
                <c:pt idx="149">
                  <c:v>0.168</c:v>
                </c:pt>
                <c:pt idx="150">
                  <c:v>0.156</c:v>
                </c:pt>
                <c:pt idx="151">
                  <c:v>0.148</c:v>
                </c:pt>
                <c:pt idx="152">
                  <c:v>0.146</c:v>
                </c:pt>
                <c:pt idx="153">
                  <c:v>0.166</c:v>
                </c:pt>
                <c:pt idx="154">
                  <c:v>0.18</c:v>
                </c:pt>
                <c:pt idx="155">
                  <c:v>0.176</c:v>
                </c:pt>
                <c:pt idx="156">
                  <c:v>0.2</c:v>
                </c:pt>
                <c:pt idx="157">
                  <c:v>0.214</c:v>
                </c:pt>
                <c:pt idx="158">
                  <c:v>0.218</c:v>
                </c:pt>
                <c:pt idx="159">
                  <c:v>0.202</c:v>
                </c:pt>
                <c:pt idx="160">
                  <c:v>0.23</c:v>
                </c:pt>
                <c:pt idx="161">
                  <c:v>0.222</c:v>
                </c:pt>
                <c:pt idx="162">
                  <c:v>0.234</c:v>
                </c:pt>
                <c:pt idx="163">
                  <c:v>0.222</c:v>
                </c:pt>
                <c:pt idx="164">
                  <c:v>0.244</c:v>
                </c:pt>
                <c:pt idx="165">
                  <c:v>0.222</c:v>
                </c:pt>
                <c:pt idx="166">
                  <c:v>0.198</c:v>
                </c:pt>
                <c:pt idx="167">
                  <c:v>0.172</c:v>
                </c:pt>
                <c:pt idx="168">
                  <c:v>0.158</c:v>
                </c:pt>
                <c:pt idx="169">
                  <c:v>0.154</c:v>
                </c:pt>
                <c:pt idx="170">
                  <c:v>0.15</c:v>
                </c:pt>
                <c:pt idx="171">
                  <c:v>0.164</c:v>
                </c:pt>
                <c:pt idx="172">
                  <c:v>0.168</c:v>
                </c:pt>
                <c:pt idx="173">
                  <c:v>0.166</c:v>
                </c:pt>
                <c:pt idx="174">
                  <c:v>0.152</c:v>
                </c:pt>
                <c:pt idx="175">
                  <c:v>0.152</c:v>
                </c:pt>
                <c:pt idx="176">
                  <c:v>0.148</c:v>
                </c:pt>
                <c:pt idx="177">
                  <c:v>0.14</c:v>
                </c:pt>
                <c:pt idx="178">
                  <c:v>0.142</c:v>
                </c:pt>
                <c:pt idx="179">
                  <c:v>0.144</c:v>
                </c:pt>
                <c:pt idx="180">
                  <c:v>0.136</c:v>
                </c:pt>
                <c:pt idx="181">
                  <c:v>0.138</c:v>
                </c:pt>
                <c:pt idx="182">
                  <c:v>0.132</c:v>
                </c:pt>
                <c:pt idx="183">
                  <c:v>0.126</c:v>
                </c:pt>
                <c:pt idx="184">
                  <c:v>0.116</c:v>
                </c:pt>
                <c:pt idx="185">
                  <c:v>0.106</c:v>
                </c:pt>
                <c:pt idx="186">
                  <c:v>0.144</c:v>
                </c:pt>
                <c:pt idx="187">
                  <c:v>0.146</c:v>
                </c:pt>
                <c:pt idx="188">
                  <c:v>0.15</c:v>
                </c:pt>
                <c:pt idx="189">
                  <c:v>0.152</c:v>
                </c:pt>
                <c:pt idx="190">
                  <c:v>0.156</c:v>
                </c:pt>
                <c:pt idx="191">
                  <c:v>0.114</c:v>
                </c:pt>
                <c:pt idx="192">
                  <c:v>0.098</c:v>
                </c:pt>
                <c:pt idx="193">
                  <c:v>0.098</c:v>
                </c:pt>
                <c:pt idx="194">
                  <c:v>0.094</c:v>
                </c:pt>
                <c:pt idx="195">
                  <c:v>0.09</c:v>
                </c:pt>
                <c:pt idx="196">
                  <c:v>0.076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DDE2E6"/>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majorUnit val="0.1"/>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18"/>
          <c:w val="0.9"/>
          <c:h val="0.72"/>
        </c:manualLayout>
      </c:layout>
      <c:lineChart>
        <c:varyColors val="0"/>
        <c:ser>
          <c:idx val="0"/>
          <c:order val="0"/>
          <c:tx>
            <c:strRef>
              <c:f>Sheet1!$B$1</c:f>
              <c:strCache>
                <c:ptCount val="1"/>
                <c:pt idx="0">
                  <c:v>One-sided hybrid (ADWIN-up)</c:v>
                </c:pt>
              </c:strCache>
            </c:strRef>
          </c:tx>
          <c:spPr>
            <a:solidFill>
              <a:srgbClr val="184F95"/>
            </a:solidFill>
            <a:ln w="19050" cap="flat">
              <a:solidFill>
                <a:srgbClr val="184F9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84F95"/>
              </a:solidFill>
              <a:ln w="9525" cap="flat">
                <a:solidFill>
                  <a:srgbClr val="184F95"/>
                </a:solidFill>
                <a:prstDash val="solid"/>
                <a:round/>
              </a:ln>
              <a:effectLst/>
            </c:spPr>
          </c:marker>
          <c:cat>
            <c:multiLvlStrRef>
              <c:f>Sheet1!$A$2:$A$198</c:f>
              <c:multiLvlStrCache>
                <c:ptCount val="197"/>
                <c:lvl>
                  <c:pt idx="0">
                    <c:v>300</c:v>
                  </c:pt>
                  <c:pt idx="1">
                    <c:v>400</c:v>
                  </c:pt>
                  <c:pt idx="2">
                    <c:v>500</c:v>
                  </c:pt>
                  <c:pt idx="3">
                    <c:v>600</c:v>
                  </c:pt>
                  <c:pt idx="4">
                    <c:v>700</c:v>
                  </c:pt>
                  <c:pt idx="5">
                    <c:v>800</c:v>
                  </c:pt>
                  <c:pt idx="6">
                    <c:v>900</c:v>
                  </c:pt>
                  <c:pt idx="7">
                    <c:v>1000</c:v>
                  </c:pt>
                  <c:pt idx="8">
                    <c:v>1100</c:v>
                  </c:pt>
                  <c:pt idx="9">
                    <c:v>1200</c:v>
                  </c:pt>
                  <c:pt idx="10">
                    <c:v>1300</c:v>
                  </c:pt>
                  <c:pt idx="11">
                    <c:v>1400</c:v>
                  </c:pt>
                  <c:pt idx="12">
                    <c:v>1500</c:v>
                  </c:pt>
                  <c:pt idx="13">
                    <c:v>1600</c:v>
                  </c:pt>
                  <c:pt idx="14">
                    <c:v>1700</c:v>
                  </c:pt>
                  <c:pt idx="15">
                    <c:v>1800</c:v>
                  </c:pt>
                  <c:pt idx="16">
                    <c:v>1900</c:v>
                  </c:pt>
                  <c:pt idx="17">
                    <c:v>2000</c:v>
                  </c:pt>
                  <c:pt idx="18">
                    <c:v>2100</c:v>
                  </c:pt>
                  <c:pt idx="19">
                    <c:v>2200</c:v>
                  </c:pt>
                  <c:pt idx="20">
                    <c:v>2300</c:v>
                  </c:pt>
                  <c:pt idx="21">
                    <c:v>2400</c:v>
                  </c:pt>
                  <c:pt idx="22">
                    <c:v>2500</c:v>
                  </c:pt>
                  <c:pt idx="23">
                    <c:v>2600</c:v>
                  </c:pt>
                  <c:pt idx="24">
                    <c:v>2700</c:v>
                  </c:pt>
                  <c:pt idx="25">
                    <c:v>2800</c:v>
                  </c:pt>
                  <c:pt idx="26">
                    <c:v>2900</c:v>
                  </c:pt>
                  <c:pt idx="27">
                    <c:v>3000</c:v>
                  </c:pt>
                  <c:pt idx="28">
                    <c:v>3100</c:v>
                  </c:pt>
                  <c:pt idx="29">
                    <c:v>3200</c:v>
                  </c:pt>
                  <c:pt idx="30">
                    <c:v>3300</c:v>
                  </c:pt>
                  <c:pt idx="31">
                    <c:v>3400</c:v>
                  </c:pt>
                  <c:pt idx="32">
                    <c:v>3500</c:v>
                  </c:pt>
                  <c:pt idx="33">
                    <c:v>3600</c:v>
                  </c:pt>
                  <c:pt idx="34">
                    <c:v>3700</c:v>
                  </c:pt>
                  <c:pt idx="35">
                    <c:v>3800</c:v>
                  </c:pt>
                  <c:pt idx="36">
                    <c:v>3900</c:v>
                  </c:pt>
                  <c:pt idx="37">
                    <c:v>4000</c:v>
                  </c:pt>
                  <c:pt idx="38">
                    <c:v>4100</c:v>
                  </c:pt>
                  <c:pt idx="39">
                    <c:v>4200</c:v>
                  </c:pt>
                  <c:pt idx="40">
                    <c:v>4300</c:v>
                  </c:pt>
                  <c:pt idx="41">
                    <c:v>4400</c:v>
                  </c:pt>
                  <c:pt idx="42">
                    <c:v>4500</c:v>
                  </c:pt>
                  <c:pt idx="43">
                    <c:v>4600</c:v>
                  </c:pt>
                  <c:pt idx="44">
                    <c:v>4700</c:v>
                  </c:pt>
                  <c:pt idx="45">
                    <c:v>4800</c:v>
                  </c:pt>
                  <c:pt idx="46">
                    <c:v>4900</c:v>
                  </c:pt>
                  <c:pt idx="47">
                    <c:v>5000</c:v>
                  </c:pt>
                  <c:pt idx="48">
                    <c:v>5100</c:v>
                  </c:pt>
                  <c:pt idx="49">
                    <c:v>5200</c:v>
                  </c:pt>
                  <c:pt idx="50">
                    <c:v>5300</c:v>
                  </c:pt>
                  <c:pt idx="51">
                    <c:v>5400</c:v>
                  </c:pt>
                  <c:pt idx="52">
                    <c:v>5500</c:v>
                  </c:pt>
                  <c:pt idx="53">
                    <c:v>5600</c:v>
                  </c:pt>
                  <c:pt idx="54">
                    <c:v>5700</c:v>
                  </c:pt>
                  <c:pt idx="55">
                    <c:v>5800</c:v>
                  </c:pt>
                  <c:pt idx="56">
                    <c:v>5900</c:v>
                  </c:pt>
                  <c:pt idx="57">
                    <c:v>6000</c:v>
                  </c:pt>
                  <c:pt idx="58">
                    <c:v>6100</c:v>
                  </c:pt>
                  <c:pt idx="59">
                    <c:v>6200</c:v>
                  </c:pt>
                  <c:pt idx="60">
                    <c:v>6300</c:v>
                  </c:pt>
                  <c:pt idx="61">
                    <c:v>6400</c:v>
                  </c:pt>
                  <c:pt idx="62">
                    <c:v>6500</c:v>
                  </c:pt>
                  <c:pt idx="63">
                    <c:v>6600</c:v>
                  </c:pt>
                  <c:pt idx="64">
                    <c:v>6700</c:v>
                  </c:pt>
                  <c:pt idx="65">
                    <c:v>6800</c:v>
                  </c:pt>
                  <c:pt idx="66">
                    <c:v>6900</c:v>
                  </c:pt>
                  <c:pt idx="67">
                    <c:v>7000</c:v>
                  </c:pt>
                  <c:pt idx="68">
                    <c:v>7100</c:v>
                  </c:pt>
                  <c:pt idx="69">
                    <c:v>7200</c:v>
                  </c:pt>
                  <c:pt idx="70">
                    <c:v>7300</c:v>
                  </c:pt>
                  <c:pt idx="71">
                    <c:v>7400</c:v>
                  </c:pt>
                  <c:pt idx="72">
                    <c:v>7500</c:v>
                  </c:pt>
                  <c:pt idx="73">
                    <c:v>7600</c:v>
                  </c:pt>
                  <c:pt idx="74">
                    <c:v>7700</c:v>
                  </c:pt>
                  <c:pt idx="75">
                    <c:v>7800</c:v>
                  </c:pt>
                  <c:pt idx="76">
                    <c:v>7900</c:v>
                  </c:pt>
                  <c:pt idx="77">
                    <c:v>8000</c:v>
                  </c:pt>
                  <c:pt idx="78">
                    <c:v>8100</c:v>
                  </c:pt>
                  <c:pt idx="79">
                    <c:v>8200</c:v>
                  </c:pt>
                  <c:pt idx="80">
                    <c:v>8300</c:v>
                  </c:pt>
                  <c:pt idx="81">
                    <c:v>8400</c:v>
                  </c:pt>
                  <c:pt idx="82">
                    <c:v>8500</c:v>
                  </c:pt>
                  <c:pt idx="83">
                    <c:v>8600</c:v>
                  </c:pt>
                  <c:pt idx="84">
                    <c:v>8700</c:v>
                  </c:pt>
                  <c:pt idx="85">
                    <c:v>8800</c:v>
                  </c:pt>
                  <c:pt idx="86">
                    <c:v>8900</c:v>
                  </c:pt>
                  <c:pt idx="87">
                    <c:v>9000</c:v>
                  </c:pt>
                  <c:pt idx="88">
                    <c:v>9100</c:v>
                  </c:pt>
                  <c:pt idx="89">
                    <c:v>9200</c:v>
                  </c:pt>
                  <c:pt idx="90">
                    <c:v>9300</c:v>
                  </c:pt>
                  <c:pt idx="91">
                    <c:v>9400</c:v>
                  </c:pt>
                  <c:pt idx="92">
                    <c:v>9500</c:v>
                  </c:pt>
                  <c:pt idx="93">
                    <c:v>9600</c:v>
                  </c:pt>
                  <c:pt idx="94">
                    <c:v>9700</c:v>
                  </c:pt>
                  <c:pt idx="95">
                    <c:v>9800</c:v>
                  </c:pt>
                  <c:pt idx="96">
                    <c:v>9900</c:v>
                  </c:pt>
                  <c:pt idx="97">
                    <c:v>10000</c:v>
                  </c:pt>
                  <c:pt idx="98">
                    <c:v>10100</c:v>
                  </c:pt>
                  <c:pt idx="99">
                    <c:v>10200</c:v>
                  </c:pt>
                  <c:pt idx="100">
                    <c:v>10300</c:v>
                  </c:pt>
                  <c:pt idx="101">
                    <c:v>10400</c:v>
                  </c:pt>
                  <c:pt idx="102">
                    <c:v>10500</c:v>
                  </c:pt>
                  <c:pt idx="103">
                    <c:v>10600</c:v>
                  </c:pt>
                  <c:pt idx="104">
                    <c:v>10700</c:v>
                  </c:pt>
                  <c:pt idx="105">
                    <c:v>10800</c:v>
                  </c:pt>
                  <c:pt idx="106">
                    <c:v>10900</c:v>
                  </c:pt>
                  <c:pt idx="107">
                    <c:v>11000</c:v>
                  </c:pt>
                  <c:pt idx="108">
                    <c:v>11100</c:v>
                  </c:pt>
                  <c:pt idx="109">
                    <c:v>11200</c:v>
                  </c:pt>
                  <c:pt idx="110">
                    <c:v>11300</c:v>
                  </c:pt>
                  <c:pt idx="111">
                    <c:v>11400</c:v>
                  </c:pt>
                  <c:pt idx="112">
                    <c:v>11500</c:v>
                  </c:pt>
                  <c:pt idx="113">
                    <c:v>11600</c:v>
                  </c:pt>
                  <c:pt idx="114">
                    <c:v>11700</c:v>
                  </c:pt>
                  <c:pt idx="115">
                    <c:v>11800</c:v>
                  </c:pt>
                  <c:pt idx="116">
                    <c:v>11900</c:v>
                  </c:pt>
                  <c:pt idx="117">
                    <c:v>12000</c:v>
                  </c:pt>
                  <c:pt idx="118">
                    <c:v>12100</c:v>
                  </c:pt>
                  <c:pt idx="119">
                    <c:v>12200</c:v>
                  </c:pt>
                  <c:pt idx="120">
                    <c:v>12300</c:v>
                  </c:pt>
                  <c:pt idx="121">
                    <c:v>12400</c:v>
                  </c:pt>
                  <c:pt idx="122">
                    <c:v>12500</c:v>
                  </c:pt>
                  <c:pt idx="123">
                    <c:v>12600</c:v>
                  </c:pt>
                  <c:pt idx="124">
                    <c:v>12700</c:v>
                  </c:pt>
                  <c:pt idx="125">
                    <c:v>12800</c:v>
                  </c:pt>
                  <c:pt idx="126">
                    <c:v>12900</c:v>
                  </c:pt>
                  <c:pt idx="127">
                    <c:v>13000</c:v>
                  </c:pt>
                  <c:pt idx="128">
                    <c:v>13100</c:v>
                  </c:pt>
                  <c:pt idx="129">
                    <c:v>13200</c:v>
                  </c:pt>
                  <c:pt idx="130">
                    <c:v>13300</c:v>
                  </c:pt>
                  <c:pt idx="131">
                    <c:v>13400</c:v>
                  </c:pt>
                  <c:pt idx="132">
                    <c:v>13500</c:v>
                  </c:pt>
                  <c:pt idx="133">
                    <c:v>13600</c:v>
                  </c:pt>
                  <c:pt idx="134">
                    <c:v>13700</c:v>
                  </c:pt>
                  <c:pt idx="135">
                    <c:v>13800</c:v>
                  </c:pt>
                  <c:pt idx="136">
                    <c:v>13900</c:v>
                  </c:pt>
                  <c:pt idx="137">
                    <c:v>14000</c:v>
                  </c:pt>
                  <c:pt idx="138">
                    <c:v>14100</c:v>
                  </c:pt>
                  <c:pt idx="139">
                    <c:v>14200</c:v>
                  </c:pt>
                  <c:pt idx="140">
                    <c:v>14300</c:v>
                  </c:pt>
                  <c:pt idx="141">
                    <c:v>14400</c:v>
                  </c:pt>
                  <c:pt idx="142">
                    <c:v>14500</c:v>
                  </c:pt>
                  <c:pt idx="143">
                    <c:v>14600</c:v>
                  </c:pt>
                  <c:pt idx="144">
                    <c:v>14700</c:v>
                  </c:pt>
                  <c:pt idx="145">
                    <c:v>14800</c:v>
                  </c:pt>
                  <c:pt idx="146">
                    <c:v>14900</c:v>
                  </c:pt>
                  <c:pt idx="147">
                    <c:v>15000</c:v>
                  </c:pt>
                  <c:pt idx="148">
                    <c:v>15100</c:v>
                  </c:pt>
                  <c:pt idx="149">
                    <c:v>15200</c:v>
                  </c:pt>
                  <c:pt idx="150">
                    <c:v>15300</c:v>
                  </c:pt>
                  <c:pt idx="151">
                    <c:v>15400</c:v>
                  </c:pt>
                  <c:pt idx="152">
                    <c:v>15500</c:v>
                  </c:pt>
                  <c:pt idx="153">
                    <c:v>15600</c:v>
                  </c:pt>
                  <c:pt idx="154">
                    <c:v>15700</c:v>
                  </c:pt>
                  <c:pt idx="155">
                    <c:v>15800</c:v>
                  </c:pt>
                  <c:pt idx="156">
                    <c:v>15900</c:v>
                  </c:pt>
                  <c:pt idx="157">
                    <c:v>16000</c:v>
                  </c:pt>
                  <c:pt idx="158">
                    <c:v>16100</c:v>
                  </c:pt>
                  <c:pt idx="159">
                    <c:v>16200</c:v>
                  </c:pt>
                  <c:pt idx="160">
                    <c:v>16300</c:v>
                  </c:pt>
                  <c:pt idx="161">
                    <c:v>16400</c:v>
                  </c:pt>
                  <c:pt idx="162">
                    <c:v>16500</c:v>
                  </c:pt>
                  <c:pt idx="163">
                    <c:v>16600</c:v>
                  </c:pt>
                  <c:pt idx="164">
                    <c:v>16700</c:v>
                  </c:pt>
                  <c:pt idx="165">
                    <c:v>16800</c:v>
                  </c:pt>
                  <c:pt idx="166">
                    <c:v>16900</c:v>
                  </c:pt>
                  <c:pt idx="167">
                    <c:v>17000</c:v>
                  </c:pt>
                  <c:pt idx="168">
                    <c:v>17100</c:v>
                  </c:pt>
                  <c:pt idx="169">
                    <c:v>17200</c:v>
                  </c:pt>
                  <c:pt idx="170">
                    <c:v>17300</c:v>
                  </c:pt>
                  <c:pt idx="171">
                    <c:v>17400</c:v>
                  </c:pt>
                  <c:pt idx="172">
                    <c:v>17500</c:v>
                  </c:pt>
                  <c:pt idx="173">
                    <c:v>17600</c:v>
                  </c:pt>
                  <c:pt idx="174">
                    <c:v>17700</c:v>
                  </c:pt>
                  <c:pt idx="175">
                    <c:v>17800</c:v>
                  </c:pt>
                  <c:pt idx="176">
                    <c:v>17900</c:v>
                  </c:pt>
                  <c:pt idx="177">
                    <c:v>18000</c:v>
                  </c:pt>
                  <c:pt idx="178">
                    <c:v>18100</c:v>
                  </c:pt>
                  <c:pt idx="179">
                    <c:v>18200</c:v>
                  </c:pt>
                  <c:pt idx="180">
                    <c:v>18300</c:v>
                  </c:pt>
                  <c:pt idx="181">
                    <c:v>18400</c:v>
                  </c:pt>
                  <c:pt idx="182">
                    <c:v>18500</c:v>
                  </c:pt>
                  <c:pt idx="183">
                    <c:v>18600</c:v>
                  </c:pt>
                  <c:pt idx="184">
                    <c:v>18700</c:v>
                  </c:pt>
                  <c:pt idx="185">
                    <c:v>18800</c:v>
                  </c:pt>
                  <c:pt idx="186">
                    <c:v>18900</c:v>
                  </c:pt>
                  <c:pt idx="187">
                    <c:v>19000</c:v>
                  </c:pt>
                  <c:pt idx="188">
                    <c:v>19100</c:v>
                  </c:pt>
                  <c:pt idx="189">
                    <c:v>19200</c:v>
                  </c:pt>
                  <c:pt idx="190">
                    <c:v>19300</c:v>
                  </c:pt>
                  <c:pt idx="191">
                    <c:v>19400</c:v>
                  </c:pt>
                  <c:pt idx="192">
                    <c:v>19500</c:v>
                  </c:pt>
                  <c:pt idx="193">
                    <c:v>19600</c:v>
                  </c:pt>
                  <c:pt idx="194">
                    <c:v>19700</c:v>
                  </c:pt>
                  <c:pt idx="195">
                    <c:v>19800</c:v>
                  </c:pt>
                  <c:pt idx="196">
                    <c:v>19900</c:v>
                  </c:pt>
                </c:lvl>
              </c:multiLvlStrCache>
            </c:multiLvlStrRef>
          </c:cat>
          <c:val>
            <c:numRef>
              <c:f>Sheet1!$B$2:$B$198</c:f>
              <c:numCache>
                <c:formatCode>General</c:formatCode>
                <c:ptCount val="197"/>
                <c:pt idx="0">
                  <c:v>0.1894</c:v>
                </c:pt>
                <c:pt idx="1">
                  <c:v>0.1471</c:v>
                </c:pt>
                <c:pt idx="2">
                  <c:v>0.136</c:v>
                </c:pt>
                <c:pt idx="3">
                  <c:v>0.078</c:v>
                </c:pt>
                <c:pt idx="4">
                  <c:v>0.076</c:v>
                </c:pt>
                <c:pt idx="5">
                  <c:v>0.066</c:v>
                </c:pt>
                <c:pt idx="6">
                  <c:v>0.078</c:v>
                </c:pt>
                <c:pt idx="7">
                  <c:v>0.066</c:v>
                </c:pt>
                <c:pt idx="8">
                  <c:v>0.062</c:v>
                </c:pt>
                <c:pt idx="9">
                  <c:v>0.054</c:v>
                </c:pt>
                <c:pt idx="10">
                  <c:v>0.044</c:v>
                </c:pt>
                <c:pt idx="11">
                  <c:v>0.038</c:v>
                </c:pt>
                <c:pt idx="12">
                  <c:v>0.044</c:v>
                </c:pt>
                <c:pt idx="13">
                  <c:v>0.048</c:v>
                </c:pt>
                <c:pt idx="14">
                  <c:v>0.046</c:v>
                </c:pt>
                <c:pt idx="15">
                  <c:v>0.052</c:v>
                </c:pt>
                <c:pt idx="16">
                  <c:v>0.046</c:v>
                </c:pt>
                <c:pt idx="17">
                  <c:v>0.044</c:v>
                </c:pt>
                <c:pt idx="18">
                  <c:v>0.054</c:v>
                </c:pt>
                <c:pt idx="19">
                  <c:v>0.052</c:v>
                </c:pt>
                <c:pt idx="20">
                  <c:v>0.048</c:v>
                </c:pt>
                <c:pt idx="21">
                  <c:v>0.052</c:v>
                </c:pt>
                <c:pt idx="22">
                  <c:v>0.06</c:v>
                </c:pt>
                <c:pt idx="23">
                  <c:v>0.084</c:v>
                </c:pt>
                <c:pt idx="24">
                  <c:v>0.104</c:v>
                </c:pt>
                <c:pt idx="25">
                  <c:v>0.126</c:v>
                </c:pt>
                <c:pt idx="26">
                  <c:v>0.138</c:v>
                </c:pt>
                <c:pt idx="27">
                  <c:v>0.146</c:v>
                </c:pt>
                <c:pt idx="28">
                  <c:v>0.126</c:v>
                </c:pt>
                <c:pt idx="29">
                  <c:v>0.114</c:v>
                </c:pt>
                <c:pt idx="30">
                  <c:v>0.102</c:v>
                </c:pt>
                <c:pt idx="31">
                  <c:v>0.104</c:v>
                </c:pt>
                <c:pt idx="32">
                  <c:v>0.092</c:v>
                </c:pt>
                <c:pt idx="33">
                  <c:v>0.088</c:v>
                </c:pt>
                <c:pt idx="34">
                  <c:v>0.086</c:v>
                </c:pt>
                <c:pt idx="35">
                  <c:v>0.088</c:v>
                </c:pt>
                <c:pt idx="36">
                  <c:v>0.078</c:v>
                </c:pt>
                <c:pt idx="37">
                  <c:v>0.076</c:v>
                </c:pt>
                <c:pt idx="38">
                  <c:v>0.066</c:v>
                </c:pt>
                <c:pt idx="39">
                  <c:v>0.06</c:v>
                </c:pt>
                <c:pt idx="40">
                  <c:v>0.052</c:v>
                </c:pt>
                <c:pt idx="41">
                  <c:v>0.044</c:v>
                </c:pt>
                <c:pt idx="42">
                  <c:v>0.046</c:v>
                </c:pt>
                <c:pt idx="43">
                  <c:v>0.052</c:v>
                </c:pt>
                <c:pt idx="44">
                  <c:v>0.052</c:v>
                </c:pt>
                <c:pt idx="45">
                  <c:v>0.05</c:v>
                </c:pt>
                <c:pt idx="46">
                  <c:v>0.054</c:v>
                </c:pt>
                <c:pt idx="47">
                  <c:v>0.052</c:v>
                </c:pt>
                <c:pt idx="48">
                  <c:v>0.098</c:v>
                </c:pt>
                <c:pt idx="49">
                  <c:v>0.11</c:v>
                </c:pt>
                <c:pt idx="50">
                  <c:v>0.122</c:v>
                </c:pt>
                <c:pt idx="51">
                  <c:v>0.126</c:v>
                </c:pt>
                <c:pt idx="52">
                  <c:v>0.124</c:v>
                </c:pt>
                <c:pt idx="53">
                  <c:v>0.08</c:v>
                </c:pt>
                <c:pt idx="54">
                  <c:v>0.072</c:v>
                </c:pt>
                <c:pt idx="55">
                  <c:v>0.062</c:v>
                </c:pt>
                <c:pt idx="56">
                  <c:v>0.074</c:v>
                </c:pt>
                <c:pt idx="57">
                  <c:v>0.09</c:v>
                </c:pt>
                <c:pt idx="58">
                  <c:v>0.1</c:v>
                </c:pt>
                <c:pt idx="59">
                  <c:v>0.116</c:v>
                </c:pt>
                <c:pt idx="60">
                  <c:v>0.138</c:v>
                </c:pt>
                <c:pt idx="61">
                  <c:v>0.134</c:v>
                </c:pt>
                <c:pt idx="62">
                  <c:v>0.13</c:v>
                </c:pt>
                <c:pt idx="63">
                  <c:v>0.136</c:v>
                </c:pt>
                <c:pt idx="64">
                  <c:v>0.134</c:v>
                </c:pt>
                <c:pt idx="65">
                  <c:v>0.13</c:v>
                </c:pt>
                <c:pt idx="66">
                  <c:v>0.14</c:v>
                </c:pt>
                <c:pt idx="67">
                  <c:v>0.138</c:v>
                </c:pt>
                <c:pt idx="68">
                  <c:v>0.114</c:v>
                </c:pt>
                <c:pt idx="69">
                  <c:v>0.106</c:v>
                </c:pt>
                <c:pt idx="70">
                  <c:v>0.098</c:v>
                </c:pt>
                <c:pt idx="71">
                  <c:v>0.092</c:v>
                </c:pt>
                <c:pt idx="72">
                  <c:v>0.086</c:v>
                </c:pt>
                <c:pt idx="73">
                  <c:v>0.088</c:v>
                </c:pt>
                <c:pt idx="74">
                  <c:v>0.088</c:v>
                </c:pt>
                <c:pt idx="75">
                  <c:v>0.096</c:v>
                </c:pt>
                <c:pt idx="76">
                  <c:v>0.086</c:v>
                </c:pt>
                <c:pt idx="77">
                  <c:v>0.076</c:v>
                </c:pt>
                <c:pt idx="78">
                  <c:v>0.084</c:v>
                </c:pt>
                <c:pt idx="79">
                  <c:v>0.084</c:v>
                </c:pt>
                <c:pt idx="80">
                  <c:v>0.068</c:v>
                </c:pt>
                <c:pt idx="81">
                  <c:v>0.076</c:v>
                </c:pt>
                <c:pt idx="82">
                  <c:v>0.09</c:v>
                </c:pt>
                <c:pt idx="83">
                  <c:v>0.098</c:v>
                </c:pt>
                <c:pt idx="84">
                  <c:v>0.098</c:v>
                </c:pt>
                <c:pt idx="85">
                  <c:v>0.1</c:v>
                </c:pt>
                <c:pt idx="86">
                  <c:v>0.104</c:v>
                </c:pt>
                <c:pt idx="87">
                  <c:v>0.102</c:v>
                </c:pt>
                <c:pt idx="88">
                  <c:v>0.088</c:v>
                </c:pt>
                <c:pt idx="89">
                  <c:v>0.1</c:v>
                </c:pt>
                <c:pt idx="90">
                  <c:v>0.108</c:v>
                </c:pt>
                <c:pt idx="91">
                  <c:v>0.09</c:v>
                </c:pt>
                <c:pt idx="92">
                  <c:v>0.09</c:v>
                </c:pt>
                <c:pt idx="93">
                  <c:v>0.098</c:v>
                </c:pt>
                <c:pt idx="94">
                  <c:v>0.082</c:v>
                </c:pt>
                <c:pt idx="95">
                  <c:v>0.078</c:v>
                </c:pt>
                <c:pt idx="96">
                  <c:v>0.086</c:v>
                </c:pt>
                <c:pt idx="97">
                  <c:v>0.074</c:v>
                </c:pt>
                <c:pt idx="98">
                  <c:v>0.108</c:v>
                </c:pt>
                <c:pt idx="99">
                  <c:v>0.122</c:v>
                </c:pt>
                <c:pt idx="100">
                  <c:v>0.132</c:v>
                </c:pt>
                <c:pt idx="101">
                  <c:v>0.134</c:v>
                </c:pt>
                <c:pt idx="102">
                  <c:v>0.162</c:v>
                </c:pt>
                <c:pt idx="103">
                  <c:v>0.158</c:v>
                </c:pt>
                <c:pt idx="104">
                  <c:v>0.152</c:v>
                </c:pt>
                <c:pt idx="105">
                  <c:v>0.158</c:v>
                </c:pt>
                <c:pt idx="106">
                  <c:v>0.156</c:v>
                </c:pt>
                <c:pt idx="107">
                  <c:v>0.154</c:v>
                </c:pt>
                <c:pt idx="108">
                  <c:v>0.13</c:v>
                </c:pt>
                <c:pt idx="109">
                  <c:v>0.136</c:v>
                </c:pt>
                <c:pt idx="110">
                  <c:v>0.142</c:v>
                </c:pt>
                <c:pt idx="111">
                  <c:v>0.148</c:v>
                </c:pt>
                <c:pt idx="112">
                  <c:v>0.134</c:v>
                </c:pt>
                <c:pt idx="113">
                  <c:v>0.124</c:v>
                </c:pt>
                <c:pt idx="114">
                  <c:v>0.114</c:v>
                </c:pt>
                <c:pt idx="115">
                  <c:v>0.094</c:v>
                </c:pt>
                <c:pt idx="116">
                  <c:v>0.096</c:v>
                </c:pt>
                <c:pt idx="117">
                  <c:v>0.092</c:v>
                </c:pt>
                <c:pt idx="118">
                  <c:v>0.092</c:v>
                </c:pt>
                <c:pt idx="119">
                  <c:v>0.1</c:v>
                </c:pt>
                <c:pt idx="120">
                  <c:v>0.094</c:v>
                </c:pt>
                <c:pt idx="121">
                  <c:v>0.09</c:v>
                </c:pt>
                <c:pt idx="122">
                  <c:v>0.102</c:v>
                </c:pt>
                <c:pt idx="123">
                  <c:v>0.098</c:v>
                </c:pt>
                <c:pt idx="124">
                  <c:v>0.086</c:v>
                </c:pt>
                <c:pt idx="125">
                  <c:v>0.104</c:v>
                </c:pt>
                <c:pt idx="126">
                  <c:v>0.104</c:v>
                </c:pt>
                <c:pt idx="127">
                  <c:v>0.094</c:v>
                </c:pt>
                <c:pt idx="128">
                  <c:v>0.106</c:v>
                </c:pt>
                <c:pt idx="129">
                  <c:v>0.108</c:v>
                </c:pt>
                <c:pt idx="130">
                  <c:v>0.09</c:v>
                </c:pt>
                <c:pt idx="131">
                  <c:v>0.09</c:v>
                </c:pt>
                <c:pt idx="132">
                  <c:v>0.09</c:v>
                </c:pt>
                <c:pt idx="133">
                  <c:v>0.08</c:v>
                </c:pt>
                <c:pt idx="134">
                  <c:v>0.076</c:v>
                </c:pt>
                <c:pt idx="135">
                  <c:v>0.08</c:v>
                </c:pt>
                <c:pt idx="136">
                  <c:v>0.082</c:v>
                </c:pt>
                <c:pt idx="137">
                  <c:v>0.08</c:v>
                </c:pt>
                <c:pt idx="138">
                  <c:v>0.096</c:v>
                </c:pt>
                <c:pt idx="139">
                  <c:v>0.094</c:v>
                </c:pt>
                <c:pt idx="140">
                  <c:v>0.09</c:v>
                </c:pt>
                <c:pt idx="141">
                  <c:v>0.094</c:v>
                </c:pt>
                <c:pt idx="142">
                  <c:v>0.09</c:v>
                </c:pt>
                <c:pt idx="143">
                  <c:v>0.082</c:v>
                </c:pt>
                <c:pt idx="144">
                  <c:v>0.102</c:v>
                </c:pt>
                <c:pt idx="145">
                  <c:v>0.116</c:v>
                </c:pt>
                <c:pt idx="146">
                  <c:v>0.118</c:v>
                </c:pt>
                <c:pt idx="147">
                  <c:v>0.13</c:v>
                </c:pt>
                <c:pt idx="148">
                  <c:v>0.146</c:v>
                </c:pt>
                <c:pt idx="149">
                  <c:v>0.158</c:v>
                </c:pt>
                <c:pt idx="150">
                  <c:v>0.19</c:v>
                </c:pt>
                <c:pt idx="151">
                  <c:v>0.234</c:v>
                </c:pt>
                <c:pt idx="152">
                  <c:v>0.262</c:v>
                </c:pt>
                <c:pt idx="153">
                  <c:v>0.272</c:v>
                </c:pt>
                <c:pt idx="154">
                  <c:v>0.264</c:v>
                </c:pt>
                <c:pt idx="155">
                  <c:v>0.242</c:v>
                </c:pt>
                <c:pt idx="156">
                  <c:v>0.21</c:v>
                </c:pt>
                <c:pt idx="157">
                  <c:v>0.198</c:v>
                </c:pt>
                <c:pt idx="158">
                  <c:v>0.202</c:v>
                </c:pt>
                <c:pt idx="159">
                  <c:v>0.182</c:v>
                </c:pt>
                <c:pt idx="160">
                  <c:v>0.196</c:v>
                </c:pt>
                <c:pt idx="161">
                  <c:v>0.182</c:v>
                </c:pt>
                <c:pt idx="162">
                  <c:v>0.184</c:v>
                </c:pt>
                <c:pt idx="163">
                  <c:v>0.154</c:v>
                </c:pt>
                <c:pt idx="164">
                  <c:v>0.168</c:v>
                </c:pt>
                <c:pt idx="165">
                  <c:v>0.14</c:v>
                </c:pt>
                <c:pt idx="166">
                  <c:v>0.126</c:v>
                </c:pt>
                <c:pt idx="167">
                  <c:v>0.11</c:v>
                </c:pt>
                <c:pt idx="168">
                  <c:v>0.112</c:v>
                </c:pt>
                <c:pt idx="169">
                  <c:v>0.112</c:v>
                </c:pt>
                <c:pt idx="170">
                  <c:v>0.118</c:v>
                </c:pt>
                <c:pt idx="171">
                  <c:v>0.128</c:v>
                </c:pt>
                <c:pt idx="172">
                  <c:v>0.136</c:v>
                </c:pt>
                <c:pt idx="173">
                  <c:v>0.13</c:v>
                </c:pt>
                <c:pt idx="174">
                  <c:v>0.116</c:v>
                </c:pt>
                <c:pt idx="175">
                  <c:v>0.11</c:v>
                </c:pt>
                <c:pt idx="176">
                  <c:v>0.13</c:v>
                </c:pt>
                <c:pt idx="177">
                  <c:v>0.138</c:v>
                </c:pt>
                <c:pt idx="178">
                  <c:v>0.154</c:v>
                </c:pt>
                <c:pt idx="179">
                  <c:v>0.172</c:v>
                </c:pt>
                <c:pt idx="180">
                  <c:v>0.188</c:v>
                </c:pt>
                <c:pt idx="181">
                  <c:v>0.176</c:v>
                </c:pt>
                <c:pt idx="182">
                  <c:v>0.16</c:v>
                </c:pt>
                <c:pt idx="183">
                  <c:v>0.158</c:v>
                </c:pt>
                <c:pt idx="184">
                  <c:v>0.156</c:v>
                </c:pt>
                <c:pt idx="185">
                  <c:v>0.144</c:v>
                </c:pt>
                <c:pt idx="186">
                  <c:v>0.156</c:v>
                </c:pt>
                <c:pt idx="187">
                  <c:v>0.154</c:v>
                </c:pt>
                <c:pt idx="188">
                  <c:v>0.15</c:v>
                </c:pt>
                <c:pt idx="189">
                  <c:v>0.138</c:v>
                </c:pt>
                <c:pt idx="190">
                  <c:v>0.126</c:v>
                </c:pt>
                <c:pt idx="191">
                  <c:v>0.11</c:v>
                </c:pt>
                <c:pt idx="192">
                  <c:v>0.104</c:v>
                </c:pt>
                <c:pt idx="193">
                  <c:v>0.108</c:v>
                </c:pt>
                <c:pt idx="194">
                  <c:v>0.11</c:v>
                </c:pt>
                <c:pt idx="195">
                  <c:v>0.106</c:v>
                </c:pt>
                <c:pt idx="196">
                  <c:v>0.096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DDE2E6"/>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majorUnit val="0.1"/>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(problem and background), about 30 seconds.
Good morning. We are G. Jeevan Jadhav, K. Akhil, P. Joshua Naik, Mohammed Suhail Ahmed Khan. Our project is about concept drift: what happens when a machine-learning model runs on an industrial data stream and the data stops looking like the data it was trained on.
The picture on the right is real output from our live pipeline: a model's error rate, the dashed lines are the moments the data changed, and the red triangles are our detector raising an alarm. By the end you will see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Machines wear, firmware changes, attackers change tactics: the data a model sees in production drifts away from its training data. This is concept drift.
This is a real intrusion-detection dataset, CICIDS2017, in its original order. A LightGBM model trained at the start and never updated. Twice the traffic changes and its rolling accuracy falls to 3%.
The dangerous part: averaged over the whole stream the accuracy still looks fine, 84%, because most traffic is normal. But its F1 on attacks is 0.02: it misses nearly every attack, and nothing in the system raises an error. So we need something that watches the model and says "the world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Drift is not one thing. We study the three standard shapes, the same ones used by our first base paper.
Abrupt: the change happens at one instant, for example a firmware update. Gradual: old and new behaviour alternate, with the new one appearing more and more often, like a new attack type that starts rare and becomes common. Incremental: the behaviour slides smoothly, like a bearing wearing out.
Detectors are good at different shapes, which is why we test every detector on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question, as in the proposal. Two halves. First: among existing detectors, which gives the best trade-off between accuracy, measured with F1 (did the alarms land on real drifts?), delay (how quickly after the drift did the alarm come?), and cost (time per sample and memory, because these run on every reading of a stream).
Second: can a hybrid of two detectors do better than any one of them? That is our enhancement.
Note: the proposal mentions AUC, but alarm-based detection has no score to threshold, so we report F1, precision and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1, Sakurai and colleagues 2023, benchmarks four classic error-rate detectors on synthetic streams with known drift points. Its protocol is what we reproduce as our baseline.
Paper 2, Yang and Shami 2023, is an industrial IoT pipeline called MSANA that uses two detectors, ADWIN and EDDM, to decide when to retrain. That gave us the idea of combining two detectors, and its authors published the IoTID20 and CICIDS2017 samples we use.
Paper 3 shows a lightweight LightGBM retrained after drift stays accurate while a static model collapses. We use that design for our retraining study.
The gap: paper 2 combines two detectors but never asks how the combination rule itself affects results. We test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(system and method).
This is the system we built and ran. A producer replays a simulated industrial sensor stream into a Kafka topic. Our online scorer reads each record, predicts with a River Hoeffding tree, compares the prediction with the label, and feeds the right-or-wrong bit to the drift detector. When the detector fires, the model is replaced. Every record's error, alarm flag and latency go to InfluxDB, and Grafana shows them live.
Why these tools: Kafka keeps an ordered, replayable log, so experiments repeat exactly. River learns one record at a time in constant memory. InfluxDB and Grafana are the monitoring view an operator would actually use. A Spark job for windowed features is included but was not run; it is not on the scoring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makes a prediction, then the true label arrives. We turn each prediction into a single bit: 0 if right, 1 if wrong. The detector never sees the sensor values, only this stream of bits. When the share of 1s jumps, it raises an alarm, and we retrain the model on the latest data.
Scoring: we know exactly where each drift is. After it we draw a tolerance window, the drift width plus 300 samples, cut short if the next drift comes first. The first alarm inside is a detection and its distance from the drift is the delay. Every other alarm is a false alarm. A drift with no alarm in its window is a miss. Because a miss has no delay, we also report a penalised delay that counts a miss as the whole window, so a detector cannot look fast by missing drifts.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data. First, synthetic error streams where we control exactly when each drift happens: 90 in a fixed setting, 90 more on seeds never used for design, and 300 where the stream length, number of drifts, drift width and drift size are all random. That last setting answers "does it only work in one configuration?".
Second, a simulated industrial sensor stream with three known drifts, used for the retraining study and the live pipeline.
Third, real network data, IoTID20 and CICIDS2017, two ways: in natural order, which is realistic but has no drift labels, and shuffled with drift injected at known points so detection can be scored.
For statistics, the Friedman and Nemenyi tests compare all detectors at once; the Wilcoxon test compares our hybrid with each detector stream by stream, Holm-corrected because we make many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(results).
The five classic detectors on the fixed setting. Left, F1: HDDM-A in orange and ADWIN in green are the most reliable on every drift type; both track the running mean of the errors. Right, delay: EDDM and HDDM-W react fastest, but speed comes at a price.
We did not reproduce Paper 1's ranking. They found EDDM the most accurate; for us it is last with F1 0.13. It catches most drifts and reacts fastest, but fires about 3.78 false alarms per thousand samples, roughly 34 times HDDM-A. Our scoring counts every extra alarm, we use default settings, and our generator differs. We do reproduce their qualitative finding that no detector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enhancement. HDDM-A and ADWIN both watch the mean error, but differently: HDDM-A uses a statistical bound on the running average, ADWIN keeps a window and checks whether its two halves differ. They miss different drifts, so we run both and alarm if either fires, then ignore repeat alarms for 500 samples so one drift gives one alarm.
The table: best F1 in all three settings: 0.733, 0.786 on unseen seeds, 0.591 in the varied setting.
Significance is mixed and we say so. Against HDDM-A it is significant everywhere. Against ADWIN it is significant in the fixed settings but tied in the varied one. And the last row is an honesty check: HDDM-A with only the 500-sample refractory rule, no second detector. In the fixed settings the hybrid is not significantly better than that, so part of the gain over HDDM-A is the refractory rule itself; in the varied setting the second detector clearly matters.
So the claim we can defend: at least as good as the best single detector, and more robust across settings than either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hybrid in our proposal is not the one we ended with, and we tested what we proposed.
The proposal paired a fast detector with EDDM. With an OR rule it scored F1 0.223. Paper 2's own pair, ADWIN with EDDM, scored 0.347. Both are worse than ADWIN alone, because EDDM's false alarms pass straight through an OR.
The opposite idea, only alarm when both detectors agree, cut false alarms but missed most drifts and detected the rest late, F1 around 0.4.
The lesson: combining detectors only helps if each one is reliable on its own and they fail in different places. HDDM-A and ADWIN fit that, so we kept the idea of a hybrid and changed the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detection actually help the model? Left: the simulated stream. Grey dotted is the static model: it collapses at the first drift and never recovers, 60.3% overall. Blue is LightGBM retrained whenever the hybrid fires: each drift causes a dip, the detector fires, the model is retrained, and accuracy comes back.
The table puts three datasets side by side. Retraining clearly helps: on CICIDS2017 in natural order the attack F1 goes from 0.02 to between 0.73 and 0.89.
Two honest findings. One: the hybrid is never the best trigger. On CICIDS2017 the attack mix keeps shifting, so DDM, which fires 40 times, retrains more and wins. Better detection F1 does not automatically mean better accuracy. Two: online learners like River's HAT and ARF, which adapt internally, are as good or better. So detection quality and adaptation quality should be evaluated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(live system, demo and conclusion).
We ran the whole pipeline: the simulated stream through Kafka, scored online, written to InfluxDB, shown in Grafana. One consumer handled about 805 records per second with a median end-to-end latency of 3.1 milliseconds.
The two panels show something we only found by running it live. Top: our hybrid as designed. It catches the first two drifts but also raises false alarms. Why? When a detector fires we replace the model, and the fresh model gets better. ADWIN is two-sided, so it treats "the error went down" as a change too. Bottom: we made ADWIN one-sided, so it only reacts to the error going up. F1 goes from 0.50 to 0.86. The one remaining false alarm, near record 2,500, is a real rise in the model's error with no change in the data; every detector fires there.
Now switch to the dashboard. Page 1: press Play with the two-sided hybrid, then switch to one-sided. Page 2: CICIDS2017 natural order, static vs retrained. If anything fails, play the backup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our research question.
One: no single detector wins on every axis. Detectors that track the mean error are the most reliable; faster ones pay with false alarms.
Two: our hybrid has the best F1 in all three settings, is significantly better than HDDM-A, and is tied with ADWIN when stream settings vary. So the claim is "at least as good as the best single detector, and more robust than either part", for about 3 microseconds per sample.
Three: retraining when drift is detected is essential, but which detector triggers it matters less than we expected, and online learners are a strong alternative.
Limitations, briefly: the benchmark uses synthetic error streams, only our hybrid was tuned, the real datasets are published samples with one kind of injected drift, and the live run is one machine. Future work follows directly from those.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EDDM is not bad at seeing drift, it is bad at staying quiet: best recall, shortest delay, but about 3.78 false alarms per thousand samples. Our scoring is strict, any alarm outside a drift's window is false. Paper 1 used its own generator and settings, and we left EDDM on defaults. We reproduce their qualitative finding that no detector dominates, and we say clearly that we did not reproduce their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 Wilcoxon signed-rank test per stream, hybrid against each detector, Holm-corrected for multiple comparisons. Against HDDM-A it wins everywhere. Against ADWIN it wins on the fixed settings but ties when length, number and size of drifts vary. The refractory-only control shows that in the fixed setting much of the gain over HDDM-A comes from ignoring repeat alarms; in the varied setting the second detector adds a significant gain. The hybrid was designed on seeds 0–29, which is why we report the unseen and varied runs as the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was a hypothesis. We tested it exactly as written, it failed, and we report that on slide 11. EDDM's false alarms dominate any OR combination, and AND confirmation is too slow. The final hybrid follows the same principle, two detectors with different strengths, but both are individually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shuffling, a natural drift could happen anywhere, and an alarm caused by it would be counted as false. Shuffling makes the stream stationary, then we inject drift at known points. Feature remapping is one realistic kind of drift, a sensor or firmware change, but not the only one; that is listed as a limitation. Details are in README.md and drift/datasets.py.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 rule means the hybrid fires whenever either part fires. On the real datasets the error rises too little for HDDM-A's bound, so only ADWIN ever fires and the hybrid reduces to it. This matches the varied synthetic setting, where small drifts are hard for every detector. It is a property of the data, not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LightGBM is strong on tabular data and cheap to run, and the "detect, then retrain" design lets us measure what a detector is worth. Online learners do not need an external trigger: HAT replaces subtrees when an internal ADWIN sees change, and ARF keeps background trees per member that take over on drift. Their strength is a finding: detection quality and adaptation quality are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an offered 1,000 records per second the consumer processed about 805; uncapped, its capacity was about 824 per second, and beyond that latency grows because records wait in Kafka (median 12 s; these two figures are from the report). Every record is written to InfluxDB synchronously, one at a time, which dominates the cost. Batching writes and partitioning the topic across several consumers would scale it roughly linearly.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1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7406640" cy="155448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rgbClr val="1B2127"/>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49D"/>
                </a:solidFill>
              </a:rPr>
              <a:t>Concept drift in industrial data streams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B21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image" Target="../media/image-13-1.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larm-marker-1"/>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8A949D"/>
                </a:solidFill>
              </a:rPr>
              <a:t>IOE413 STREAMING DATA ANALYTICS · TOPIC 12</a:t>
            </a:r>
            <a:endParaRPr lang="en-US" sz="1200" dirty="0"/>
          </a:p>
        </p:txBody>
      </p:sp>
      <p:sp>
        <p:nvSpPr>
          <p:cNvPr id="4" name="Text 0"/>
          <p:cNvSpPr/>
          <p:nvPr>
            <p:ph idx="100" type="title" hasCustomPrompt="1"/>
          </p:nvPr>
        </p:nvSpPr>
        <p:spPr>
          <a:xfrm>
            <a:off x="548640" y="1874520"/>
            <a:ext cx="7406640" cy="1554480"/>
          </a:xfrm>
          <a:prstGeom prst="rect">
            <a:avLst/>
          </a:prstGeom>
          <a:noFill/>
          <a:ln/>
        </p:spPr>
        <p:txBody>
          <a:bodyPr wrap="square" lIns="0" tIns="0" rIns="0" bIns="0" rtlCol="0" anchor="t"/>
          <a:lstStyle/>
          <a:p>
            <a:pPr algn="l" indent="0" marL="0">
              <a:buNone/>
            </a:pPr>
            <a:r>
              <a:rPr lang="en-US" sz="4000" b="1" dirty="0">
                <a:solidFill>
                  <a:srgbClr val="FFFFFF"/>
                </a:solidFill>
              </a:rPr>
              <a:t>Detecting Concept Drift in Industrial Data Streams</a:t>
            </a:r>
            <a:endParaRPr lang="en-US" sz="4000" dirty="0"/>
          </a:p>
        </p:txBody>
      </p:sp>
      <p:sp>
        <p:nvSpPr>
          <p:cNvPr id="5" name="subtitle"/>
          <p:cNvSpPr txBox="1"/>
          <p:nvPr/>
        </p:nvSpPr>
        <p:spPr>
          <a:xfrm>
            <a:off x="548640" y="3429000"/>
            <a:ext cx="7406640" cy="457200"/>
          </a:xfrm>
          <a:prstGeom prst="rect">
            <a:avLst/>
          </a:prstGeom>
          <a:noFill/>
          <a:ln/>
        </p:spPr>
        <p:txBody>
          <a:bodyPr wrap="square" lIns="0" tIns="0" rIns="0" bIns="0" rtlCol="0" anchor="ctr"/>
          <a:lstStyle/>
          <a:p>
            <a:pPr indent="0" marL="0">
              <a:buNone/>
            </a:pPr>
            <a:r>
              <a:rPr lang="en-US" sz="1800" dirty="0">
                <a:solidFill>
                  <a:srgbClr val="C9D1D8"/>
                </a:solidFill>
              </a:rPr>
              <a:t>A hybrid drift trigger evaluated on synthetic, IIoT and live Kafka streams</a:t>
            </a:r>
            <a:endParaRPr lang="en-US" sz="1800" dirty="0"/>
          </a:p>
        </p:txBody>
      </p:sp>
      <p:sp>
        <p:nvSpPr>
          <p:cNvPr id="6" name="member"/>
          <p:cNvSpPr txBox="1"/>
          <p:nvPr/>
        </p:nvSpPr>
        <p:spPr>
          <a:xfrm>
            <a:off x="548640" y="4251960"/>
            <a:ext cx="3657600" cy="566928"/>
          </a:xfrm>
          <a:prstGeom prst="rect">
            <a:avLst/>
          </a:prstGeom>
          <a:noFill/>
          <a:ln/>
        </p:spPr>
        <p:txBody>
          <a:bodyPr wrap="square" lIns="0" tIns="0" rIns="0" bIns="0" rtlCol="0" anchor="t"/>
          <a:lstStyle/>
          <a:p>
            <a:pPr indent="0" marL="0">
              <a:buNone/>
            </a:pPr>
            <a:r>
              <a:rPr lang="en-US" sz="1400" b="1" dirty="0">
                <a:solidFill>
                  <a:srgbClr val="FFFFFF"/>
                </a:solidFill>
              </a:rPr>
              <a:t>G. Jeevan Jadhav (lead)</a:t>
            </a:r>
            <a:endParaRPr lang="en-US" sz="1400" dirty="0"/>
          </a:p>
          <a:p>
            <a:pPr indent="0" marL="0">
              <a:buNone/>
            </a:pPr>
            <a:r>
              <a:rPr lang="en-US" sz="1400" dirty="0">
                <a:solidFill>
                  <a:srgbClr val="8A949D"/>
                </a:solidFill>
              </a:rPr>
              <a:t>2023BCS0098</a:t>
            </a:r>
            <a:endParaRPr lang="en-US" sz="1400" dirty="0"/>
          </a:p>
        </p:txBody>
      </p:sp>
      <p:sp>
        <p:nvSpPr>
          <p:cNvPr id="7" name="member"/>
          <p:cNvSpPr txBox="1"/>
          <p:nvPr/>
        </p:nvSpPr>
        <p:spPr>
          <a:xfrm>
            <a:off x="4297680" y="4251960"/>
            <a:ext cx="3657600" cy="566928"/>
          </a:xfrm>
          <a:prstGeom prst="rect">
            <a:avLst/>
          </a:prstGeom>
          <a:noFill/>
          <a:ln/>
        </p:spPr>
        <p:txBody>
          <a:bodyPr wrap="square" lIns="0" tIns="0" rIns="0" bIns="0" rtlCol="0" anchor="t"/>
          <a:lstStyle/>
          <a:p>
            <a:pPr indent="0" marL="0">
              <a:buNone/>
            </a:pPr>
            <a:r>
              <a:rPr lang="en-US" sz="1400" b="1" dirty="0">
                <a:solidFill>
                  <a:srgbClr val="FFFFFF"/>
                </a:solidFill>
              </a:rPr>
              <a:t>K. Akhil</a:t>
            </a:r>
            <a:endParaRPr lang="en-US" sz="1400" dirty="0"/>
          </a:p>
          <a:p>
            <a:pPr indent="0" marL="0">
              <a:buNone/>
            </a:pPr>
            <a:r>
              <a:rPr lang="en-US" sz="1400" dirty="0">
                <a:solidFill>
                  <a:srgbClr val="8A949D"/>
                </a:solidFill>
              </a:rPr>
              <a:t>2023BCD0018</a:t>
            </a:r>
            <a:endParaRPr lang="en-US" sz="1400" dirty="0"/>
          </a:p>
        </p:txBody>
      </p:sp>
      <p:sp>
        <p:nvSpPr>
          <p:cNvPr id="8" name="member"/>
          <p:cNvSpPr txBox="1"/>
          <p:nvPr/>
        </p:nvSpPr>
        <p:spPr>
          <a:xfrm>
            <a:off x="548640" y="4910328"/>
            <a:ext cx="3657600" cy="566928"/>
          </a:xfrm>
          <a:prstGeom prst="rect">
            <a:avLst/>
          </a:prstGeom>
          <a:noFill/>
          <a:ln/>
        </p:spPr>
        <p:txBody>
          <a:bodyPr wrap="square" lIns="0" tIns="0" rIns="0" bIns="0" rtlCol="0" anchor="t"/>
          <a:lstStyle/>
          <a:p>
            <a:pPr indent="0" marL="0">
              <a:buNone/>
            </a:pPr>
            <a:r>
              <a:rPr lang="en-US" sz="1400" b="1" dirty="0">
                <a:solidFill>
                  <a:srgbClr val="FFFFFF"/>
                </a:solidFill>
              </a:rPr>
              <a:t>P. Joshua Naik</a:t>
            </a:r>
            <a:endParaRPr lang="en-US" sz="1400" dirty="0"/>
          </a:p>
          <a:p>
            <a:pPr indent="0" marL="0">
              <a:buNone/>
            </a:pPr>
            <a:r>
              <a:rPr lang="en-US" sz="1400" dirty="0">
                <a:solidFill>
                  <a:srgbClr val="8A949D"/>
                </a:solidFill>
              </a:rPr>
              <a:t>2023BCS0089</a:t>
            </a:r>
            <a:endParaRPr lang="en-US" sz="1400" dirty="0"/>
          </a:p>
        </p:txBody>
      </p:sp>
      <p:sp>
        <p:nvSpPr>
          <p:cNvPr id="9" name="member"/>
          <p:cNvSpPr txBox="1"/>
          <p:nvPr/>
        </p:nvSpPr>
        <p:spPr>
          <a:xfrm>
            <a:off x="4297680" y="4910328"/>
            <a:ext cx="3657600" cy="566928"/>
          </a:xfrm>
          <a:prstGeom prst="rect">
            <a:avLst/>
          </a:prstGeom>
          <a:noFill/>
          <a:ln/>
        </p:spPr>
        <p:txBody>
          <a:bodyPr wrap="square" lIns="0" tIns="0" rIns="0" bIns="0" rtlCol="0" anchor="t"/>
          <a:lstStyle/>
          <a:p>
            <a:pPr indent="0" marL="0">
              <a:buNone/>
            </a:pPr>
            <a:r>
              <a:rPr lang="en-US" sz="1400" b="1" dirty="0">
                <a:solidFill>
                  <a:srgbClr val="FFFFFF"/>
                </a:solidFill>
              </a:rPr>
              <a:t>Mohammed Suhail Ahmed Khan</a:t>
            </a:r>
            <a:endParaRPr lang="en-US" sz="1400" dirty="0"/>
          </a:p>
          <a:p>
            <a:pPr indent="0" marL="0">
              <a:buNone/>
            </a:pPr>
            <a:r>
              <a:rPr lang="en-US" sz="1400" dirty="0">
                <a:solidFill>
                  <a:srgbClr val="8A949D"/>
                </a:solidFill>
              </a:rPr>
              <a:t>2023BCS0222</a:t>
            </a:r>
            <a:endParaRPr lang="en-US" sz="1400" dirty="0"/>
          </a:p>
        </p:txBody>
      </p:sp>
      <p:sp>
        <p:nvSpPr>
          <p:cNvPr id="10" name="institute"/>
          <p:cNvSpPr txBox="1"/>
          <p:nvPr/>
        </p:nvSpPr>
        <p:spPr>
          <a:xfrm>
            <a:off x="548640" y="5989320"/>
            <a:ext cx="7315200" cy="274320"/>
          </a:xfrm>
          <a:prstGeom prst="rect">
            <a:avLst/>
          </a:prstGeom>
          <a:noFill/>
          <a:ln/>
        </p:spPr>
        <p:txBody>
          <a:bodyPr wrap="square" lIns="0" tIns="0" rIns="0" bIns="0" rtlCol="0" anchor="ctr"/>
          <a:lstStyle/>
          <a:p>
            <a:pPr indent="0" marL="0">
              <a:buNone/>
            </a:pPr>
            <a:r>
              <a:rPr lang="en-US" sz="1200" dirty="0">
                <a:solidFill>
                  <a:srgbClr val="8A949D"/>
                </a:solidFill>
              </a:rPr>
              <a:t>Indian Institute of Information Technology Kottayam</a:t>
            </a:r>
            <a:endParaRPr lang="en-US" sz="1200" dirty="0"/>
          </a:p>
        </p:txBody>
      </p:sp>
      <p:graphicFrame>
        <p:nvGraphicFramePr>
          <p:cNvPr id="11" name="time-chart-9" descr=""/>
          <p:cNvGraphicFramePr/>
          <p:nvPr/>
        </p:nvGraphicFramePr>
        <p:xfrm>
          <a:off x="8229600" y="914400"/>
          <a:ext cx="3566160" cy="5120640"/>
        </p:xfrm>
        <a:graphic xmlns:a="http://schemas.openxmlformats.org/drawingml/2006/main">
          <a:graphicData uri="http://schemas.openxmlformats.org/drawingml/2006/chart">
            <c:chart xmlns:c="http://schemas.openxmlformats.org/drawingml/2006/chart" r:id="rId1"/>
          </a:graphicData>
        </a:graphic>
      </p:graphicFrame>
      <p:sp>
        <p:nvSpPr>
          <p:cNvPr id="12" name="drift-line-10"/>
          <p:cNvSpPr/>
          <p:nvPr/>
        </p:nvSpPr>
        <p:spPr>
          <a:xfrm>
            <a:off x="9126390" y="1324051"/>
            <a:ext cx="0" cy="4301338"/>
          </a:xfrm>
          <a:prstGeom prst="line">
            <a:avLst/>
          </a:prstGeom>
          <a:noFill/>
          <a:ln w="12700">
            <a:solidFill>
              <a:srgbClr val="C9D1D8"/>
            </a:solidFill>
            <a:prstDash val="dash"/>
          </a:ln>
        </p:spPr>
      </p:sp>
      <p:sp>
        <p:nvSpPr>
          <p:cNvPr id="13" name="drift-line-11"/>
          <p:cNvSpPr/>
          <p:nvPr/>
        </p:nvSpPr>
        <p:spPr>
          <a:xfrm>
            <a:off x="9995302" y="1324051"/>
            <a:ext cx="0" cy="4301338"/>
          </a:xfrm>
          <a:prstGeom prst="line">
            <a:avLst/>
          </a:prstGeom>
          <a:noFill/>
          <a:ln w="12700">
            <a:solidFill>
              <a:srgbClr val="C9D1D8"/>
            </a:solidFill>
            <a:prstDash val="dash"/>
          </a:ln>
        </p:spPr>
      </p:sp>
      <p:sp>
        <p:nvSpPr>
          <p:cNvPr id="14" name="drift-line-12"/>
          <p:cNvSpPr/>
          <p:nvPr/>
        </p:nvSpPr>
        <p:spPr>
          <a:xfrm>
            <a:off x="10864214" y="1324051"/>
            <a:ext cx="0" cy="4301338"/>
          </a:xfrm>
          <a:prstGeom prst="line">
            <a:avLst/>
          </a:prstGeom>
          <a:noFill/>
          <a:ln w="12700">
            <a:solidFill>
              <a:srgbClr val="C9D1D8"/>
            </a:solidFill>
            <a:prstDash val="dash"/>
          </a:ln>
        </p:spPr>
      </p:sp>
      <p:sp>
        <p:nvSpPr>
          <p:cNvPr id="15" name="alarm-13"/>
          <p:cNvSpPr/>
          <p:nvPr/>
        </p:nvSpPr>
        <p:spPr>
          <a:xfrm flipV="1">
            <a:off x="8619303" y="4516990"/>
            <a:ext cx="146304" cy="124358"/>
          </a:xfrm>
          <a:prstGeom prst="triangle">
            <a:avLst/>
          </a:prstGeom>
          <a:solidFill>
            <a:srgbClr val="D62828"/>
          </a:solidFill>
          <a:ln w="9525">
            <a:solidFill>
              <a:srgbClr val="FFFFFF"/>
            </a:solidFill>
            <a:prstDash val="solid"/>
          </a:ln>
        </p:spPr>
      </p:sp>
      <p:sp>
        <p:nvSpPr>
          <p:cNvPr id="16" name="alarm-14"/>
          <p:cNvSpPr/>
          <p:nvPr/>
        </p:nvSpPr>
        <p:spPr>
          <a:xfrm flipV="1">
            <a:off x="9056192" y="4459639"/>
            <a:ext cx="146304" cy="124358"/>
          </a:xfrm>
          <a:prstGeom prst="triangle">
            <a:avLst/>
          </a:prstGeom>
          <a:solidFill>
            <a:srgbClr val="D62828"/>
          </a:solidFill>
          <a:ln w="9525">
            <a:solidFill>
              <a:srgbClr val="FFFFFF"/>
            </a:solidFill>
            <a:prstDash val="solid"/>
          </a:ln>
        </p:spPr>
      </p:sp>
      <p:sp>
        <p:nvSpPr>
          <p:cNvPr id="17" name="alarm-15"/>
          <p:cNvSpPr/>
          <p:nvPr/>
        </p:nvSpPr>
        <p:spPr>
          <a:xfrm flipV="1">
            <a:off x="9924061" y="4201558"/>
            <a:ext cx="146304" cy="124358"/>
          </a:xfrm>
          <a:prstGeom prst="triangle">
            <a:avLst/>
          </a:prstGeom>
          <a:solidFill>
            <a:srgbClr val="D62828"/>
          </a:solidFill>
          <a:ln w="9525">
            <a:solidFill>
              <a:srgbClr val="FFFFFF"/>
            </a:solidFill>
            <a:prstDash val="solid"/>
          </a:ln>
        </p:spPr>
      </p:sp>
      <p:sp>
        <p:nvSpPr>
          <p:cNvPr id="18" name="alarm-16"/>
          <p:cNvSpPr/>
          <p:nvPr/>
        </p:nvSpPr>
        <p:spPr>
          <a:xfrm flipV="1">
            <a:off x="10849279" y="2624401"/>
            <a:ext cx="146304" cy="124358"/>
          </a:xfrm>
          <a:prstGeom prst="triangle">
            <a:avLst/>
          </a:prstGeom>
          <a:solidFill>
            <a:srgbClr val="D62828"/>
          </a:solidFill>
          <a:ln w="9525">
            <a:solidFill>
              <a:srgbClr val="FFFFFF"/>
            </a:solidFill>
            <a:prstDash val="solid"/>
          </a:ln>
        </p:spPr>
      </p:sp>
      <p:sp>
        <p:nvSpPr>
          <p:cNvPr id="19" name="motif-caption"/>
          <p:cNvSpPr txBox="1"/>
          <p:nvPr/>
        </p:nvSpPr>
        <p:spPr>
          <a:xfrm>
            <a:off x="8229600" y="6035040"/>
            <a:ext cx="3566160" cy="274320"/>
          </a:xfrm>
          <a:prstGeom prst="rect">
            <a:avLst/>
          </a:prstGeom>
          <a:noFill/>
          <a:ln/>
        </p:spPr>
        <p:txBody>
          <a:bodyPr wrap="square" lIns="0" tIns="0" rIns="0" bIns="0" rtlCol="0" anchor="ctr"/>
          <a:lstStyle/>
          <a:p>
            <a:pPr algn="r" indent="0" marL="0">
              <a:buNone/>
            </a:pPr>
            <a:r>
              <a:rPr lang="en-US" sz="1000" i="1" dirty="0">
                <a:solidFill>
                  <a:srgbClr val="8A949D"/>
                </a:solidFill>
              </a:rPr>
              <a:t>The live Kafka run: true drifts dashed, detector alarms red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alarm-marker-18"/>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1 · PROBLEM AND BACKGROUND</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A deployed model silently fails when the data shifts</a:t>
            </a:r>
            <a:endParaRPr lang="en-US" sz="3200" dirty="0"/>
          </a:p>
        </p:txBody>
      </p:sp>
      <p:graphicFrame>
        <p:nvGraphicFramePr>
          <p:cNvPr id="5" name="time-chart-20" descr=""/>
          <p:cNvGraphicFramePr/>
          <p:nvPr/>
        </p:nvGraphicFramePr>
        <p:xfrm>
          <a:off x="548640" y="1691640"/>
          <a:ext cx="7223760" cy="4069080"/>
        </p:xfrm>
        <a:graphic xmlns:a="http://schemas.openxmlformats.org/drawingml/2006/main">
          <a:graphicData uri="http://schemas.openxmlformats.org/drawingml/2006/chart">
            <c:chart xmlns:c="http://schemas.openxmlformats.org/drawingml/2006/chart" r:id="rId1"/>
          </a:graphicData>
        </a:graphic>
      </p:graphicFrame>
      <p:sp>
        <p:nvSpPr>
          <p:cNvPr id="6" name="x-tick"/>
          <p:cNvSpPr txBox="1"/>
          <p:nvPr/>
        </p:nvSpPr>
        <p:spPr>
          <a:xfrm>
            <a:off x="1240811" y="5399532"/>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2k</a:t>
            </a:r>
            <a:endParaRPr lang="en-US" sz="1100" dirty="0"/>
          </a:p>
        </p:txBody>
      </p:sp>
      <p:sp>
        <p:nvSpPr>
          <p:cNvPr id="7" name="x-tick"/>
          <p:cNvSpPr txBox="1"/>
          <p:nvPr/>
        </p:nvSpPr>
        <p:spPr>
          <a:xfrm>
            <a:off x="3189038" y="5399532"/>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6k</a:t>
            </a:r>
            <a:endParaRPr lang="en-US" sz="1100" dirty="0"/>
          </a:p>
        </p:txBody>
      </p:sp>
      <p:sp>
        <p:nvSpPr>
          <p:cNvPr id="8" name="x-tick"/>
          <p:cNvSpPr txBox="1"/>
          <p:nvPr/>
        </p:nvSpPr>
        <p:spPr>
          <a:xfrm>
            <a:off x="5137264" y="5399532"/>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10k</a:t>
            </a:r>
            <a:endParaRPr lang="en-US" sz="1100" dirty="0"/>
          </a:p>
        </p:txBody>
      </p:sp>
      <p:sp>
        <p:nvSpPr>
          <p:cNvPr id="9" name="x-tick"/>
          <p:cNvSpPr txBox="1"/>
          <p:nvPr/>
        </p:nvSpPr>
        <p:spPr>
          <a:xfrm>
            <a:off x="7085490" y="5399532"/>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14k</a:t>
            </a:r>
            <a:endParaRPr lang="en-US" sz="1100" dirty="0"/>
          </a:p>
        </p:txBody>
      </p:sp>
      <p:sp>
        <p:nvSpPr>
          <p:cNvPr id="10" name="x-title"/>
          <p:cNvSpPr txBox="1"/>
          <p:nvPr/>
        </p:nvSpPr>
        <p:spPr>
          <a:xfrm>
            <a:off x="6164885" y="5628132"/>
            <a:ext cx="1463040" cy="228600"/>
          </a:xfrm>
          <a:prstGeom prst="rect">
            <a:avLst/>
          </a:prstGeom>
          <a:noFill/>
          <a:ln/>
        </p:spPr>
        <p:txBody>
          <a:bodyPr wrap="square" lIns="0" tIns="0" rIns="0" bIns="0" rtlCol="0" anchor="ctr"/>
          <a:lstStyle/>
          <a:p>
            <a:pPr algn="r" indent="0" marL="0">
              <a:buNone/>
            </a:pPr>
            <a:r>
              <a:rPr lang="en-US" sz="1100" dirty="0">
                <a:solidFill>
                  <a:srgbClr val="5B6670"/>
                </a:solidFill>
              </a:rPr>
              <a:t>network flow →</a:t>
            </a:r>
            <a:endParaRPr lang="en-US" sz="1100" dirty="0"/>
          </a:p>
        </p:txBody>
      </p:sp>
      <p:sp>
        <p:nvSpPr>
          <p:cNvPr id="11" name="chart-caption"/>
          <p:cNvSpPr txBox="1"/>
          <p:nvPr/>
        </p:nvSpPr>
        <p:spPr>
          <a:xfrm>
            <a:off x="548640" y="5943600"/>
            <a:ext cx="7223760" cy="411480"/>
          </a:xfrm>
          <a:prstGeom prst="rect">
            <a:avLst/>
          </a:prstGeom>
          <a:noFill/>
          <a:ln/>
        </p:spPr>
        <p:txBody>
          <a:bodyPr wrap="square" lIns="0" tIns="0" rIns="0" bIns="0" rtlCol="0" anchor="ctr"/>
          <a:lstStyle/>
          <a:p>
            <a:pPr indent="0" marL="0">
              <a:buNone/>
            </a:pPr>
            <a:r>
              <a:rPr lang="en-US" sz="1100" i="1" dirty="0">
                <a:solidFill>
                  <a:srgbClr val="5B6670"/>
                </a:solidFill>
              </a:rPr>
              <a:t>CICIDS2017 network traffic in its original order. Rolling accuracy (last 300 flows) of a LightGBM model trained once and never updated. No alarm is raised.</a:t>
            </a:r>
            <a:endParaRPr lang="en-US" sz="1100" dirty="0"/>
          </a:p>
        </p:txBody>
      </p:sp>
      <p:sp>
        <p:nvSpPr>
          <p:cNvPr id="12" name="stat-min"/>
          <p:cNvSpPr txBox="1"/>
          <p:nvPr/>
        </p:nvSpPr>
        <p:spPr>
          <a:xfrm>
            <a:off x="8229600" y="1737360"/>
            <a:ext cx="3413455" cy="777240"/>
          </a:xfrm>
          <a:prstGeom prst="rect">
            <a:avLst/>
          </a:prstGeom>
          <a:noFill/>
          <a:ln/>
        </p:spPr>
        <p:txBody>
          <a:bodyPr wrap="square" lIns="0" tIns="0" rIns="0" bIns="0" rtlCol="0" anchor="ctr"/>
          <a:lstStyle/>
          <a:p>
            <a:pPr indent="0" marL="0">
              <a:buNone/>
            </a:pPr>
            <a:r>
              <a:rPr lang="en-US" sz="5400" b="1" dirty="0">
                <a:solidFill>
                  <a:srgbClr val="D62828"/>
                </a:solidFill>
              </a:rPr>
              <a:t>3%</a:t>
            </a:r>
            <a:endParaRPr lang="en-US" sz="5400" dirty="0"/>
          </a:p>
        </p:txBody>
      </p:sp>
      <p:sp>
        <p:nvSpPr>
          <p:cNvPr id="13" name="stat-min-l"/>
          <p:cNvSpPr txBox="1"/>
          <p:nvPr/>
        </p:nvSpPr>
        <p:spPr>
          <a:xfrm>
            <a:off x="8229600" y="2514600"/>
            <a:ext cx="3413455" cy="274320"/>
          </a:xfrm>
          <a:prstGeom prst="rect">
            <a:avLst/>
          </a:prstGeom>
          <a:noFill/>
          <a:ln/>
        </p:spPr>
        <p:txBody>
          <a:bodyPr wrap="square" lIns="0" tIns="0" rIns="0" bIns="0" rtlCol="0" anchor="ctr"/>
          <a:lstStyle/>
          <a:p>
            <a:pPr indent="0" marL="0">
              <a:buNone/>
            </a:pPr>
            <a:r>
              <a:rPr lang="en-US" sz="1400" dirty="0">
                <a:solidFill>
                  <a:srgbClr val="5B6670"/>
                </a:solidFill>
              </a:rPr>
              <a:t>rolling accuracy at its worst, twice</a:t>
            </a:r>
            <a:endParaRPr lang="en-US" sz="1400" dirty="0"/>
          </a:p>
        </p:txBody>
      </p:sp>
      <p:sp>
        <p:nvSpPr>
          <p:cNvPr id="14" name="stat-f1"/>
          <p:cNvSpPr txBox="1"/>
          <p:nvPr/>
        </p:nvSpPr>
        <p:spPr>
          <a:xfrm>
            <a:off x="8229600" y="3063240"/>
            <a:ext cx="3413455" cy="777240"/>
          </a:xfrm>
          <a:prstGeom prst="rect">
            <a:avLst/>
          </a:prstGeom>
          <a:noFill/>
          <a:ln/>
        </p:spPr>
        <p:txBody>
          <a:bodyPr wrap="square" lIns="0" tIns="0" rIns="0" bIns="0" rtlCol="0" anchor="ctr"/>
          <a:lstStyle/>
          <a:p>
            <a:pPr indent="0" marL="0">
              <a:buNone/>
            </a:pPr>
            <a:r>
              <a:rPr lang="en-US" sz="5400" b="1" dirty="0">
                <a:solidFill>
                  <a:srgbClr val="1B2127"/>
                </a:solidFill>
              </a:rPr>
              <a:t>0.02</a:t>
            </a:r>
            <a:endParaRPr lang="en-US" sz="5400" dirty="0"/>
          </a:p>
        </p:txBody>
      </p:sp>
      <p:sp>
        <p:nvSpPr>
          <p:cNvPr id="15" name="stat-f1-l"/>
          <p:cNvSpPr txBox="1"/>
          <p:nvPr/>
        </p:nvSpPr>
        <p:spPr>
          <a:xfrm>
            <a:off x="8229600" y="3840480"/>
            <a:ext cx="3413455" cy="274320"/>
          </a:xfrm>
          <a:prstGeom prst="rect">
            <a:avLst/>
          </a:prstGeom>
          <a:noFill/>
          <a:ln/>
        </p:spPr>
        <p:txBody>
          <a:bodyPr wrap="square" lIns="0" tIns="0" rIns="0" bIns="0" rtlCol="0" anchor="ctr"/>
          <a:lstStyle/>
          <a:p>
            <a:pPr indent="0" marL="0">
              <a:buNone/>
            </a:pPr>
            <a:r>
              <a:rPr lang="en-US" sz="1400" dirty="0">
                <a:solidFill>
                  <a:srgbClr val="5B6670"/>
                </a:solidFill>
              </a:rPr>
              <a:t>attack-detection F1 over the whole stream</a:t>
            </a:r>
            <a:endParaRPr lang="en-US" sz="1400" dirty="0"/>
          </a:p>
        </p:txBody>
      </p:sp>
      <p:sp>
        <p:nvSpPr>
          <p:cNvPr id="16" name="card-31"/>
          <p:cNvSpPr/>
          <p:nvPr/>
        </p:nvSpPr>
        <p:spPr>
          <a:xfrm>
            <a:off x="8229600" y="4434840"/>
            <a:ext cx="3413455" cy="1325880"/>
          </a:xfrm>
          <a:prstGeom prst="roundRect">
            <a:avLst>
              <a:gd name="adj" fmla="val 5517"/>
            </a:avLst>
          </a:prstGeom>
          <a:solidFill>
            <a:srgbClr val="EEF2F5"/>
          </a:solidFill>
          <a:ln/>
        </p:spPr>
      </p:sp>
      <p:sp>
        <p:nvSpPr>
          <p:cNvPr id="17" name="why"/>
          <p:cNvSpPr txBox="1"/>
          <p:nvPr/>
        </p:nvSpPr>
        <p:spPr>
          <a:xfrm>
            <a:off x="8412480" y="4526280"/>
            <a:ext cx="3047695" cy="1143000"/>
          </a:xfrm>
          <a:prstGeom prst="rect">
            <a:avLst/>
          </a:prstGeom>
          <a:noFill/>
          <a:ln/>
        </p:spPr>
        <p:txBody>
          <a:bodyPr wrap="square" lIns="0" tIns="0" rIns="0" bIns="0" rtlCol="0" anchor="ctr"/>
          <a:lstStyle/>
          <a:p>
            <a:pPr indent="0" marL="0">
              <a:buNone/>
            </a:pPr>
            <a:r>
              <a:rPr lang="en-US" sz="1400" dirty="0">
                <a:solidFill>
                  <a:srgbClr val="1B2127"/>
                </a:solidFill>
              </a:rPr>
              <a:t>Overall accuracy still reads 84%, because most traffic is benign. The model misses almost every attack, and nobody is told.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alarm-marker-33"/>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1 · PROBLEM AND BACKGROUND</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Drift comes in three shapes</a:t>
            </a:r>
            <a:endParaRPr lang="en-US" sz="3200" dirty="0"/>
          </a:p>
        </p:txBody>
      </p:sp>
      <p:sp>
        <p:nvSpPr>
          <p:cNvPr id="5" name="card-35"/>
          <p:cNvSpPr/>
          <p:nvPr/>
        </p:nvSpPr>
        <p:spPr>
          <a:xfrm>
            <a:off x="548640" y="1645920"/>
            <a:ext cx="3484778" cy="4343400"/>
          </a:xfrm>
          <a:prstGeom prst="roundRect">
            <a:avLst>
              <a:gd name="adj" fmla="val 2099"/>
            </a:avLst>
          </a:prstGeom>
          <a:solidFill>
            <a:srgbClr val="EEF2F5"/>
          </a:solidFill>
          <a:ln/>
        </p:spPr>
      </p:sp>
      <p:graphicFrame>
        <p:nvGraphicFramePr>
          <p:cNvPr id="6" name="time-chart-36" descr=""/>
          <p:cNvGraphicFramePr/>
          <p:nvPr/>
        </p:nvGraphicFramePr>
        <p:xfrm>
          <a:off x="731520" y="1828800"/>
          <a:ext cx="3119018" cy="1737360"/>
        </p:xfrm>
        <a:graphic xmlns:a="http://schemas.openxmlformats.org/drawingml/2006/main">
          <a:graphicData uri="http://schemas.openxmlformats.org/drawingml/2006/chart">
            <c:chart xmlns:c="http://schemas.openxmlformats.org/drawingml/2006/chart" r:id="rId1"/>
          </a:graphicData>
        </a:graphic>
      </p:graphicFrame>
      <p:sp>
        <p:nvSpPr>
          <p:cNvPr id="7" name="drift-line-37"/>
          <p:cNvSpPr/>
          <p:nvPr/>
        </p:nvSpPr>
        <p:spPr>
          <a:xfrm>
            <a:off x="2298359" y="1915668"/>
            <a:ext cx="0" cy="1563624"/>
          </a:xfrm>
          <a:prstGeom prst="line">
            <a:avLst/>
          </a:prstGeom>
          <a:noFill/>
          <a:ln w="19050">
            <a:solidFill>
              <a:srgbClr val="1B2127"/>
            </a:solidFill>
            <a:prstDash val="dash"/>
          </a:ln>
        </p:spPr>
      </p:sp>
      <p:sp>
        <p:nvSpPr>
          <p:cNvPr id="8" name="axis-hint"/>
          <p:cNvSpPr txBox="1"/>
          <p:nvPr/>
        </p:nvSpPr>
        <p:spPr>
          <a:xfrm>
            <a:off x="777240" y="1847088"/>
            <a:ext cx="1371600" cy="228600"/>
          </a:xfrm>
          <a:prstGeom prst="rect">
            <a:avLst/>
          </a:prstGeom>
          <a:noFill/>
          <a:ln/>
        </p:spPr>
        <p:txBody>
          <a:bodyPr wrap="square" lIns="0" tIns="0" rIns="0" bIns="0" rtlCol="0" anchor="ctr"/>
          <a:lstStyle/>
          <a:p>
            <a:pPr indent="0" marL="0">
              <a:buNone/>
            </a:pPr>
            <a:r>
              <a:rPr lang="en-US" sz="1000" dirty="0">
                <a:solidFill>
                  <a:srgbClr val="5B6670"/>
                </a:solidFill>
              </a:rPr>
              <a:t>error rate</a:t>
            </a:r>
            <a:endParaRPr lang="en-US" sz="1000" dirty="0"/>
          </a:p>
        </p:txBody>
      </p:sp>
      <p:sp>
        <p:nvSpPr>
          <p:cNvPr id="9" name="drift-name"/>
          <p:cNvSpPr txBox="1"/>
          <p:nvPr/>
        </p:nvSpPr>
        <p:spPr>
          <a:xfrm>
            <a:off x="777240" y="3749040"/>
            <a:ext cx="3027578" cy="411480"/>
          </a:xfrm>
          <a:prstGeom prst="rect">
            <a:avLst/>
          </a:prstGeom>
          <a:noFill/>
          <a:ln/>
        </p:spPr>
        <p:txBody>
          <a:bodyPr wrap="square" lIns="0" tIns="0" rIns="0" bIns="0" rtlCol="0" anchor="ctr"/>
          <a:lstStyle/>
          <a:p>
            <a:pPr indent="0" marL="0">
              <a:buNone/>
            </a:pPr>
            <a:r>
              <a:rPr lang="en-US" sz="2200" b="1" dirty="0">
                <a:solidFill>
                  <a:srgbClr val="1B2127"/>
                </a:solidFill>
                <a:latin typeface="Arial" pitchFamily="34" charset="0"/>
                <a:ea typeface="Arial" pitchFamily="34" charset="-122"/>
                <a:cs typeface="Arial" pitchFamily="34" charset="-120"/>
              </a:rPr>
              <a:t>Abrupt</a:t>
            </a:r>
            <a:endParaRPr lang="en-US" sz="2200" dirty="0"/>
          </a:p>
        </p:txBody>
      </p:sp>
      <p:sp>
        <p:nvSpPr>
          <p:cNvPr id="10" name="drift-what"/>
          <p:cNvSpPr txBox="1"/>
          <p:nvPr/>
        </p:nvSpPr>
        <p:spPr>
          <a:xfrm>
            <a:off x="777240" y="4206240"/>
            <a:ext cx="3027578" cy="731520"/>
          </a:xfrm>
          <a:prstGeom prst="rect">
            <a:avLst/>
          </a:prstGeom>
          <a:noFill/>
          <a:ln/>
        </p:spPr>
        <p:txBody>
          <a:bodyPr wrap="square" lIns="0" tIns="0" rIns="0" bIns="0" rtlCol="0" anchor="t"/>
          <a:lstStyle/>
          <a:p>
            <a:pPr indent="0" marL="0">
              <a:buNone/>
            </a:pPr>
            <a:r>
              <a:rPr lang="en-US" sz="1500" dirty="0">
                <a:solidFill>
                  <a:srgbClr val="1B2127"/>
                </a:solidFill>
              </a:rPr>
              <a:t>The concept switches at once.</a:t>
            </a:r>
            <a:endParaRPr lang="en-US" sz="1500" dirty="0"/>
          </a:p>
        </p:txBody>
      </p:sp>
      <p:sp>
        <p:nvSpPr>
          <p:cNvPr id="11" name="drift-example"/>
          <p:cNvSpPr txBox="1"/>
          <p:nvPr/>
        </p:nvSpPr>
        <p:spPr>
          <a:xfrm>
            <a:off x="777240" y="4983480"/>
            <a:ext cx="3027578" cy="868680"/>
          </a:xfrm>
          <a:prstGeom prst="rect">
            <a:avLst/>
          </a:prstGeom>
          <a:noFill/>
          <a:ln/>
        </p:spPr>
        <p:txBody>
          <a:bodyPr wrap="square" lIns="0" tIns="0" rIns="0" bIns="0" rtlCol="0" anchor="t"/>
          <a:lstStyle/>
          <a:p>
            <a:pPr indent="0" marL="0">
              <a:buNone/>
            </a:pPr>
            <a:r>
              <a:rPr lang="en-US" sz="1400" b="1" dirty="0">
                <a:solidFill>
                  <a:srgbClr val="3A4651"/>
                </a:solidFill>
              </a:rPr>
              <a:t>Example: </a:t>
            </a:r>
            <a:pPr indent="0" marL="0">
              <a:buNone/>
            </a:pPr>
            <a:r>
              <a:rPr lang="en-US" sz="1400" dirty="0">
                <a:solidFill>
                  <a:srgbClr val="3A4651"/>
                </a:solidFill>
              </a:rPr>
              <a:t>A firmware update changes how a sensor reports values overnight.</a:t>
            </a:r>
            <a:endParaRPr lang="en-US" sz="1400" dirty="0"/>
          </a:p>
        </p:txBody>
      </p:sp>
      <p:sp>
        <p:nvSpPr>
          <p:cNvPr id="12" name="card-42"/>
          <p:cNvSpPr/>
          <p:nvPr/>
        </p:nvSpPr>
        <p:spPr>
          <a:xfrm>
            <a:off x="4353458" y="1645920"/>
            <a:ext cx="3484778" cy="4343400"/>
          </a:xfrm>
          <a:prstGeom prst="roundRect">
            <a:avLst>
              <a:gd name="adj" fmla="val 2099"/>
            </a:avLst>
          </a:prstGeom>
          <a:solidFill>
            <a:srgbClr val="EEF2F5"/>
          </a:solidFill>
          <a:ln/>
        </p:spPr>
      </p:sp>
      <p:graphicFrame>
        <p:nvGraphicFramePr>
          <p:cNvPr id="13" name="time-chart-43" descr=""/>
          <p:cNvGraphicFramePr/>
          <p:nvPr/>
        </p:nvGraphicFramePr>
        <p:xfrm>
          <a:off x="4536338" y="1828800"/>
          <a:ext cx="3119018" cy="1737360"/>
        </p:xfrm>
        <a:graphic xmlns:a="http://schemas.openxmlformats.org/drawingml/2006/main">
          <a:graphicData uri="http://schemas.openxmlformats.org/drawingml/2006/chart">
            <c:chart xmlns:c="http://schemas.openxmlformats.org/drawingml/2006/chart" r:id="rId2"/>
          </a:graphicData>
        </a:graphic>
      </p:graphicFrame>
      <p:sp>
        <p:nvSpPr>
          <p:cNvPr id="14" name="drift-line-44"/>
          <p:cNvSpPr/>
          <p:nvPr/>
        </p:nvSpPr>
        <p:spPr>
          <a:xfrm>
            <a:off x="6103177" y="1915668"/>
            <a:ext cx="0" cy="1563624"/>
          </a:xfrm>
          <a:prstGeom prst="line">
            <a:avLst/>
          </a:prstGeom>
          <a:noFill/>
          <a:ln w="19050">
            <a:solidFill>
              <a:srgbClr val="1B2127"/>
            </a:solidFill>
            <a:prstDash val="dash"/>
          </a:ln>
        </p:spPr>
      </p:sp>
      <p:sp>
        <p:nvSpPr>
          <p:cNvPr id="15" name="axis-hint"/>
          <p:cNvSpPr txBox="1"/>
          <p:nvPr/>
        </p:nvSpPr>
        <p:spPr>
          <a:xfrm>
            <a:off x="4582058" y="1847088"/>
            <a:ext cx="1371600" cy="228600"/>
          </a:xfrm>
          <a:prstGeom prst="rect">
            <a:avLst/>
          </a:prstGeom>
          <a:noFill/>
          <a:ln/>
        </p:spPr>
        <p:txBody>
          <a:bodyPr wrap="square" lIns="0" tIns="0" rIns="0" bIns="0" rtlCol="0" anchor="ctr"/>
          <a:lstStyle/>
          <a:p>
            <a:pPr indent="0" marL="0">
              <a:buNone/>
            </a:pPr>
            <a:r>
              <a:rPr lang="en-US" sz="1000" dirty="0">
                <a:solidFill>
                  <a:srgbClr val="5B6670"/>
                </a:solidFill>
              </a:rPr>
              <a:t>error rate</a:t>
            </a:r>
            <a:endParaRPr lang="en-US" sz="1000" dirty="0"/>
          </a:p>
        </p:txBody>
      </p:sp>
      <p:sp>
        <p:nvSpPr>
          <p:cNvPr id="16" name="drift-name"/>
          <p:cNvSpPr txBox="1"/>
          <p:nvPr/>
        </p:nvSpPr>
        <p:spPr>
          <a:xfrm>
            <a:off x="4582058" y="3749040"/>
            <a:ext cx="3027578" cy="411480"/>
          </a:xfrm>
          <a:prstGeom prst="rect">
            <a:avLst/>
          </a:prstGeom>
          <a:noFill/>
          <a:ln/>
        </p:spPr>
        <p:txBody>
          <a:bodyPr wrap="square" lIns="0" tIns="0" rIns="0" bIns="0" rtlCol="0" anchor="ctr"/>
          <a:lstStyle/>
          <a:p>
            <a:pPr indent="0" marL="0">
              <a:buNone/>
            </a:pPr>
            <a:r>
              <a:rPr lang="en-US" sz="2200" b="1" dirty="0">
                <a:solidFill>
                  <a:srgbClr val="1B2127"/>
                </a:solidFill>
                <a:latin typeface="Arial" pitchFamily="34" charset="0"/>
                <a:ea typeface="Arial" pitchFamily="34" charset="-122"/>
                <a:cs typeface="Arial" pitchFamily="34" charset="-120"/>
              </a:rPr>
              <a:t>Gradual</a:t>
            </a:r>
            <a:endParaRPr lang="en-US" sz="2200" dirty="0"/>
          </a:p>
        </p:txBody>
      </p:sp>
      <p:sp>
        <p:nvSpPr>
          <p:cNvPr id="17" name="drift-what"/>
          <p:cNvSpPr txBox="1"/>
          <p:nvPr/>
        </p:nvSpPr>
        <p:spPr>
          <a:xfrm>
            <a:off x="4582058" y="4206240"/>
            <a:ext cx="3027578" cy="731520"/>
          </a:xfrm>
          <a:prstGeom prst="rect">
            <a:avLst/>
          </a:prstGeom>
          <a:noFill/>
          <a:ln/>
        </p:spPr>
        <p:txBody>
          <a:bodyPr wrap="square" lIns="0" tIns="0" rIns="0" bIns="0" rtlCol="0" anchor="t"/>
          <a:lstStyle/>
          <a:p>
            <a:pPr indent="0" marL="0">
              <a:buNone/>
            </a:pPr>
            <a:r>
              <a:rPr lang="en-US" sz="1500" dirty="0">
                <a:solidFill>
                  <a:srgbClr val="1B2127"/>
                </a:solidFill>
              </a:rPr>
              <a:t>Old and new concepts alternate; the new one shows up more and more often.</a:t>
            </a:r>
            <a:endParaRPr lang="en-US" sz="1500" dirty="0"/>
          </a:p>
        </p:txBody>
      </p:sp>
      <p:sp>
        <p:nvSpPr>
          <p:cNvPr id="18" name="drift-example"/>
          <p:cNvSpPr txBox="1"/>
          <p:nvPr/>
        </p:nvSpPr>
        <p:spPr>
          <a:xfrm>
            <a:off x="4582058" y="4983480"/>
            <a:ext cx="3027578" cy="868680"/>
          </a:xfrm>
          <a:prstGeom prst="rect">
            <a:avLst/>
          </a:prstGeom>
          <a:noFill/>
          <a:ln/>
        </p:spPr>
        <p:txBody>
          <a:bodyPr wrap="square" lIns="0" tIns="0" rIns="0" bIns="0" rtlCol="0" anchor="t"/>
          <a:lstStyle/>
          <a:p>
            <a:pPr indent="0" marL="0">
              <a:buNone/>
            </a:pPr>
            <a:r>
              <a:rPr lang="en-US" sz="1400" b="1" dirty="0">
                <a:solidFill>
                  <a:srgbClr val="3A4651"/>
                </a:solidFill>
              </a:rPr>
              <a:t>Example: </a:t>
            </a:r>
            <a:pPr indent="0" marL="0">
              <a:buNone/>
            </a:pPr>
            <a:r>
              <a:rPr lang="en-US" sz="1400" dirty="0">
                <a:solidFill>
                  <a:srgbClr val="3A4651"/>
                </a:solidFill>
              </a:rPr>
              <a:t>A new attack type appears now and then, then becomes common.</a:t>
            </a:r>
            <a:endParaRPr lang="en-US" sz="1400" dirty="0"/>
          </a:p>
        </p:txBody>
      </p:sp>
      <p:sp>
        <p:nvSpPr>
          <p:cNvPr id="19" name="card-49"/>
          <p:cNvSpPr/>
          <p:nvPr/>
        </p:nvSpPr>
        <p:spPr>
          <a:xfrm>
            <a:off x="8158277" y="1645920"/>
            <a:ext cx="3484778" cy="4343400"/>
          </a:xfrm>
          <a:prstGeom prst="roundRect">
            <a:avLst>
              <a:gd name="adj" fmla="val 2099"/>
            </a:avLst>
          </a:prstGeom>
          <a:solidFill>
            <a:srgbClr val="EEF2F5"/>
          </a:solidFill>
          <a:ln/>
        </p:spPr>
      </p:sp>
      <p:graphicFrame>
        <p:nvGraphicFramePr>
          <p:cNvPr id="20" name="time-chart-50" descr=""/>
          <p:cNvGraphicFramePr/>
          <p:nvPr/>
        </p:nvGraphicFramePr>
        <p:xfrm>
          <a:off x="8341157" y="1828800"/>
          <a:ext cx="3119018" cy="1737360"/>
        </p:xfrm>
        <a:graphic xmlns:a="http://schemas.openxmlformats.org/drawingml/2006/main">
          <a:graphicData uri="http://schemas.openxmlformats.org/drawingml/2006/chart">
            <c:chart xmlns:c="http://schemas.openxmlformats.org/drawingml/2006/chart" r:id="rId3"/>
          </a:graphicData>
        </a:graphic>
      </p:graphicFrame>
      <p:sp>
        <p:nvSpPr>
          <p:cNvPr id="21" name="drift-line-51"/>
          <p:cNvSpPr/>
          <p:nvPr/>
        </p:nvSpPr>
        <p:spPr>
          <a:xfrm>
            <a:off x="9907996" y="1915668"/>
            <a:ext cx="0" cy="1563624"/>
          </a:xfrm>
          <a:prstGeom prst="line">
            <a:avLst/>
          </a:prstGeom>
          <a:noFill/>
          <a:ln w="19050">
            <a:solidFill>
              <a:srgbClr val="1B2127"/>
            </a:solidFill>
            <a:prstDash val="dash"/>
          </a:ln>
        </p:spPr>
      </p:sp>
      <p:sp>
        <p:nvSpPr>
          <p:cNvPr id="22" name="axis-hint"/>
          <p:cNvSpPr txBox="1"/>
          <p:nvPr/>
        </p:nvSpPr>
        <p:spPr>
          <a:xfrm>
            <a:off x="8386877" y="1847088"/>
            <a:ext cx="1371600" cy="228600"/>
          </a:xfrm>
          <a:prstGeom prst="rect">
            <a:avLst/>
          </a:prstGeom>
          <a:noFill/>
          <a:ln/>
        </p:spPr>
        <p:txBody>
          <a:bodyPr wrap="square" lIns="0" tIns="0" rIns="0" bIns="0" rtlCol="0" anchor="ctr"/>
          <a:lstStyle/>
          <a:p>
            <a:pPr indent="0" marL="0">
              <a:buNone/>
            </a:pPr>
            <a:r>
              <a:rPr lang="en-US" sz="1000" dirty="0">
                <a:solidFill>
                  <a:srgbClr val="5B6670"/>
                </a:solidFill>
              </a:rPr>
              <a:t>error rate</a:t>
            </a:r>
            <a:endParaRPr lang="en-US" sz="1000" dirty="0"/>
          </a:p>
        </p:txBody>
      </p:sp>
      <p:sp>
        <p:nvSpPr>
          <p:cNvPr id="23" name="drift-name"/>
          <p:cNvSpPr txBox="1"/>
          <p:nvPr/>
        </p:nvSpPr>
        <p:spPr>
          <a:xfrm>
            <a:off x="8386877" y="3749040"/>
            <a:ext cx="3027578" cy="411480"/>
          </a:xfrm>
          <a:prstGeom prst="rect">
            <a:avLst/>
          </a:prstGeom>
          <a:noFill/>
          <a:ln/>
        </p:spPr>
        <p:txBody>
          <a:bodyPr wrap="square" lIns="0" tIns="0" rIns="0" bIns="0" rtlCol="0" anchor="ctr"/>
          <a:lstStyle/>
          <a:p>
            <a:pPr indent="0" marL="0">
              <a:buNone/>
            </a:pPr>
            <a:r>
              <a:rPr lang="en-US" sz="2200" b="1" dirty="0">
                <a:solidFill>
                  <a:srgbClr val="1B2127"/>
                </a:solidFill>
                <a:latin typeface="Arial" pitchFamily="34" charset="0"/>
                <a:ea typeface="Arial" pitchFamily="34" charset="-122"/>
                <a:cs typeface="Arial" pitchFamily="34" charset="-120"/>
              </a:rPr>
              <a:t>Incremental</a:t>
            </a:r>
            <a:endParaRPr lang="en-US" sz="2200" dirty="0"/>
          </a:p>
        </p:txBody>
      </p:sp>
      <p:sp>
        <p:nvSpPr>
          <p:cNvPr id="24" name="drift-what"/>
          <p:cNvSpPr txBox="1"/>
          <p:nvPr/>
        </p:nvSpPr>
        <p:spPr>
          <a:xfrm>
            <a:off x="8386877" y="4206240"/>
            <a:ext cx="3027578" cy="731520"/>
          </a:xfrm>
          <a:prstGeom prst="rect">
            <a:avLst/>
          </a:prstGeom>
          <a:noFill/>
          <a:ln/>
        </p:spPr>
        <p:txBody>
          <a:bodyPr wrap="square" lIns="0" tIns="0" rIns="0" bIns="0" rtlCol="0" anchor="t"/>
          <a:lstStyle/>
          <a:p>
            <a:pPr indent="0" marL="0">
              <a:buNone/>
            </a:pPr>
            <a:r>
              <a:rPr lang="en-US" sz="1500" dirty="0">
                <a:solidFill>
                  <a:srgbClr val="1B2127"/>
                </a:solidFill>
              </a:rPr>
              <a:t>The concept slides smoothly from old to new.</a:t>
            </a:r>
            <a:endParaRPr lang="en-US" sz="1500" dirty="0"/>
          </a:p>
        </p:txBody>
      </p:sp>
      <p:sp>
        <p:nvSpPr>
          <p:cNvPr id="25" name="drift-example"/>
          <p:cNvSpPr txBox="1"/>
          <p:nvPr/>
        </p:nvSpPr>
        <p:spPr>
          <a:xfrm>
            <a:off x="8386877" y="4983480"/>
            <a:ext cx="3027578" cy="868680"/>
          </a:xfrm>
          <a:prstGeom prst="rect">
            <a:avLst/>
          </a:prstGeom>
          <a:noFill/>
          <a:ln/>
        </p:spPr>
        <p:txBody>
          <a:bodyPr wrap="square" lIns="0" tIns="0" rIns="0" bIns="0" rtlCol="0" anchor="t"/>
          <a:lstStyle/>
          <a:p>
            <a:pPr indent="0" marL="0">
              <a:buNone/>
            </a:pPr>
            <a:r>
              <a:rPr lang="en-US" sz="1400" b="1" dirty="0">
                <a:solidFill>
                  <a:srgbClr val="3A4651"/>
                </a:solidFill>
              </a:rPr>
              <a:t>Example: </a:t>
            </a:r>
            <a:pPr indent="0" marL="0">
              <a:buNone/>
            </a:pPr>
            <a:r>
              <a:rPr lang="en-US" sz="1400" dirty="0">
                <a:solidFill>
                  <a:srgbClr val="3A4651"/>
                </a:solidFill>
              </a:rPr>
              <a:t>A bearing wears and vibration readings creep upward.</a:t>
            </a:r>
            <a:endParaRPr lang="en-US" sz="1400" dirty="0"/>
          </a:p>
        </p:txBody>
      </p:sp>
      <p:sp>
        <p:nvSpPr>
          <p:cNvPr id="26" name="note"/>
          <p:cNvSpPr txBox="1"/>
          <p:nvPr/>
        </p:nvSpPr>
        <p:spPr>
          <a:xfrm>
            <a:off x="548640" y="6053328"/>
            <a:ext cx="11094415" cy="274320"/>
          </a:xfrm>
          <a:prstGeom prst="rect">
            <a:avLst/>
          </a:prstGeom>
          <a:noFill/>
          <a:ln/>
        </p:spPr>
        <p:txBody>
          <a:bodyPr wrap="square" lIns="0" tIns="0" rIns="0" bIns="0" rtlCol="0" anchor="ctr"/>
          <a:lstStyle/>
          <a:p>
            <a:pPr indent="0" marL="0">
              <a:buNone/>
            </a:pPr>
            <a:r>
              <a:rPr lang="en-US" sz="1000" i="1" dirty="0">
                <a:solidFill>
                  <a:srgbClr val="5B6670"/>
                </a:solidFill>
              </a:rPr>
              <a:t>Dashed line = the moment the drift starts. In our synthetic streams gradual and incremental drifts take 500 samples in the fixed setting, 250–1,000 in the varied one.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alarm-marker-57"/>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1 · PROBLEM AND BACKGROUND</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Research question</a:t>
            </a:r>
            <a:endParaRPr lang="en-US" sz="3200" dirty="0"/>
          </a:p>
        </p:txBody>
      </p:sp>
      <p:sp>
        <p:nvSpPr>
          <p:cNvPr id="5" name="card-59"/>
          <p:cNvSpPr/>
          <p:nvPr/>
        </p:nvSpPr>
        <p:spPr>
          <a:xfrm>
            <a:off x="548640" y="1691640"/>
            <a:ext cx="6675120" cy="4160520"/>
          </a:xfrm>
          <a:prstGeom prst="roundRect">
            <a:avLst>
              <a:gd name="adj" fmla="val 1758"/>
            </a:avLst>
          </a:prstGeom>
          <a:solidFill>
            <a:srgbClr val="1B2127"/>
          </a:solidFill>
          <a:ln/>
        </p:spPr>
      </p:sp>
      <p:sp>
        <p:nvSpPr>
          <p:cNvPr id="6" name="rq-text"/>
          <p:cNvSpPr txBox="1"/>
          <p:nvPr/>
        </p:nvSpPr>
        <p:spPr>
          <a:xfrm>
            <a:off x="960120" y="1965960"/>
            <a:ext cx="5852160" cy="3200400"/>
          </a:xfrm>
          <a:prstGeom prst="rect">
            <a:avLst/>
          </a:prstGeom>
          <a:noFill/>
          <a:ln/>
        </p:spPr>
        <p:txBody>
          <a:bodyPr wrap="square" lIns="0" tIns="0" rIns="0" bIns="0" rtlCol="0" anchor="t"/>
          <a:lstStyle/>
          <a:p>
            <a:pPr indent="0" marL="0">
              <a:buNone/>
            </a:pPr>
            <a:r>
              <a:rPr lang="en-US" sz="2100" dirty="0">
                <a:solidFill>
                  <a:srgbClr val="FFFFFF"/>
                </a:solidFill>
                <a:latin typeface="Arial" pitchFamily="34" charset="0"/>
                <a:ea typeface="Arial" pitchFamily="34" charset="-122"/>
                <a:cs typeface="Arial" pitchFamily="34" charset="-120"/>
              </a:rPr>
              <a:t>Which concept drift detection strategy provides the best trade-off between detection accuracy (F1/AUC), detection delay, and computational overhead when applied to real-time industrial (IIoT) data streams, </a:t>
            </a:r>
            <a:pPr indent="0" marL="0">
              <a:buNone/>
            </a:pPr>
            <a:r>
              <a:rPr lang="en-US" sz="2100" b="1" dirty="0">
                <a:solidFill>
                  <a:srgbClr val="8FC0F5"/>
                </a:solidFill>
                <a:latin typeface="Arial" pitchFamily="34" charset="0"/>
                <a:ea typeface="Arial" pitchFamily="34" charset="-122"/>
                <a:cs typeface="Arial" pitchFamily="34" charset="-120"/>
              </a:rPr>
              <a:t>and can this trade-off be improved through an enhanced hybrid detector?</a:t>
            </a:r>
            <a:endParaRPr lang="en-US" sz="2100" dirty="0"/>
          </a:p>
        </p:txBody>
      </p:sp>
      <p:sp>
        <p:nvSpPr>
          <p:cNvPr id="7" name="rq-source"/>
          <p:cNvSpPr txBox="1"/>
          <p:nvPr/>
        </p:nvSpPr>
        <p:spPr>
          <a:xfrm>
            <a:off x="960120" y="5303520"/>
            <a:ext cx="5852160" cy="274320"/>
          </a:xfrm>
          <a:prstGeom prst="rect">
            <a:avLst/>
          </a:prstGeom>
          <a:noFill/>
          <a:ln/>
        </p:spPr>
        <p:txBody>
          <a:bodyPr wrap="square" lIns="0" tIns="0" rIns="0" bIns="0" rtlCol="0" anchor="ctr"/>
          <a:lstStyle/>
          <a:p>
            <a:pPr indent="0" marL="0">
              <a:buNone/>
            </a:pPr>
            <a:r>
              <a:rPr lang="en-US" sz="1200" i="1" dirty="0">
                <a:solidFill>
                  <a:srgbClr val="8A949D"/>
                </a:solidFill>
              </a:rPr>
              <a:t>As stated in our proposal</a:t>
            </a:r>
            <a:endParaRPr lang="en-US" sz="1200" dirty="0"/>
          </a:p>
        </p:txBody>
      </p:sp>
      <p:sp>
        <p:nvSpPr>
          <p:cNvPr id="8" name="icon-bg-62"/>
          <p:cNvSpPr/>
          <p:nvPr/>
        </p:nvSpPr>
        <p:spPr>
          <a:xfrm>
            <a:off x="7680960" y="1783080"/>
            <a:ext cx="685800" cy="685800"/>
          </a:xfrm>
          <a:prstGeom prst="ellipse">
            <a:avLst/>
          </a:prstGeom>
          <a:solidFill>
            <a:srgbClr val="2A78D6"/>
          </a:solidFill>
          <a:ln/>
        </p:spPr>
      </p:sp>
      <p:pic>
        <p:nvPicPr>
          <p:cNvPr id="9" name="icon-63" descr="preencoded.png">    </p:cNvPr>
          <p:cNvPicPr>
            <a:picLocks noChangeAspect="1"/>
          </p:cNvPicPr>
          <p:nvPr/>
        </p:nvPicPr>
        <p:blipFill>
          <a:blip r:embed="rId1"/>
          <a:stretch>
            <a:fillRect/>
          </a:stretch>
        </p:blipFill>
        <p:spPr>
          <a:xfrm>
            <a:off x="7831836" y="1933956"/>
            <a:ext cx="384048" cy="384048"/>
          </a:xfrm>
          <a:prstGeom prst="rect">
            <a:avLst/>
          </a:prstGeom>
        </p:spPr>
      </p:pic>
      <p:sp>
        <p:nvSpPr>
          <p:cNvPr id="10" name="metric-name"/>
          <p:cNvSpPr txBox="1"/>
          <p:nvPr/>
        </p:nvSpPr>
        <p:spPr>
          <a:xfrm>
            <a:off x="8549640" y="1764792"/>
            <a:ext cx="3093415" cy="365760"/>
          </a:xfrm>
          <a:prstGeom prst="rect">
            <a:avLst/>
          </a:prstGeom>
          <a:noFill/>
          <a:ln/>
        </p:spPr>
        <p:txBody>
          <a:bodyPr wrap="square" lIns="0" tIns="0" rIns="0" bIns="0" rtlCol="0" anchor="ctr"/>
          <a:lstStyle/>
          <a:p>
            <a:pPr indent="0" marL="0">
              <a:buNone/>
            </a:pPr>
            <a:r>
              <a:rPr lang="en-US" sz="1900" b="1" dirty="0">
                <a:solidFill>
                  <a:srgbClr val="1B2127"/>
                </a:solidFill>
                <a:latin typeface="Arial" pitchFamily="34" charset="0"/>
                <a:ea typeface="Arial" pitchFamily="34" charset="-122"/>
                <a:cs typeface="Arial" pitchFamily="34" charset="-120"/>
              </a:rPr>
              <a:t>Accuracy (F1)</a:t>
            </a:r>
            <a:endParaRPr lang="en-US" sz="1900" dirty="0"/>
          </a:p>
        </p:txBody>
      </p:sp>
      <p:sp>
        <p:nvSpPr>
          <p:cNvPr id="11" name="metric-desc"/>
          <p:cNvSpPr txBox="1"/>
          <p:nvPr/>
        </p:nvSpPr>
        <p:spPr>
          <a:xfrm>
            <a:off x="8549640" y="2130552"/>
            <a:ext cx="3093415" cy="594360"/>
          </a:xfrm>
          <a:prstGeom prst="rect">
            <a:avLst/>
          </a:prstGeom>
          <a:noFill/>
          <a:ln/>
        </p:spPr>
        <p:txBody>
          <a:bodyPr wrap="square" lIns="0" tIns="0" rIns="0" bIns="0" rtlCol="0" anchor="t"/>
          <a:lstStyle/>
          <a:p>
            <a:pPr indent="0" marL="0">
              <a:buNone/>
            </a:pPr>
            <a:r>
              <a:rPr lang="en-US" sz="1400" dirty="0">
                <a:solidFill>
                  <a:srgbClr val="3A4651"/>
                </a:solidFill>
              </a:rPr>
              <a:t>Do alarms land on real drifts, without false alarms?</a:t>
            </a:r>
            <a:endParaRPr lang="en-US" sz="1400" dirty="0"/>
          </a:p>
        </p:txBody>
      </p:sp>
      <p:sp>
        <p:nvSpPr>
          <p:cNvPr id="12" name="icon-bg-66"/>
          <p:cNvSpPr/>
          <p:nvPr/>
        </p:nvSpPr>
        <p:spPr>
          <a:xfrm>
            <a:off x="7680960" y="3154680"/>
            <a:ext cx="685800" cy="685800"/>
          </a:xfrm>
          <a:prstGeom prst="ellipse">
            <a:avLst/>
          </a:prstGeom>
          <a:solidFill>
            <a:srgbClr val="2A78D6"/>
          </a:solidFill>
          <a:ln/>
        </p:spPr>
      </p:sp>
      <p:pic>
        <p:nvPicPr>
          <p:cNvPr id="13" name="icon-67" descr="preencoded.png">    </p:cNvPr>
          <p:cNvPicPr>
            <a:picLocks noChangeAspect="1"/>
          </p:cNvPicPr>
          <p:nvPr/>
        </p:nvPicPr>
        <p:blipFill>
          <a:blip r:embed="rId2"/>
          <a:stretch>
            <a:fillRect/>
          </a:stretch>
        </p:blipFill>
        <p:spPr>
          <a:xfrm>
            <a:off x="7831836" y="3305556"/>
            <a:ext cx="384048" cy="384048"/>
          </a:xfrm>
          <a:prstGeom prst="rect">
            <a:avLst/>
          </a:prstGeom>
        </p:spPr>
      </p:pic>
      <p:sp>
        <p:nvSpPr>
          <p:cNvPr id="14" name="metric-name"/>
          <p:cNvSpPr txBox="1"/>
          <p:nvPr/>
        </p:nvSpPr>
        <p:spPr>
          <a:xfrm>
            <a:off x="8549640" y="3136392"/>
            <a:ext cx="3093415" cy="365760"/>
          </a:xfrm>
          <a:prstGeom prst="rect">
            <a:avLst/>
          </a:prstGeom>
          <a:noFill/>
          <a:ln/>
        </p:spPr>
        <p:txBody>
          <a:bodyPr wrap="square" lIns="0" tIns="0" rIns="0" bIns="0" rtlCol="0" anchor="ctr"/>
          <a:lstStyle/>
          <a:p>
            <a:pPr indent="0" marL="0">
              <a:buNone/>
            </a:pPr>
            <a:r>
              <a:rPr lang="en-US" sz="1900" b="1" dirty="0">
                <a:solidFill>
                  <a:srgbClr val="1B2127"/>
                </a:solidFill>
                <a:latin typeface="Arial" pitchFamily="34" charset="0"/>
                <a:ea typeface="Arial" pitchFamily="34" charset="-122"/>
                <a:cs typeface="Arial" pitchFamily="34" charset="-120"/>
              </a:rPr>
              <a:t>Delay</a:t>
            </a:r>
            <a:endParaRPr lang="en-US" sz="1900" dirty="0"/>
          </a:p>
        </p:txBody>
      </p:sp>
      <p:sp>
        <p:nvSpPr>
          <p:cNvPr id="15" name="metric-desc"/>
          <p:cNvSpPr txBox="1"/>
          <p:nvPr/>
        </p:nvSpPr>
        <p:spPr>
          <a:xfrm>
            <a:off x="8549640" y="3502152"/>
            <a:ext cx="3093415" cy="594360"/>
          </a:xfrm>
          <a:prstGeom prst="rect">
            <a:avLst/>
          </a:prstGeom>
          <a:noFill/>
          <a:ln/>
        </p:spPr>
        <p:txBody>
          <a:bodyPr wrap="square" lIns="0" tIns="0" rIns="0" bIns="0" rtlCol="0" anchor="t"/>
          <a:lstStyle/>
          <a:p>
            <a:pPr indent="0" marL="0">
              <a:buNone/>
            </a:pPr>
            <a:r>
              <a:rPr lang="en-US" sz="1400" dirty="0">
                <a:solidFill>
                  <a:srgbClr val="3A4651"/>
                </a:solidFill>
              </a:rPr>
              <a:t>How many samples pass between the drift and the alarm?</a:t>
            </a:r>
            <a:endParaRPr lang="en-US" sz="1400" dirty="0"/>
          </a:p>
        </p:txBody>
      </p:sp>
      <p:sp>
        <p:nvSpPr>
          <p:cNvPr id="16" name="icon-bg-70"/>
          <p:cNvSpPr/>
          <p:nvPr/>
        </p:nvSpPr>
        <p:spPr>
          <a:xfrm>
            <a:off x="7680960" y="4526280"/>
            <a:ext cx="685800" cy="685800"/>
          </a:xfrm>
          <a:prstGeom prst="ellipse">
            <a:avLst/>
          </a:prstGeom>
          <a:solidFill>
            <a:srgbClr val="2A78D6"/>
          </a:solidFill>
          <a:ln/>
        </p:spPr>
      </p:sp>
      <p:pic>
        <p:nvPicPr>
          <p:cNvPr id="17" name="icon-71" descr="preencoded.png">    </p:cNvPr>
          <p:cNvPicPr>
            <a:picLocks noChangeAspect="1"/>
          </p:cNvPicPr>
          <p:nvPr/>
        </p:nvPicPr>
        <p:blipFill>
          <a:blip r:embed="rId3"/>
          <a:stretch>
            <a:fillRect/>
          </a:stretch>
        </p:blipFill>
        <p:spPr>
          <a:xfrm>
            <a:off x="7831836" y="4677156"/>
            <a:ext cx="384048" cy="384048"/>
          </a:xfrm>
          <a:prstGeom prst="rect">
            <a:avLst/>
          </a:prstGeom>
        </p:spPr>
      </p:pic>
      <p:sp>
        <p:nvSpPr>
          <p:cNvPr id="18" name="metric-name"/>
          <p:cNvSpPr txBox="1"/>
          <p:nvPr/>
        </p:nvSpPr>
        <p:spPr>
          <a:xfrm>
            <a:off x="8549640" y="4507992"/>
            <a:ext cx="3093415" cy="365760"/>
          </a:xfrm>
          <a:prstGeom prst="rect">
            <a:avLst/>
          </a:prstGeom>
          <a:noFill/>
          <a:ln/>
        </p:spPr>
        <p:txBody>
          <a:bodyPr wrap="square" lIns="0" tIns="0" rIns="0" bIns="0" rtlCol="0" anchor="ctr"/>
          <a:lstStyle/>
          <a:p>
            <a:pPr indent="0" marL="0">
              <a:buNone/>
            </a:pPr>
            <a:r>
              <a:rPr lang="en-US" sz="1900" b="1" dirty="0">
                <a:solidFill>
                  <a:srgbClr val="1B2127"/>
                </a:solidFill>
                <a:latin typeface="Arial" pitchFamily="34" charset="0"/>
                <a:ea typeface="Arial" pitchFamily="34" charset="-122"/>
                <a:cs typeface="Arial" pitchFamily="34" charset="-120"/>
              </a:rPr>
              <a:t>Cost</a:t>
            </a:r>
            <a:endParaRPr lang="en-US" sz="1900" dirty="0"/>
          </a:p>
        </p:txBody>
      </p:sp>
      <p:sp>
        <p:nvSpPr>
          <p:cNvPr id="19" name="metric-desc"/>
          <p:cNvSpPr txBox="1"/>
          <p:nvPr/>
        </p:nvSpPr>
        <p:spPr>
          <a:xfrm>
            <a:off x="8549640" y="4873752"/>
            <a:ext cx="3093415" cy="594360"/>
          </a:xfrm>
          <a:prstGeom prst="rect">
            <a:avLst/>
          </a:prstGeom>
          <a:noFill/>
          <a:ln/>
        </p:spPr>
        <p:txBody>
          <a:bodyPr wrap="square" lIns="0" tIns="0" rIns="0" bIns="0" rtlCol="0" anchor="t"/>
          <a:lstStyle/>
          <a:p>
            <a:pPr indent="0" marL="0">
              <a:buNone/>
            </a:pPr>
            <a:r>
              <a:rPr lang="en-US" sz="1400" dirty="0">
                <a:solidFill>
                  <a:srgbClr val="3A4651"/>
                </a:solidFill>
              </a:rPr>
              <a:t>Microseconds per sample and kilobytes of memory.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alarm-marker-74"/>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1 · PROBLEM AND BACKGROUND</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Three base papers, and what we took from each</a:t>
            </a:r>
            <a:endParaRPr lang="en-US" sz="3200" dirty="0"/>
          </a:p>
        </p:txBody>
      </p:sp>
      <p:sp>
        <p:nvSpPr>
          <p:cNvPr id="5" name="card-76"/>
          <p:cNvSpPr/>
          <p:nvPr/>
        </p:nvSpPr>
        <p:spPr>
          <a:xfrm>
            <a:off x="548640" y="1645920"/>
            <a:ext cx="3484778" cy="3611880"/>
          </a:xfrm>
          <a:prstGeom prst="roundRect">
            <a:avLst>
              <a:gd name="adj" fmla="val 2099"/>
            </a:avLst>
          </a:prstGeom>
          <a:solidFill>
            <a:srgbClr val="EEF2F5"/>
          </a:solidFill>
          <a:ln/>
        </p:spPr>
      </p:sp>
      <p:sp>
        <p:nvSpPr>
          <p:cNvPr id="6" name="icon-bg-77"/>
          <p:cNvSpPr/>
          <p:nvPr/>
        </p:nvSpPr>
        <p:spPr>
          <a:xfrm>
            <a:off x="822960" y="1920240"/>
            <a:ext cx="594360" cy="594360"/>
          </a:xfrm>
          <a:prstGeom prst="ellipse">
            <a:avLst/>
          </a:prstGeom>
          <a:solidFill>
            <a:srgbClr val="1B2127"/>
          </a:solidFill>
          <a:ln/>
        </p:spPr>
      </p:sp>
      <p:pic>
        <p:nvPicPr>
          <p:cNvPr id="7" name="icon-78" descr="preencoded.png">    </p:cNvPr>
          <p:cNvPicPr>
            <a:picLocks noChangeAspect="1"/>
          </p:cNvPicPr>
          <p:nvPr/>
        </p:nvPicPr>
        <p:blipFill>
          <a:blip r:embed="rId1"/>
          <a:stretch>
            <a:fillRect/>
          </a:stretch>
        </p:blipFill>
        <p:spPr>
          <a:xfrm>
            <a:off x="953719" y="2050999"/>
            <a:ext cx="332842" cy="332842"/>
          </a:xfrm>
          <a:prstGeom prst="rect">
            <a:avLst/>
          </a:prstGeom>
        </p:spPr>
      </p:pic>
      <p:sp>
        <p:nvSpPr>
          <p:cNvPr id="8" name="paper-head"/>
          <p:cNvSpPr txBox="1"/>
          <p:nvPr/>
        </p:nvSpPr>
        <p:spPr>
          <a:xfrm>
            <a:off x="822960" y="2651760"/>
            <a:ext cx="2936138" cy="365760"/>
          </a:xfrm>
          <a:prstGeom prst="rect">
            <a:avLst/>
          </a:prstGeom>
          <a:noFill/>
          <a:ln/>
        </p:spPr>
        <p:txBody>
          <a:bodyPr wrap="square" lIns="0" tIns="0" rIns="0" bIns="0" rtlCol="0" anchor="ctr"/>
          <a:lstStyle/>
          <a:p>
            <a:pPr indent="0" marL="0">
              <a:buNone/>
            </a:pPr>
            <a:r>
              <a:rPr lang="en-US" sz="1700" b="1" dirty="0">
                <a:solidFill>
                  <a:srgbClr val="1B2127"/>
                </a:solidFill>
                <a:latin typeface="Arial" pitchFamily="34" charset="0"/>
                <a:ea typeface="Arial" pitchFamily="34" charset="-122"/>
                <a:cs typeface="Arial" pitchFamily="34" charset="-120"/>
              </a:rPr>
              <a:t>Paper 1 · Sakurai et al., 2023</a:t>
            </a:r>
            <a:endParaRPr lang="en-US" sz="1700" dirty="0"/>
          </a:p>
        </p:txBody>
      </p:sp>
      <p:sp>
        <p:nvSpPr>
          <p:cNvPr id="9" name="paper-venue"/>
          <p:cNvSpPr txBox="1"/>
          <p:nvPr/>
        </p:nvSpPr>
        <p:spPr>
          <a:xfrm>
            <a:off x="822960" y="3017520"/>
            <a:ext cx="2936138" cy="274320"/>
          </a:xfrm>
          <a:prstGeom prst="rect">
            <a:avLst/>
          </a:prstGeom>
          <a:noFill/>
          <a:ln/>
        </p:spPr>
        <p:txBody>
          <a:bodyPr wrap="square" lIns="0" tIns="0" rIns="0" bIns="0" rtlCol="0" anchor="ctr"/>
          <a:lstStyle/>
          <a:p>
            <a:pPr indent="0" marL="0">
              <a:buNone/>
            </a:pPr>
            <a:r>
              <a:rPr lang="en-US" sz="1200" i="1" dirty="0">
                <a:solidFill>
                  <a:srgbClr val="5B6670"/>
                </a:solidFill>
              </a:rPr>
              <a:t>Future Internet</a:t>
            </a:r>
            <a:endParaRPr lang="en-US" sz="1200" dirty="0"/>
          </a:p>
        </p:txBody>
      </p:sp>
      <p:sp>
        <p:nvSpPr>
          <p:cNvPr id="10" name="paper-what"/>
          <p:cNvSpPr txBox="1"/>
          <p:nvPr/>
        </p:nvSpPr>
        <p:spPr>
          <a:xfrm>
            <a:off x="822960" y="3383280"/>
            <a:ext cx="2936138" cy="960120"/>
          </a:xfrm>
          <a:prstGeom prst="rect">
            <a:avLst/>
          </a:prstGeom>
          <a:noFill/>
          <a:ln/>
        </p:spPr>
        <p:txBody>
          <a:bodyPr wrap="square" lIns="0" tIns="0" rIns="0" bIns="0" rtlCol="0" anchor="t"/>
          <a:lstStyle/>
          <a:p>
            <a:pPr indent="0" marL="0">
              <a:buNone/>
            </a:pPr>
            <a:r>
              <a:rPr lang="en-US" sz="1400" dirty="0">
                <a:solidFill>
                  <a:srgbClr val="3A4651"/>
                </a:solidFill>
              </a:rPr>
              <a:t>Benchmarks DDM, EDDM, HDDM-A and HDDM-W on synthetic streams with F1, delay, time and a Friedman/Nemenyi test.</a:t>
            </a:r>
            <a:endParaRPr lang="en-US" sz="1400" dirty="0"/>
          </a:p>
        </p:txBody>
      </p:sp>
      <p:sp>
        <p:nvSpPr>
          <p:cNvPr id="11" name="paper-took"/>
          <p:cNvSpPr txBox="1"/>
          <p:nvPr/>
        </p:nvSpPr>
        <p:spPr>
          <a:xfrm>
            <a:off x="822960" y="4389120"/>
            <a:ext cx="2936138" cy="731520"/>
          </a:xfrm>
          <a:prstGeom prst="rect">
            <a:avLst/>
          </a:prstGeom>
          <a:noFill/>
          <a:ln/>
        </p:spPr>
        <p:txBody>
          <a:bodyPr wrap="square" lIns="0" tIns="0" rIns="0" bIns="0" rtlCol="0" anchor="t"/>
          <a:lstStyle/>
          <a:p>
            <a:pPr indent="0" marL="0">
              <a:buNone/>
            </a:pPr>
            <a:r>
              <a:rPr lang="en-US" sz="1400" b="1" dirty="0">
                <a:solidFill>
                  <a:srgbClr val="2A78D6"/>
                </a:solidFill>
              </a:rPr>
              <a:t>We took: </a:t>
            </a:r>
            <a:pPr indent="0" marL="0">
              <a:buNone/>
            </a:pPr>
            <a:r>
              <a:rPr lang="en-US" sz="1400" dirty="0">
                <a:solidFill>
                  <a:srgbClr val="1B2127"/>
                </a:solidFill>
              </a:rPr>
              <a:t>The benchmark protocol we reproduce as our baseline.</a:t>
            </a:r>
            <a:endParaRPr lang="en-US" sz="1400" dirty="0"/>
          </a:p>
        </p:txBody>
      </p:sp>
      <p:sp>
        <p:nvSpPr>
          <p:cNvPr id="12" name="card-83"/>
          <p:cNvSpPr/>
          <p:nvPr/>
        </p:nvSpPr>
        <p:spPr>
          <a:xfrm>
            <a:off x="4353458" y="1645920"/>
            <a:ext cx="3484778" cy="3611880"/>
          </a:xfrm>
          <a:prstGeom prst="roundRect">
            <a:avLst>
              <a:gd name="adj" fmla="val 2099"/>
            </a:avLst>
          </a:prstGeom>
          <a:solidFill>
            <a:srgbClr val="EEF2F5"/>
          </a:solidFill>
          <a:ln/>
        </p:spPr>
      </p:sp>
      <p:sp>
        <p:nvSpPr>
          <p:cNvPr id="13" name="icon-bg-84"/>
          <p:cNvSpPr/>
          <p:nvPr/>
        </p:nvSpPr>
        <p:spPr>
          <a:xfrm>
            <a:off x="4627778" y="1920240"/>
            <a:ext cx="594360" cy="594360"/>
          </a:xfrm>
          <a:prstGeom prst="ellipse">
            <a:avLst/>
          </a:prstGeom>
          <a:solidFill>
            <a:srgbClr val="1B2127"/>
          </a:solidFill>
          <a:ln/>
        </p:spPr>
      </p:sp>
      <p:pic>
        <p:nvPicPr>
          <p:cNvPr id="14" name="icon-85" descr="preencoded.png">    </p:cNvPr>
          <p:cNvPicPr>
            <a:picLocks noChangeAspect="1"/>
          </p:cNvPicPr>
          <p:nvPr/>
        </p:nvPicPr>
        <p:blipFill>
          <a:blip r:embed="rId2"/>
          <a:stretch>
            <a:fillRect/>
          </a:stretch>
        </p:blipFill>
        <p:spPr>
          <a:xfrm>
            <a:off x="4758538" y="2050999"/>
            <a:ext cx="332842" cy="332842"/>
          </a:xfrm>
          <a:prstGeom prst="rect">
            <a:avLst/>
          </a:prstGeom>
        </p:spPr>
      </p:pic>
      <p:sp>
        <p:nvSpPr>
          <p:cNvPr id="15" name="paper-head"/>
          <p:cNvSpPr txBox="1"/>
          <p:nvPr/>
        </p:nvSpPr>
        <p:spPr>
          <a:xfrm>
            <a:off x="4627778" y="2651760"/>
            <a:ext cx="2936138" cy="365760"/>
          </a:xfrm>
          <a:prstGeom prst="rect">
            <a:avLst/>
          </a:prstGeom>
          <a:noFill/>
          <a:ln/>
        </p:spPr>
        <p:txBody>
          <a:bodyPr wrap="square" lIns="0" tIns="0" rIns="0" bIns="0" rtlCol="0" anchor="ctr"/>
          <a:lstStyle/>
          <a:p>
            <a:pPr indent="0" marL="0">
              <a:buNone/>
            </a:pPr>
            <a:r>
              <a:rPr lang="en-US" sz="1700" b="1" dirty="0">
                <a:solidFill>
                  <a:srgbClr val="1B2127"/>
                </a:solidFill>
                <a:latin typeface="Arial" pitchFamily="34" charset="0"/>
                <a:ea typeface="Arial" pitchFamily="34" charset="-122"/>
                <a:cs typeface="Arial" pitchFamily="34" charset="-120"/>
              </a:rPr>
              <a:t>Paper 2 · Yang &amp; Shami, 2023</a:t>
            </a:r>
            <a:endParaRPr lang="en-US" sz="1700" dirty="0"/>
          </a:p>
        </p:txBody>
      </p:sp>
      <p:sp>
        <p:nvSpPr>
          <p:cNvPr id="16" name="paper-venue"/>
          <p:cNvSpPr txBox="1"/>
          <p:nvPr/>
        </p:nvSpPr>
        <p:spPr>
          <a:xfrm>
            <a:off x="4627778" y="3017520"/>
            <a:ext cx="2936138" cy="274320"/>
          </a:xfrm>
          <a:prstGeom prst="rect">
            <a:avLst/>
          </a:prstGeom>
          <a:noFill/>
          <a:ln/>
        </p:spPr>
        <p:txBody>
          <a:bodyPr wrap="square" lIns="0" tIns="0" rIns="0" bIns="0" rtlCol="0" anchor="ctr"/>
          <a:lstStyle/>
          <a:p>
            <a:pPr indent="0" marL="0">
              <a:buNone/>
            </a:pPr>
            <a:r>
              <a:rPr lang="en-US" sz="1200" i="1" dirty="0">
                <a:solidFill>
                  <a:srgbClr val="5B6670"/>
                </a:solidFill>
              </a:rPr>
              <a:t>IEEE Trans. Industrial Informatics (MSANA)</a:t>
            </a:r>
            <a:endParaRPr lang="en-US" sz="1200" dirty="0"/>
          </a:p>
        </p:txBody>
      </p:sp>
      <p:sp>
        <p:nvSpPr>
          <p:cNvPr id="17" name="paper-what"/>
          <p:cNvSpPr txBox="1"/>
          <p:nvPr/>
        </p:nvSpPr>
        <p:spPr>
          <a:xfrm>
            <a:off x="4627778" y="3383280"/>
            <a:ext cx="2936138" cy="960120"/>
          </a:xfrm>
          <a:prstGeom prst="rect">
            <a:avLst/>
          </a:prstGeom>
          <a:noFill/>
          <a:ln/>
        </p:spPr>
        <p:txBody>
          <a:bodyPr wrap="square" lIns="0" tIns="0" rIns="0" bIns="0" rtlCol="0" anchor="t"/>
          <a:lstStyle/>
          <a:p>
            <a:pPr indent="0" marL="0">
              <a:buNone/>
            </a:pPr>
            <a:r>
              <a:rPr lang="en-US" sz="1400" dirty="0">
                <a:solidFill>
                  <a:srgbClr val="3A4651"/>
                </a:solidFill>
              </a:rPr>
              <a:t>An IIoT analytics pipeline where two detectors (ADWIN and EDDM) trigger retraining.</a:t>
            </a:r>
            <a:endParaRPr lang="en-US" sz="1400" dirty="0"/>
          </a:p>
        </p:txBody>
      </p:sp>
      <p:sp>
        <p:nvSpPr>
          <p:cNvPr id="18" name="paper-took"/>
          <p:cNvSpPr txBox="1"/>
          <p:nvPr/>
        </p:nvSpPr>
        <p:spPr>
          <a:xfrm>
            <a:off x="4627778" y="4389120"/>
            <a:ext cx="2936138" cy="731520"/>
          </a:xfrm>
          <a:prstGeom prst="rect">
            <a:avLst/>
          </a:prstGeom>
          <a:noFill/>
          <a:ln/>
        </p:spPr>
        <p:txBody>
          <a:bodyPr wrap="square" lIns="0" tIns="0" rIns="0" bIns="0" rtlCol="0" anchor="t"/>
          <a:lstStyle/>
          <a:p>
            <a:pPr indent="0" marL="0">
              <a:buNone/>
            </a:pPr>
            <a:r>
              <a:rPr lang="en-US" sz="1400" b="1" dirty="0">
                <a:solidFill>
                  <a:srgbClr val="2A78D6"/>
                </a:solidFill>
              </a:rPr>
              <a:t>We took: </a:t>
            </a:r>
            <a:pPr indent="0" marL="0">
              <a:buNone/>
            </a:pPr>
            <a:r>
              <a:rPr lang="en-US" sz="1400" dirty="0">
                <a:solidFill>
                  <a:srgbClr val="1B2127"/>
                </a:solidFill>
              </a:rPr>
              <a:t>Pairing two detectors, and the IoTID20 / CICIDS2017 samples.</a:t>
            </a:r>
            <a:endParaRPr lang="en-US" sz="1400" dirty="0"/>
          </a:p>
        </p:txBody>
      </p:sp>
      <p:sp>
        <p:nvSpPr>
          <p:cNvPr id="19" name="card-90"/>
          <p:cNvSpPr/>
          <p:nvPr/>
        </p:nvSpPr>
        <p:spPr>
          <a:xfrm>
            <a:off x="8158277" y="1645920"/>
            <a:ext cx="3484778" cy="3611880"/>
          </a:xfrm>
          <a:prstGeom prst="roundRect">
            <a:avLst>
              <a:gd name="adj" fmla="val 2099"/>
            </a:avLst>
          </a:prstGeom>
          <a:solidFill>
            <a:srgbClr val="EEF2F5"/>
          </a:solidFill>
          <a:ln/>
        </p:spPr>
      </p:sp>
      <p:sp>
        <p:nvSpPr>
          <p:cNvPr id="20" name="icon-bg-91"/>
          <p:cNvSpPr/>
          <p:nvPr/>
        </p:nvSpPr>
        <p:spPr>
          <a:xfrm>
            <a:off x="8432597" y="1920240"/>
            <a:ext cx="594360" cy="594360"/>
          </a:xfrm>
          <a:prstGeom prst="ellipse">
            <a:avLst/>
          </a:prstGeom>
          <a:solidFill>
            <a:srgbClr val="1B2127"/>
          </a:solidFill>
          <a:ln/>
        </p:spPr>
      </p:sp>
      <p:pic>
        <p:nvPicPr>
          <p:cNvPr id="21" name="icon-92" descr="preencoded.png">    </p:cNvPr>
          <p:cNvPicPr>
            <a:picLocks noChangeAspect="1"/>
          </p:cNvPicPr>
          <p:nvPr/>
        </p:nvPicPr>
        <p:blipFill>
          <a:blip r:embed="rId3"/>
          <a:stretch>
            <a:fillRect/>
          </a:stretch>
        </p:blipFill>
        <p:spPr>
          <a:xfrm>
            <a:off x="8563356" y="2050999"/>
            <a:ext cx="332842" cy="332842"/>
          </a:xfrm>
          <a:prstGeom prst="rect">
            <a:avLst/>
          </a:prstGeom>
        </p:spPr>
      </p:pic>
      <p:sp>
        <p:nvSpPr>
          <p:cNvPr id="22" name="paper-head"/>
          <p:cNvSpPr txBox="1"/>
          <p:nvPr/>
        </p:nvSpPr>
        <p:spPr>
          <a:xfrm>
            <a:off x="8432597" y="2651760"/>
            <a:ext cx="2936138" cy="365760"/>
          </a:xfrm>
          <a:prstGeom prst="rect">
            <a:avLst/>
          </a:prstGeom>
          <a:noFill/>
          <a:ln/>
        </p:spPr>
        <p:txBody>
          <a:bodyPr wrap="square" lIns="0" tIns="0" rIns="0" bIns="0" rtlCol="0" anchor="ctr"/>
          <a:lstStyle/>
          <a:p>
            <a:pPr indent="0" marL="0">
              <a:buNone/>
            </a:pPr>
            <a:r>
              <a:rPr lang="en-US" sz="1700" b="1" dirty="0">
                <a:solidFill>
                  <a:srgbClr val="1B2127"/>
                </a:solidFill>
                <a:latin typeface="Arial" pitchFamily="34" charset="0"/>
                <a:ea typeface="Arial" pitchFamily="34" charset="-122"/>
                <a:cs typeface="Arial" pitchFamily="34" charset="-120"/>
              </a:rPr>
              <a:t>Paper 3 · Yang &amp; Shami, 2021</a:t>
            </a:r>
            <a:endParaRPr lang="en-US" sz="1700" dirty="0"/>
          </a:p>
        </p:txBody>
      </p:sp>
      <p:sp>
        <p:nvSpPr>
          <p:cNvPr id="23" name="paper-venue"/>
          <p:cNvSpPr txBox="1"/>
          <p:nvPr/>
        </p:nvSpPr>
        <p:spPr>
          <a:xfrm>
            <a:off x="8432597" y="3017520"/>
            <a:ext cx="2936138" cy="274320"/>
          </a:xfrm>
          <a:prstGeom prst="rect">
            <a:avLst/>
          </a:prstGeom>
          <a:noFill/>
          <a:ln/>
        </p:spPr>
        <p:txBody>
          <a:bodyPr wrap="square" lIns="0" tIns="0" rIns="0" bIns="0" rtlCol="0" anchor="ctr"/>
          <a:lstStyle/>
          <a:p>
            <a:pPr indent="0" marL="0">
              <a:buNone/>
            </a:pPr>
            <a:r>
              <a:rPr lang="en-US" sz="1200" i="1" dirty="0">
                <a:solidFill>
                  <a:srgbClr val="5B6670"/>
                </a:solidFill>
              </a:rPr>
              <a:t>IEEE Internet of Things Magazine</a:t>
            </a:r>
            <a:endParaRPr lang="en-US" sz="1200" dirty="0"/>
          </a:p>
        </p:txBody>
      </p:sp>
      <p:sp>
        <p:nvSpPr>
          <p:cNvPr id="24" name="paper-what"/>
          <p:cNvSpPr txBox="1"/>
          <p:nvPr/>
        </p:nvSpPr>
        <p:spPr>
          <a:xfrm>
            <a:off x="8432597" y="3383280"/>
            <a:ext cx="2936138" cy="960120"/>
          </a:xfrm>
          <a:prstGeom prst="rect">
            <a:avLst/>
          </a:prstGeom>
          <a:noFill/>
          <a:ln/>
        </p:spPr>
        <p:txBody>
          <a:bodyPr wrap="square" lIns="0" tIns="0" rIns="0" bIns="0" rtlCol="0" anchor="t"/>
          <a:lstStyle/>
          <a:p>
            <a:pPr indent="0" marL="0">
              <a:buNone/>
            </a:pPr>
            <a:r>
              <a:rPr lang="en-US" sz="1400" dirty="0">
                <a:solidFill>
                  <a:srgbClr val="3A4651"/>
                </a:solidFill>
              </a:rPr>
              <a:t>Lightweight LightGBM with adaptive windowing; a static model collapses after drift.</a:t>
            </a:r>
            <a:endParaRPr lang="en-US" sz="1400" dirty="0"/>
          </a:p>
        </p:txBody>
      </p:sp>
      <p:sp>
        <p:nvSpPr>
          <p:cNvPr id="25" name="paper-took"/>
          <p:cNvSpPr txBox="1"/>
          <p:nvPr/>
        </p:nvSpPr>
        <p:spPr>
          <a:xfrm>
            <a:off x="8432597" y="4389120"/>
            <a:ext cx="2936138" cy="731520"/>
          </a:xfrm>
          <a:prstGeom prst="rect">
            <a:avLst/>
          </a:prstGeom>
          <a:noFill/>
          <a:ln/>
        </p:spPr>
        <p:txBody>
          <a:bodyPr wrap="square" lIns="0" tIns="0" rIns="0" bIns="0" rtlCol="0" anchor="t"/>
          <a:lstStyle/>
          <a:p>
            <a:pPr indent="0" marL="0">
              <a:buNone/>
            </a:pPr>
            <a:r>
              <a:rPr lang="en-US" sz="1400" b="1" dirty="0">
                <a:solidFill>
                  <a:srgbClr val="2A78D6"/>
                </a:solidFill>
              </a:rPr>
              <a:t>We took: </a:t>
            </a:r>
            <a:pPr indent="0" marL="0">
              <a:buNone/>
            </a:pPr>
            <a:r>
              <a:rPr lang="en-US" sz="1400" dirty="0">
                <a:solidFill>
                  <a:srgbClr val="1B2127"/>
                </a:solidFill>
              </a:rPr>
              <a:t>Detect, then retrain a LightGBM model.</a:t>
            </a:r>
            <a:endParaRPr lang="en-US" sz="1400" dirty="0"/>
          </a:p>
        </p:txBody>
      </p:sp>
      <p:sp>
        <p:nvSpPr>
          <p:cNvPr id="26" name="icon-bg-97"/>
          <p:cNvSpPr/>
          <p:nvPr/>
        </p:nvSpPr>
        <p:spPr>
          <a:xfrm>
            <a:off x="548640" y="5486400"/>
            <a:ext cx="457200" cy="457200"/>
          </a:xfrm>
          <a:prstGeom prst="ellipse">
            <a:avLst/>
          </a:prstGeom>
          <a:solidFill>
            <a:srgbClr val="EDA100"/>
          </a:solidFill>
          <a:ln/>
        </p:spPr>
      </p:sp>
      <p:pic>
        <p:nvPicPr>
          <p:cNvPr id="27" name="icon-98" descr="preencoded.png">    </p:cNvPr>
          <p:cNvPicPr>
            <a:picLocks noChangeAspect="1"/>
          </p:cNvPicPr>
          <p:nvPr/>
        </p:nvPicPr>
        <p:blipFill>
          <a:blip r:embed="rId4"/>
          <a:stretch>
            <a:fillRect/>
          </a:stretch>
        </p:blipFill>
        <p:spPr>
          <a:xfrm>
            <a:off x="649224" y="5586984"/>
            <a:ext cx="256032" cy="256032"/>
          </a:xfrm>
          <a:prstGeom prst="rect">
            <a:avLst/>
          </a:prstGeom>
        </p:spPr>
      </p:pic>
      <p:sp>
        <p:nvSpPr>
          <p:cNvPr id="28" name="gap"/>
          <p:cNvSpPr txBox="1"/>
          <p:nvPr/>
        </p:nvSpPr>
        <p:spPr>
          <a:xfrm>
            <a:off x="1188720" y="5440680"/>
            <a:ext cx="10454335" cy="548640"/>
          </a:xfrm>
          <a:prstGeom prst="rect">
            <a:avLst/>
          </a:prstGeom>
          <a:noFill/>
          <a:ln/>
        </p:spPr>
        <p:txBody>
          <a:bodyPr wrap="square" lIns="0" tIns="0" rIns="0" bIns="0" rtlCol="0" anchor="ctr"/>
          <a:lstStyle/>
          <a:p>
            <a:pPr indent="0" marL="0">
              <a:buNone/>
            </a:pPr>
            <a:r>
              <a:rPr lang="en-US" sz="1500" b="1" dirty="0">
                <a:solidFill>
                  <a:srgbClr val="1B2127"/>
                </a:solidFill>
              </a:rPr>
              <a:t>Gap: </a:t>
            </a:r>
            <a:pPr indent="0" marL="0">
              <a:buNone/>
            </a:pPr>
            <a:r>
              <a:rPr lang="en-US" sz="1500" dirty="0">
                <a:solidFill>
                  <a:srgbClr val="1B2127"/>
                </a:solidFill>
              </a:rPr>
              <a:t>papers 2 and 3 use detectors inside larger pipelines, but nobody isolates the rule that combines two detectors. We test that rule directly.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alarm-marker-100"/>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2 · SYSTEM AND METHOD</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System architecture</a:t>
            </a:r>
            <a:endParaRPr lang="en-US" sz="3200" dirty="0"/>
          </a:p>
        </p:txBody>
      </p:sp>
      <p:sp>
        <p:nvSpPr>
          <p:cNvPr id="5" name="arch-box-102"/>
          <p:cNvSpPr/>
          <p:nvPr/>
        </p:nvSpPr>
        <p:spPr>
          <a:xfrm>
            <a:off x="548640" y="2331720"/>
            <a:ext cx="1828800" cy="1325880"/>
          </a:xfrm>
          <a:prstGeom prst="roundRect">
            <a:avLst>
              <a:gd name="adj" fmla="val 5517"/>
            </a:avLst>
          </a:prstGeom>
          <a:solidFill>
            <a:srgbClr val="EEF2F5"/>
          </a:solidFill>
          <a:ln/>
        </p:spPr>
      </p:sp>
      <p:sp>
        <p:nvSpPr>
          <p:cNvPr id="6" name="icon-bg-103"/>
          <p:cNvSpPr/>
          <p:nvPr/>
        </p:nvSpPr>
        <p:spPr>
          <a:xfrm>
            <a:off x="713232" y="2514600"/>
            <a:ext cx="457200" cy="457200"/>
          </a:xfrm>
          <a:prstGeom prst="ellipse">
            <a:avLst/>
          </a:prstGeom>
          <a:solidFill>
            <a:srgbClr val="1B2127"/>
          </a:solidFill>
          <a:ln/>
        </p:spPr>
      </p:sp>
      <p:pic>
        <p:nvPicPr>
          <p:cNvPr id="7" name="icon-104" descr="preencoded.png">    </p:cNvPr>
          <p:cNvPicPr>
            <a:picLocks noChangeAspect="1"/>
          </p:cNvPicPr>
          <p:nvPr/>
        </p:nvPicPr>
        <p:blipFill>
          <a:blip r:embed="rId1"/>
          <a:stretch>
            <a:fillRect/>
          </a:stretch>
        </p:blipFill>
        <p:spPr>
          <a:xfrm>
            <a:off x="813816" y="2615184"/>
            <a:ext cx="256032" cy="256032"/>
          </a:xfrm>
          <a:prstGeom prst="rect">
            <a:avLst/>
          </a:prstGeom>
        </p:spPr>
      </p:pic>
      <p:sp>
        <p:nvSpPr>
          <p:cNvPr id="8" name="arch-head"/>
          <p:cNvSpPr txBox="1"/>
          <p:nvPr/>
        </p:nvSpPr>
        <p:spPr>
          <a:xfrm>
            <a:off x="1261872" y="2514600"/>
            <a:ext cx="1005840" cy="457200"/>
          </a:xfrm>
          <a:prstGeom prst="rect">
            <a:avLst/>
          </a:prstGeom>
          <a:noFill/>
          <a:ln/>
        </p:spPr>
        <p:txBody>
          <a:bodyPr wrap="square" lIns="0" tIns="0" rIns="0" bIns="0" rtlCol="0" anchor="ctr"/>
          <a:lstStyle/>
          <a:p>
            <a:pPr indent="0" marL="0">
              <a:buNone/>
            </a:pPr>
            <a:r>
              <a:rPr lang="en-US" sz="1500" b="1" dirty="0">
                <a:solidFill>
                  <a:srgbClr val="1B2127"/>
                </a:solidFill>
                <a:latin typeface="Arial" pitchFamily="34" charset="0"/>
                <a:ea typeface="Arial" pitchFamily="34" charset="-122"/>
                <a:cs typeface="Arial" pitchFamily="34" charset="-120"/>
              </a:rPr>
              <a:t>Producer</a:t>
            </a:r>
            <a:endParaRPr lang="en-US" sz="1500" dirty="0"/>
          </a:p>
        </p:txBody>
      </p:sp>
      <p:sp>
        <p:nvSpPr>
          <p:cNvPr id="9" name="arch-sub"/>
          <p:cNvSpPr txBox="1"/>
          <p:nvPr/>
        </p:nvSpPr>
        <p:spPr>
          <a:xfrm>
            <a:off x="713232" y="3044952"/>
            <a:ext cx="1554480" cy="548640"/>
          </a:xfrm>
          <a:prstGeom prst="rect">
            <a:avLst/>
          </a:prstGeom>
          <a:noFill/>
          <a:ln/>
        </p:spPr>
        <p:txBody>
          <a:bodyPr wrap="square" lIns="0" tIns="0" rIns="0" bIns="0" rtlCol="0" anchor="t"/>
          <a:lstStyle/>
          <a:p>
            <a:pPr indent="0" marL="0">
              <a:buNone/>
            </a:pPr>
            <a:r>
              <a:rPr lang="en-US" sz="1200" dirty="0">
                <a:solidFill>
                  <a:srgbClr val="3A4651"/>
                </a:solidFill>
              </a:rPr>
              <a:t>replays the IIoT sensor stream with labels</a:t>
            </a:r>
            <a:endParaRPr lang="en-US" sz="1200" dirty="0"/>
          </a:p>
        </p:txBody>
      </p:sp>
      <p:sp>
        <p:nvSpPr>
          <p:cNvPr id="10" name="arch-box-107"/>
          <p:cNvSpPr/>
          <p:nvPr/>
        </p:nvSpPr>
        <p:spPr>
          <a:xfrm>
            <a:off x="2697480" y="2331720"/>
            <a:ext cx="1828800" cy="1325880"/>
          </a:xfrm>
          <a:prstGeom prst="roundRect">
            <a:avLst>
              <a:gd name="adj" fmla="val 5517"/>
            </a:avLst>
          </a:prstGeom>
          <a:solidFill>
            <a:srgbClr val="EEF2F5"/>
          </a:solidFill>
          <a:ln/>
        </p:spPr>
      </p:sp>
      <p:sp>
        <p:nvSpPr>
          <p:cNvPr id="11" name="icon-bg-108"/>
          <p:cNvSpPr/>
          <p:nvPr/>
        </p:nvSpPr>
        <p:spPr>
          <a:xfrm>
            <a:off x="2862072" y="2514600"/>
            <a:ext cx="457200" cy="457200"/>
          </a:xfrm>
          <a:prstGeom prst="ellipse">
            <a:avLst/>
          </a:prstGeom>
          <a:solidFill>
            <a:srgbClr val="1B2127"/>
          </a:solidFill>
          <a:ln/>
        </p:spPr>
      </p:sp>
      <p:pic>
        <p:nvPicPr>
          <p:cNvPr id="12" name="icon-109" descr="preencoded.png">    </p:cNvPr>
          <p:cNvPicPr>
            <a:picLocks noChangeAspect="1"/>
          </p:cNvPicPr>
          <p:nvPr/>
        </p:nvPicPr>
        <p:blipFill>
          <a:blip r:embed="rId2"/>
          <a:stretch>
            <a:fillRect/>
          </a:stretch>
        </p:blipFill>
        <p:spPr>
          <a:xfrm>
            <a:off x="2962656" y="2615184"/>
            <a:ext cx="256032" cy="256032"/>
          </a:xfrm>
          <a:prstGeom prst="rect">
            <a:avLst/>
          </a:prstGeom>
        </p:spPr>
      </p:pic>
      <p:sp>
        <p:nvSpPr>
          <p:cNvPr id="13" name="arch-head"/>
          <p:cNvSpPr txBox="1"/>
          <p:nvPr/>
        </p:nvSpPr>
        <p:spPr>
          <a:xfrm>
            <a:off x="3410712" y="2514600"/>
            <a:ext cx="1005840" cy="457200"/>
          </a:xfrm>
          <a:prstGeom prst="rect">
            <a:avLst/>
          </a:prstGeom>
          <a:noFill/>
          <a:ln/>
        </p:spPr>
        <p:txBody>
          <a:bodyPr wrap="square" lIns="0" tIns="0" rIns="0" bIns="0" rtlCol="0" anchor="ctr"/>
          <a:lstStyle/>
          <a:p>
            <a:pPr indent="0" marL="0">
              <a:buNone/>
            </a:pPr>
            <a:r>
              <a:rPr lang="en-US" sz="1500" b="1" dirty="0">
                <a:solidFill>
                  <a:srgbClr val="1B2127"/>
                </a:solidFill>
                <a:latin typeface="Arial" pitchFamily="34" charset="0"/>
                <a:ea typeface="Arial" pitchFamily="34" charset="-122"/>
                <a:cs typeface="Arial" pitchFamily="34" charset="-120"/>
              </a:rPr>
              <a:t>Apache Kafka</a:t>
            </a:r>
            <a:endParaRPr lang="en-US" sz="1500" dirty="0"/>
          </a:p>
        </p:txBody>
      </p:sp>
      <p:sp>
        <p:nvSpPr>
          <p:cNvPr id="14" name="arch-sub"/>
          <p:cNvSpPr txBox="1"/>
          <p:nvPr/>
        </p:nvSpPr>
        <p:spPr>
          <a:xfrm>
            <a:off x="2862072" y="3044952"/>
            <a:ext cx="1554480" cy="548640"/>
          </a:xfrm>
          <a:prstGeom prst="rect">
            <a:avLst/>
          </a:prstGeom>
          <a:noFill/>
          <a:ln/>
        </p:spPr>
        <p:txBody>
          <a:bodyPr wrap="square" lIns="0" tIns="0" rIns="0" bIns="0" rtlCol="0" anchor="t"/>
          <a:lstStyle/>
          <a:p>
            <a:pPr indent="0" marL="0">
              <a:buNone/>
            </a:pPr>
            <a:r>
              <a:rPr lang="en-US" sz="1200" dirty="0">
                <a:solidFill>
                  <a:srgbClr val="3A4651"/>
                </a:solidFill>
              </a:rPr>
              <a:t>topic "sensors": a durable, replayable log</a:t>
            </a:r>
            <a:endParaRPr lang="en-US" sz="1200" dirty="0"/>
          </a:p>
        </p:txBody>
      </p:sp>
      <p:sp>
        <p:nvSpPr>
          <p:cNvPr id="15" name="arch-box-112"/>
          <p:cNvSpPr/>
          <p:nvPr/>
        </p:nvSpPr>
        <p:spPr>
          <a:xfrm>
            <a:off x="4846320" y="2331720"/>
            <a:ext cx="2743200" cy="1325880"/>
          </a:xfrm>
          <a:prstGeom prst="roundRect">
            <a:avLst>
              <a:gd name="adj" fmla="val 5517"/>
            </a:avLst>
          </a:prstGeom>
          <a:solidFill>
            <a:srgbClr val="DCE8F7"/>
          </a:solidFill>
          <a:ln w="28575">
            <a:solidFill>
              <a:srgbClr val="2A78D6"/>
            </a:solidFill>
            <a:prstDash val="solid"/>
          </a:ln>
        </p:spPr>
      </p:sp>
      <p:sp>
        <p:nvSpPr>
          <p:cNvPr id="16" name="icon-bg-113"/>
          <p:cNvSpPr/>
          <p:nvPr/>
        </p:nvSpPr>
        <p:spPr>
          <a:xfrm>
            <a:off x="5010912" y="2514600"/>
            <a:ext cx="457200" cy="457200"/>
          </a:xfrm>
          <a:prstGeom prst="ellipse">
            <a:avLst/>
          </a:prstGeom>
          <a:solidFill>
            <a:srgbClr val="1B2127"/>
          </a:solidFill>
          <a:ln/>
        </p:spPr>
      </p:sp>
      <p:pic>
        <p:nvPicPr>
          <p:cNvPr id="17" name="icon-114" descr="preencoded.png">    </p:cNvPr>
          <p:cNvPicPr>
            <a:picLocks noChangeAspect="1"/>
          </p:cNvPicPr>
          <p:nvPr/>
        </p:nvPicPr>
        <p:blipFill>
          <a:blip r:embed="rId3"/>
          <a:stretch>
            <a:fillRect/>
          </a:stretch>
        </p:blipFill>
        <p:spPr>
          <a:xfrm>
            <a:off x="5111496" y="2615184"/>
            <a:ext cx="256032" cy="256032"/>
          </a:xfrm>
          <a:prstGeom prst="rect">
            <a:avLst/>
          </a:prstGeom>
        </p:spPr>
      </p:pic>
      <p:sp>
        <p:nvSpPr>
          <p:cNvPr id="18" name="arch-head"/>
          <p:cNvSpPr txBox="1"/>
          <p:nvPr/>
        </p:nvSpPr>
        <p:spPr>
          <a:xfrm>
            <a:off x="5559552" y="2514600"/>
            <a:ext cx="1920240" cy="457200"/>
          </a:xfrm>
          <a:prstGeom prst="rect">
            <a:avLst/>
          </a:prstGeom>
          <a:noFill/>
          <a:ln/>
        </p:spPr>
        <p:txBody>
          <a:bodyPr wrap="square" lIns="0" tIns="0" rIns="0" bIns="0" rtlCol="0" anchor="ctr"/>
          <a:lstStyle/>
          <a:p>
            <a:pPr indent="0" marL="0">
              <a:buNone/>
            </a:pPr>
            <a:r>
              <a:rPr lang="en-US" sz="1500" b="1" dirty="0">
                <a:solidFill>
                  <a:srgbClr val="1B2127"/>
                </a:solidFill>
                <a:latin typeface="Arial" pitchFamily="34" charset="0"/>
                <a:ea typeface="Arial" pitchFamily="34" charset="-122"/>
                <a:cs typeface="Arial" pitchFamily="34" charset="-120"/>
              </a:rPr>
              <a:t>Online scorer</a:t>
            </a:r>
            <a:endParaRPr lang="en-US" sz="1500" dirty="0"/>
          </a:p>
        </p:txBody>
      </p:sp>
      <p:sp>
        <p:nvSpPr>
          <p:cNvPr id="19" name="arch-sub"/>
          <p:cNvSpPr txBox="1"/>
          <p:nvPr/>
        </p:nvSpPr>
        <p:spPr>
          <a:xfrm>
            <a:off x="5010912" y="3044952"/>
            <a:ext cx="2468880" cy="548640"/>
          </a:xfrm>
          <a:prstGeom prst="rect">
            <a:avLst/>
          </a:prstGeom>
          <a:noFill/>
          <a:ln/>
        </p:spPr>
        <p:txBody>
          <a:bodyPr wrap="square" lIns="0" tIns="0" rIns="0" bIns="0" rtlCol="0" anchor="t"/>
          <a:lstStyle/>
          <a:p>
            <a:pPr indent="0" marL="0">
              <a:buNone/>
            </a:pPr>
            <a:r>
              <a:rPr lang="en-US" sz="1200" dirty="0">
                <a:solidFill>
                  <a:srgbClr val="3A4651"/>
                </a:solidFill>
              </a:rPr>
              <a:t>River Hoeffding Adaptive Tree + drift detector (our hybrid)</a:t>
            </a:r>
            <a:endParaRPr lang="en-US" sz="1200" dirty="0"/>
          </a:p>
        </p:txBody>
      </p:sp>
      <p:sp>
        <p:nvSpPr>
          <p:cNvPr id="20" name="arch-box-117"/>
          <p:cNvSpPr/>
          <p:nvPr/>
        </p:nvSpPr>
        <p:spPr>
          <a:xfrm>
            <a:off x="8092440" y="2331720"/>
            <a:ext cx="1645920" cy="1325880"/>
          </a:xfrm>
          <a:prstGeom prst="roundRect">
            <a:avLst>
              <a:gd name="adj" fmla="val 5517"/>
            </a:avLst>
          </a:prstGeom>
          <a:solidFill>
            <a:srgbClr val="EEF2F5"/>
          </a:solidFill>
          <a:ln/>
        </p:spPr>
      </p:sp>
      <p:sp>
        <p:nvSpPr>
          <p:cNvPr id="21" name="icon-bg-118"/>
          <p:cNvSpPr/>
          <p:nvPr/>
        </p:nvSpPr>
        <p:spPr>
          <a:xfrm>
            <a:off x="8257032" y="2514600"/>
            <a:ext cx="457200" cy="457200"/>
          </a:xfrm>
          <a:prstGeom prst="ellipse">
            <a:avLst/>
          </a:prstGeom>
          <a:solidFill>
            <a:srgbClr val="1B2127"/>
          </a:solidFill>
          <a:ln/>
        </p:spPr>
      </p:sp>
      <p:pic>
        <p:nvPicPr>
          <p:cNvPr id="22" name="icon-119" descr="preencoded.png">    </p:cNvPr>
          <p:cNvPicPr>
            <a:picLocks noChangeAspect="1"/>
          </p:cNvPicPr>
          <p:nvPr/>
        </p:nvPicPr>
        <p:blipFill>
          <a:blip r:embed="rId4"/>
          <a:stretch>
            <a:fillRect/>
          </a:stretch>
        </p:blipFill>
        <p:spPr>
          <a:xfrm>
            <a:off x="8357616" y="2615184"/>
            <a:ext cx="256032" cy="256032"/>
          </a:xfrm>
          <a:prstGeom prst="rect">
            <a:avLst/>
          </a:prstGeom>
        </p:spPr>
      </p:pic>
      <p:sp>
        <p:nvSpPr>
          <p:cNvPr id="23" name="arch-head"/>
          <p:cNvSpPr txBox="1"/>
          <p:nvPr/>
        </p:nvSpPr>
        <p:spPr>
          <a:xfrm>
            <a:off x="8805672" y="2514600"/>
            <a:ext cx="822960" cy="457200"/>
          </a:xfrm>
          <a:prstGeom prst="rect">
            <a:avLst/>
          </a:prstGeom>
          <a:noFill/>
          <a:ln/>
        </p:spPr>
        <p:txBody>
          <a:bodyPr wrap="square" lIns="0" tIns="0" rIns="0" bIns="0" rtlCol="0" anchor="ctr"/>
          <a:lstStyle/>
          <a:p>
            <a:pPr indent="0" marL="0">
              <a:buNone/>
            </a:pPr>
            <a:r>
              <a:rPr lang="en-US" sz="1500" b="1" dirty="0">
                <a:solidFill>
                  <a:srgbClr val="1B2127"/>
                </a:solidFill>
                <a:latin typeface="Arial" pitchFamily="34" charset="0"/>
                <a:ea typeface="Arial" pitchFamily="34" charset="-122"/>
                <a:cs typeface="Arial" pitchFamily="34" charset="-120"/>
              </a:rPr>
              <a:t>InfluxDB</a:t>
            </a:r>
            <a:endParaRPr lang="en-US" sz="1500" dirty="0"/>
          </a:p>
        </p:txBody>
      </p:sp>
      <p:sp>
        <p:nvSpPr>
          <p:cNvPr id="24" name="arch-sub"/>
          <p:cNvSpPr txBox="1"/>
          <p:nvPr/>
        </p:nvSpPr>
        <p:spPr>
          <a:xfrm>
            <a:off x="8257032" y="3044952"/>
            <a:ext cx="1371600" cy="548640"/>
          </a:xfrm>
          <a:prstGeom prst="rect">
            <a:avLst/>
          </a:prstGeom>
          <a:noFill/>
          <a:ln/>
        </p:spPr>
        <p:txBody>
          <a:bodyPr wrap="square" lIns="0" tIns="0" rIns="0" bIns="0" rtlCol="0" anchor="t"/>
          <a:lstStyle/>
          <a:p>
            <a:pPr indent="0" marL="0">
              <a:buNone/>
            </a:pPr>
            <a:r>
              <a:rPr lang="en-US" sz="1200" dirty="0">
                <a:solidFill>
                  <a:srgbClr val="3A4651"/>
                </a:solidFill>
              </a:rPr>
              <a:t>error, alarm, latency per record</a:t>
            </a:r>
            <a:endParaRPr lang="en-US" sz="1200" dirty="0"/>
          </a:p>
        </p:txBody>
      </p:sp>
      <p:sp>
        <p:nvSpPr>
          <p:cNvPr id="25" name="arch-box-122"/>
          <p:cNvSpPr/>
          <p:nvPr/>
        </p:nvSpPr>
        <p:spPr>
          <a:xfrm>
            <a:off x="10058400" y="2331720"/>
            <a:ext cx="1581912" cy="1325880"/>
          </a:xfrm>
          <a:prstGeom prst="roundRect">
            <a:avLst>
              <a:gd name="adj" fmla="val 5517"/>
            </a:avLst>
          </a:prstGeom>
          <a:solidFill>
            <a:srgbClr val="EEF2F5"/>
          </a:solidFill>
          <a:ln/>
        </p:spPr>
      </p:sp>
      <p:sp>
        <p:nvSpPr>
          <p:cNvPr id="26" name="icon-bg-123"/>
          <p:cNvSpPr/>
          <p:nvPr/>
        </p:nvSpPr>
        <p:spPr>
          <a:xfrm>
            <a:off x="10222992" y="2514600"/>
            <a:ext cx="457200" cy="457200"/>
          </a:xfrm>
          <a:prstGeom prst="ellipse">
            <a:avLst/>
          </a:prstGeom>
          <a:solidFill>
            <a:srgbClr val="1B2127"/>
          </a:solidFill>
          <a:ln/>
        </p:spPr>
      </p:sp>
      <p:pic>
        <p:nvPicPr>
          <p:cNvPr id="27" name="icon-124" descr="preencoded.png">    </p:cNvPr>
          <p:cNvPicPr>
            <a:picLocks noChangeAspect="1"/>
          </p:cNvPicPr>
          <p:nvPr/>
        </p:nvPicPr>
        <p:blipFill>
          <a:blip r:embed="rId5"/>
          <a:stretch>
            <a:fillRect/>
          </a:stretch>
        </p:blipFill>
        <p:spPr>
          <a:xfrm>
            <a:off x="10323576" y="2615184"/>
            <a:ext cx="256032" cy="256032"/>
          </a:xfrm>
          <a:prstGeom prst="rect">
            <a:avLst/>
          </a:prstGeom>
        </p:spPr>
      </p:pic>
      <p:sp>
        <p:nvSpPr>
          <p:cNvPr id="28" name="arch-head"/>
          <p:cNvSpPr txBox="1"/>
          <p:nvPr/>
        </p:nvSpPr>
        <p:spPr>
          <a:xfrm>
            <a:off x="10771632" y="2514600"/>
            <a:ext cx="758952" cy="457200"/>
          </a:xfrm>
          <a:prstGeom prst="rect">
            <a:avLst/>
          </a:prstGeom>
          <a:noFill/>
          <a:ln/>
        </p:spPr>
        <p:txBody>
          <a:bodyPr wrap="square" lIns="0" tIns="0" rIns="0" bIns="0" rtlCol="0" anchor="ctr"/>
          <a:lstStyle/>
          <a:p>
            <a:pPr indent="0" marL="0">
              <a:buNone/>
            </a:pPr>
            <a:r>
              <a:rPr lang="en-US" sz="1500" b="1" dirty="0">
                <a:solidFill>
                  <a:srgbClr val="1B2127"/>
                </a:solidFill>
                <a:latin typeface="Arial" pitchFamily="34" charset="0"/>
                <a:ea typeface="Arial" pitchFamily="34" charset="-122"/>
                <a:cs typeface="Arial" pitchFamily="34" charset="-120"/>
              </a:rPr>
              <a:t>Grafana</a:t>
            </a:r>
            <a:endParaRPr lang="en-US" sz="1500" dirty="0"/>
          </a:p>
        </p:txBody>
      </p:sp>
      <p:sp>
        <p:nvSpPr>
          <p:cNvPr id="29" name="arch-sub"/>
          <p:cNvSpPr txBox="1"/>
          <p:nvPr/>
        </p:nvSpPr>
        <p:spPr>
          <a:xfrm>
            <a:off x="10222992" y="3044952"/>
            <a:ext cx="1307592" cy="548640"/>
          </a:xfrm>
          <a:prstGeom prst="rect">
            <a:avLst/>
          </a:prstGeom>
          <a:noFill/>
          <a:ln/>
        </p:spPr>
        <p:txBody>
          <a:bodyPr wrap="square" lIns="0" tIns="0" rIns="0" bIns="0" rtlCol="0" anchor="t"/>
          <a:lstStyle/>
          <a:p>
            <a:pPr indent="0" marL="0">
              <a:buNone/>
            </a:pPr>
            <a:r>
              <a:rPr lang="en-US" sz="1200" dirty="0">
                <a:solidFill>
                  <a:srgbClr val="3A4651"/>
                </a:solidFill>
              </a:rPr>
              <a:t>live dashboard, 5 s refresh</a:t>
            </a:r>
            <a:endParaRPr lang="en-US" sz="1200" dirty="0"/>
          </a:p>
        </p:txBody>
      </p:sp>
      <p:sp>
        <p:nvSpPr>
          <p:cNvPr id="30" name="arrow-127"/>
          <p:cNvSpPr/>
          <p:nvPr/>
        </p:nvSpPr>
        <p:spPr>
          <a:xfrm>
            <a:off x="2414016" y="2994660"/>
            <a:ext cx="246888" cy="0"/>
          </a:xfrm>
          <a:prstGeom prst="line">
            <a:avLst/>
          </a:prstGeom>
          <a:noFill/>
          <a:ln w="22225">
            <a:solidFill>
              <a:srgbClr val="3A4651"/>
            </a:solidFill>
            <a:prstDash val="solid"/>
            <a:tailEnd type="triangle"/>
          </a:ln>
        </p:spPr>
      </p:sp>
      <p:sp>
        <p:nvSpPr>
          <p:cNvPr id="31" name="arrow-128"/>
          <p:cNvSpPr/>
          <p:nvPr/>
        </p:nvSpPr>
        <p:spPr>
          <a:xfrm>
            <a:off x="4562856" y="2994660"/>
            <a:ext cx="246888" cy="0"/>
          </a:xfrm>
          <a:prstGeom prst="line">
            <a:avLst/>
          </a:prstGeom>
          <a:noFill/>
          <a:ln w="22225">
            <a:solidFill>
              <a:srgbClr val="3A4651"/>
            </a:solidFill>
            <a:prstDash val="solid"/>
            <a:tailEnd type="triangle"/>
          </a:ln>
        </p:spPr>
      </p:sp>
      <p:sp>
        <p:nvSpPr>
          <p:cNvPr id="32" name="arrow-129"/>
          <p:cNvSpPr/>
          <p:nvPr/>
        </p:nvSpPr>
        <p:spPr>
          <a:xfrm>
            <a:off x="7626096" y="2994660"/>
            <a:ext cx="429768" cy="0"/>
          </a:xfrm>
          <a:prstGeom prst="line">
            <a:avLst/>
          </a:prstGeom>
          <a:noFill/>
          <a:ln w="22225">
            <a:solidFill>
              <a:srgbClr val="3A4651"/>
            </a:solidFill>
            <a:prstDash val="solid"/>
            <a:tailEnd type="triangle"/>
          </a:ln>
        </p:spPr>
      </p:sp>
      <p:sp>
        <p:nvSpPr>
          <p:cNvPr id="33" name="arrow-130"/>
          <p:cNvSpPr/>
          <p:nvPr/>
        </p:nvSpPr>
        <p:spPr>
          <a:xfrm>
            <a:off x="9774936" y="2994660"/>
            <a:ext cx="246888" cy="0"/>
          </a:xfrm>
          <a:prstGeom prst="line">
            <a:avLst/>
          </a:prstGeom>
          <a:noFill/>
          <a:ln w="22225">
            <a:solidFill>
              <a:srgbClr val="3A4651"/>
            </a:solidFill>
            <a:prstDash val="solid"/>
            <a:tailEnd type="triangle"/>
          </a:ln>
        </p:spPr>
      </p:sp>
      <p:sp>
        <p:nvSpPr>
          <p:cNvPr id="34" name="loop-a"/>
          <p:cNvSpPr/>
          <p:nvPr/>
        </p:nvSpPr>
        <p:spPr>
          <a:xfrm>
            <a:off x="7132320" y="3657600"/>
            <a:ext cx="0" cy="320040"/>
          </a:xfrm>
          <a:prstGeom prst="line">
            <a:avLst/>
          </a:prstGeom>
          <a:noFill/>
          <a:ln w="19050">
            <a:solidFill>
              <a:srgbClr val="D62828"/>
            </a:solidFill>
            <a:prstDash val="solid"/>
          </a:ln>
        </p:spPr>
      </p:sp>
      <p:sp>
        <p:nvSpPr>
          <p:cNvPr id="35" name="loop-b"/>
          <p:cNvSpPr/>
          <p:nvPr/>
        </p:nvSpPr>
        <p:spPr>
          <a:xfrm>
            <a:off x="5303520" y="3977640"/>
            <a:ext cx="1828800" cy="0"/>
          </a:xfrm>
          <a:prstGeom prst="line">
            <a:avLst/>
          </a:prstGeom>
          <a:noFill/>
          <a:ln w="19050">
            <a:solidFill>
              <a:srgbClr val="D62828"/>
            </a:solidFill>
            <a:prstDash val="solid"/>
          </a:ln>
        </p:spPr>
      </p:sp>
      <p:sp>
        <p:nvSpPr>
          <p:cNvPr id="36" name="loop-c"/>
          <p:cNvSpPr/>
          <p:nvPr/>
        </p:nvSpPr>
        <p:spPr>
          <a:xfrm flipV="1">
            <a:off x="5303520" y="3657600"/>
            <a:ext cx="0" cy="320040"/>
          </a:xfrm>
          <a:prstGeom prst="line">
            <a:avLst/>
          </a:prstGeom>
          <a:noFill/>
          <a:ln w="19050">
            <a:solidFill>
              <a:srgbClr val="D62828"/>
            </a:solidFill>
            <a:prstDash val="solid"/>
            <a:tailEnd type="triangle"/>
          </a:ln>
        </p:spPr>
      </p:sp>
      <p:sp>
        <p:nvSpPr>
          <p:cNvPr id="37" name="loop-label"/>
          <p:cNvSpPr txBox="1"/>
          <p:nvPr/>
        </p:nvSpPr>
        <p:spPr>
          <a:xfrm>
            <a:off x="5303520" y="4023360"/>
            <a:ext cx="1828800" cy="256032"/>
          </a:xfrm>
          <a:prstGeom prst="rect">
            <a:avLst/>
          </a:prstGeom>
          <a:noFill/>
          <a:ln/>
        </p:spPr>
        <p:txBody>
          <a:bodyPr wrap="square" lIns="0" tIns="0" rIns="0" bIns="0" rtlCol="0" anchor="ctr"/>
          <a:lstStyle/>
          <a:p>
            <a:pPr algn="ctr" indent="0" marL="0">
              <a:buNone/>
            </a:pPr>
            <a:r>
              <a:rPr lang="en-US" sz="1200" b="1" dirty="0">
                <a:solidFill>
                  <a:srgbClr val="D62828"/>
                </a:solidFill>
              </a:rPr>
              <a:t>alarm → replace the model</a:t>
            </a:r>
            <a:endParaRPr lang="en-US" sz="1200" dirty="0"/>
          </a:p>
        </p:txBody>
      </p:sp>
      <p:sp>
        <p:nvSpPr>
          <p:cNvPr id="38" name="spark"/>
          <p:cNvSpPr/>
          <p:nvPr/>
        </p:nvSpPr>
        <p:spPr>
          <a:xfrm>
            <a:off x="4846320" y="1481328"/>
            <a:ext cx="2743200" cy="548640"/>
          </a:xfrm>
          <a:prstGeom prst="roundRect">
            <a:avLst>
              <a:gd name="adj" fmla="val 13333"/>
            </a:avLst>
          </a:prstGeom>
          <a:solidFill>
            <a:srgbClr val="FFFFFF"/>
          </a:solidFill>
          <a:ln w="12700">
            <a:solidFill>
              <a:srgbClr val="8A949D"/>
            </a:solidFill>
            <a:prstDash val="dash"/>
          </a:ln>
        </p:spPr>
      </p:sp>
      <p:sp>
        <p:nvSpPr>
          <p:cNvPr id="39" name="spark-t"/>
          <p:cNvSpPr txBox="1"/>
          <p:nvPr/>
        </p:nvSpPr>
        <p:spPr>
          <a:xfrm>
            <a:off x="4937760" y="1481328"/>
            <a:ext cx="2560320" cy="548640"/>
          </a:xfrm>
          <a:prstGeom prst="rect">
            <a:avLst/>
          </a:prstGeom>
          <a:noFill/>
          <a:ln/>
        </p:spPr>
        <p:txBody>
          <a:bodyPr wrap="square" lIns="0" tIns="0" rIns="0" bIns="0" rtlCol="0" anchor="ctr"/>
          <a:lstStyle/>
          <a:p>
            <a:pPr algn="ctr" indent="0" marL="0">
              <a:buNone/>
            </a:pPr>
            <a:r>
              <a:rPr lang="en-US" sz="1200" dirty="0">
                <a:solidFill>
                  <a:srgbClr val="5B6670"/>
                </a:solidFill>
              </a:rPr>
              <a:t>Spark windowed features (optional, not run)</a:t>
            </a:r>
            <a:endParaRPr lang="en-US" sz="1200" dirty="0"/>
          </a:p>
        </p:txBody>
      </p:sp>
      <p:sp>
        <p:nvSpPr>
          <p:cNvPr id="40" name="spark-l1"/>
          <p:cNvSpPr/>
          <p:nvPr/>
        </p:nvSpPr>
        <p:spPr>
          <a:xfrm>
            <a:off x="3611880" y="1755648"/>
            <a:ext cx="0" cy="576072"/>
          </a:xfrm>
          <a:prstGeom prst="line">
            <a:avLst/>
          </a:prstGeom>
          <a:noFill/>
          <a:ln w="12700">
            <a:solidFill>
              <a:srgbClr val="8A949D"/>
            </a:solidFill>
            <a:prstDash val="dash"/>
          </a:ln>
        </p:spPr>
      </p:sp>
      <p:sp>
        <p:nvSpPr>
          <p:cNvPr id="41" name="spark-l2"/>
          <p:cNvSpPr/>
          <p:nvPr/>
        </p:nvSpPr>
        <p:spPr>
          <a:xfrm>
            <a:off x="3611880" y="1755648"/>
            <a:ext cx="1234440" cy="0"/>
          </a:xfrm>
          <a:prstGeom prst="line">
            <a:avLst/>
          </a:prstGeom>
          <a:noFill/>
          <a:ln w="12700">
            <a:solidFill>
              <a:srgbClr val="8A949D"/>
            </a:solidFill>
            <a:prstDash val="dash"/>
            <a:tailEnd type="triangle"/>
          </a:ln>
        </p:spPr>
      </p:sp>
      <p:sp>
        <p:nvSpPr>
          <p:cNvPr id="42" name="card-133"/>
          <p:cNvSpPr/>
          <p:nvPr/>
        </p:nvSpPr>
        <p:spPr>
          <a:xfrm>
            <a:off x="548640" y="4709160"/>
            <a:ext cx="3515258" cy="1143000"/>
          </a:xfrm>
          <a:prstGeom prst="roundRect">
            <a:avLst>
              <a:gd name="adj" fmla="val 6400"/>
            </a:avLst>
          </a:prstGeom>
          <a:solidFill>
            <a:srgbClr val="EEF2F5"/>
          </a:solidFill>
          <a:ln/>
        </p:spPr>
      </p:sp>
      <p:sp>
        <p:nvSpPr>
          <p:cNvPr id="43" name="why-tool"/>
          <p:cNvSpPr txBox="1"/>
          <p:nvPr/>
        </p:nvSpPr>
        <p:spPr>
          <a:xfrm>
            <a:off x="731520" y="4773168"/>
            <a:ext cx="3149498" cy="1005840"/>
          </a:xfrm>
          <a:prstGeom prst="rect">
            <a:avLst/>
          </a:prstGeom>
          <a:noFill/>
          <a:ln/>
        </p:spPr>
        <p:txBody>
          <a:bodyPr wrap="square" lIns="0" tIns="0" rIns="0" bIns="0" rtlCol="0" anchor="ctr"/>
          <a:lstStyle/>
          <a:p>
            <a:pPr indent="0" marL="0">
              <a:buNone/>
            </a:pPr>
            <a:r>
              <a:rPr lang="en-US" sz="1400" b="1" dirty="0">
                <a:solidFill>
                  <a:srgbClr val="1B2127"/>
                </a:solidFill>
              </a:rPr>
              <a:t>Kafka</a:t>
            </a:r>
            <a:endParaRPr lang="en-US" sz="1400" dirty="0"/>
          </a:p>
          <a:p>
            <a:pPr indent="0" marL="0">
              <a:buNone/>
            </a:pPr>
            <a:r>
              <a:rPr lang="en-US" sz="1400" dirty="0">
                <a:solidFill>
                  <a:srgbClr val="3A4651"/>
                </a:solidFill>
              </a:rPr>
              <a:t>decouples the source from consumers; runs can be replayed exactly</a:t>
            </a:r>
            <a:endParaRPr lang="en-US" sz="1400" dirty="0"/>
          </a:p>
        </p:txBody>
      </p:sp>
      <p:sp>
        <p:nvSpPr>
          <p:cNvPr id="44" name="card-135"/>
          <p:cNvSpPr/>
          <p:nvPr/>
        </p:nvSpPr>
        <p:spPr>
          <a:xfrm>
            <a:off x="4338218" y="4709160"/>
            <a:ext cx="3515258" cy="1143000"/>
          </a:xfrm>
          <a:prstGeom prst="roundRect">
            <a:avLst>
              <a:gd name="adj" fmla="val 6400"/>
            </a:avLst>
          </a:prstGeom>
          <a:solidFill>
            <a:srgbClr val="EEF2F5"/>
          </a:solidFill>
          <a:ln/>
        </p:spPr>
      </p:sp>
      <p:sp>
        <p:nvSpPr>
          <p:cNvPr id="45" name="why-tool"/>
          <p:cNvSpPr txBox="1"/>
          <p:nvPr/>
        </p:nvSpPr>
        <p:spPr>
          <a:xfrm>
            <a:off x="4521098" y="4773168"/>
            <a:ext cx="3149498" cy="1005840"/>
          </a:xfrm>
          <a:prstGeom prst="rect">
            <a:avLst/>
          </a:prstGeom>
          <a:noFill/>
          <a:ln/>
        </p:spPr>
        <p:txBody>
          <a:bodyPr wrap="square" lIns="0" tIns="0" rIns="0" bIns="0" rtlCol="0" anchor="ctr"/>
          <a:lstStyle/>
          <a:p>
            <a:pPr indent="0" marL="0">
              <a:buNone/>
            </a:pPr>
            <a:r>
              <a:rPr lang="en-US" sz="1400" b="1" dirty="0">
                <a:solidFill>
                  <a:srgbClr val="1B2127"/>
                </a:solidFill>
              </a:rPr>
              <a:t>River</a:t>
            </a:r>
            <a:endParaRPr lang="en-US" sz="1400" dirty="0"/>
          </a:p>
          <a:p>
            <a:pPr indent="0" marL="0">
              <a:buNone/>
            </a:pPr>
            <a:r>
              <a:rPr lang="en-US" sz="1400" dirty="0">
                <a:solidFill>
                  <a:srgbClr val="3A4651"/>
                </a:solidFill>
              </a:rPr>
              <a:t>updates the model and the detector one record at a time, in constant memory</a:t>
            </a:r>
            <a:endParaRPr lang="en-US" sz="1400" dirty="0"/>
          </a:p>
        </p:txBody>
      </p:sp>
      <p:sp>
        <p:nvSpPr>
          <p:cNvPr id="46" name="card-137"/>
          <p:cNvSpPr/>
          <p:nvPr/>
        </p:nvSpPr>
        <p:spPr>
          <a:xfrm>
            <a:off x="8127797" y="4709160"/>
            <a:ext cx="3515258" cy="1143000"/>
          </a:xfrm>
          <a:prstGeom prst="roundRect">
            <a:avLst>
              <a:gd name="adj" fmla="val 6400"/>
            </a:avLst>
          </a:prstGeom>
          <a:solidFill>
            <a:srgbClr val="EEF2F5"/>
          </a:solidFill>
          <a:ln/>
        </p:spPr>
      </p:sp>
      <p:sp>
        <p:nvSpPr>
          <p:cNvPr id="47" name="why-tool"/>
          <p:cNvSpPr txBox="1"/>
          <p:nvPr/>
        </p:nvSpPr>
        <p:spPr>
          <a:xfrm>
            <a:off x="8310677" y="4773168"/>
            <a:ext cx="3149498" cy="1005840"/>
          </a:xfrm>
          <a:prstGeom prst="rect">
            <a:avLst/>
          </a:prstGeom>
          <a:noFill/>
          <a:ln/>
        </p:spPr>
        <p:txBody>
          <a:bodyPr wrap="square" lIns="0" tIns="0" rIns="0" bIns="0" rtlCol="0" anchor="ctr"/>
          <a:lstStyle/>
          <a:p>
            <a:pPr indent="0" marL="0">
              <a:buNone/>
            </a:pPr>
            <a:r>
              <a:rPr lang="en-US" sz="1400" b="1" dirty="0">
                <a:solidFill>
                  <a:srgbClr val="1B2127"/>
                </a:solidFill>
              </a:rPr>
              <a:t>InfluxDB + Grafana</a:t>
            </a:r>
            <a:endParaRPr lang="en-US" sz="1400" dirty="0"/>
          </a:p>
          <a:p>
            <a:pPr indent="0" marL="0">
              <a:buNone/>
            </a:pPr>
            <a:r>
              <a:rPr lang="en-US" sz="1400" dirty="0">
                <a:solidFill>
                  <a:srgbClr val="3A4651"/>
                </a:solidFill>
              </a:rPr>
              <a:t>store the time series and give an operator the live 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alarm-marker-139"/>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2 · SYSTEM AND METHOD</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How drift detection works</a:t>
            </a:r>
            <a:endParaRPr lang="en-US" sz="3200" dirty="0"/>
          </a:p>
        </p:txBody>
      </p:sp>
      <p:sp>
        <p:nvSpPr>
          <p:cNvPr id="5" name="card-141"/>
          <p:cNvSpPr/>
          <p:nvPr/>
        </p:nvSpPr>
        <p:spPr>
          <a:xfrm>
            <a:off x="548640" y="1645920"/>
            <a:ext cx="1572768" cy="1600200"/>
          </a:xfrm>
          <a:prstGeom prst="roundRect">
            <a:avLst>
              <a:gd name="adj" fmla="val 4651"/>
            </a:avLst>
          </a:prstGeom>
          <a:solidFill>
            <a:srgbClr val="EEF2F5"/>
          </a:solidFill>
          <a:ln/>
        </p:spPr>
      </p:sp>
      <p:sp>
        <p:nvSpPr>
          <p:cNvPr id="6" name="icon-bg-142"/>
          <p:cNvSpPr/>
          <p:nvPr/>
        </p:nvSpPr>
        <p:spPr>
          <a:xfrm>
            <a:off x="1083564" y="1810512"/>
            <a:ext cx="502920" cy="502920"/>
          </a:xfrm>
          <a:prstGeom prst="ellipse">
            <a:avLst/>
          </a:prstGeom>
          <a:solidFill>
            <a:srgbClr val="1B2127"/>
          </a:solidFill>
          <a:ln/>
        </p:spPr>
      </p:sp>
      <p:pic>
        <p:nvPicPr>
          <p:cNvPr id="7" name="icon-143" descr="preencoded.png">    </p:cNvPr>
          <p:cNvPicPr>
            <a:picLocks noChangeAspect="1"/>
          </p:cNvPicPr>
          <p:nvPr/>
        </p:nvPicPr>
        <p:blipFill>
          <a:blip r:embed="rId1"/>
          <a:stretch>
            <a:fillRect/>
          </a:stretch>
        </p:blipFill>
        <p:spPr>
          <a:xfrm>
            <a:off x="1194206" y="1921154"/>
            <a:ext cx="281635" cy="281635"/>
          </a:xfrm>
          <a:prstGeom prst="rect">
            <a:avLst/>
          </a:prstGeom>
        </p:spPr>
      </p:pic>
      <p:sp>
        <p:nvSpPr>
          <p:cNvPr id="8" name="step-name"/>
          <p:cNvSpPr txBox="1"/>
          <p:nvPr/>
        </p:nvSpPr>
        <p:spPr>
          <a:xfrm>
            <a:off x="621792" y="2395728"/>
            <a:ext cx="1426464" cy="320040"/>
          </a:xfrm>
          <a:prstGeom prst="rect">
            <a:avLst/>
          </a:prstGeom>
          <a:noFill/>
          <a:ln/>
        </p:spPr>
        <p:txBody>
          <a:bodyPr wrap="square" lIns="0" tIns="0" rIns="0" bIns="0" rtlCol="0" anchor="ctr"/>
          <a:lstStyle/>
          <a:p>
            <a:pPr algn="ctr" indent="0" marL="0">
              <a:buNone/>
            </a:pPr>
            <a:r>
              <a:rPr lang="en-US" sz="1500" b="1" dirty="0">
                <a:solidFill>
                  <a:srgbClr val="1B2127"/>
                </a:solidFill>
                <a:latin typeface="Arial" pitchFamily="34" charset="0"/>
                <a:ea typeface="Arial" pitchFamily="34" charset="-122"/>
                <a:cs typeface="Arial" pitchFamily="34" charset="-120"/>
              </a:rPr>
              <a:t>Data stream</a:t>
            </a:r>
            <a:endParaRPr lang="en-US" sz="1500" dirty="0"/>
          </a:p>
        </p:txBody>
      </p:sp>
      <p:sp>
        <p:nvSpPr>
          <p:cNvPr id="9" name="step-desc"/>
          <p:cNvSpPr txBox="1"/>
          <p:nvPr/>
        </p:nvSpPr>
        <p:spPr>
          <a:xfrm>
            <a:off x="621792" y="2715768"/>
            <a:ext cx="1426464" cy="457200"/>
          </a:xfrm>
          <a:prstGeom prst="rect">
            <a:avLst/>
          </a:prstGeom>
          <a:noFill/>
          <a:ln/>
        </p:spPr>
        <p:txBody>
          <a:bodyPr wrap="square" lIns="0" tIns="0" rIns="0" bIns="0" rtlCol="0" anchor="t"/>
          <a:lstStyle/>
          <a:p>
            <a:pPr algn="ctr" indent="0" marL="0">
              <a:buNone/>
            </a:pPr>
            <a:r>
              <a:rPr lang="en-US" sz="1200" dirty="0">
                <a:solidFill>
                  <a:srgbClr val="3A4651"/>
                </a:solidFill>
              </a:rPr>
              <a:t>sensor readings, network traffic</a:t>
            </a:r>
            <a:endParaRPr lang="en-US" sz="1200" dirty="0"/>
          </a:p>
        </p:txBody>
      </p:sp>
      <p:sp>
        <p:nvSpPr>
          <p:cNvPr id="10" name="arrow-146"/>
          <p:cNvSpPr/>
          <p:nvPr/>
        </p:nvSpPr>
        <p:spPr>
          <a:xfrm>
            <a:off x="2157984" y="2446020"/>
            <a:ext cx="258409" cy="0"/>
          </a:xfrm>
          <a:prstGeom prst="line">
            <a:avLst/>
          </a:prstGeom>
          <a:noFill/>
          <a:ln w="22225">
            <a:solidFill>
              <a:srgbClr val="3A4651"/>
            </a:solidFill>
            <a:prstDash val="solid"/>
            <a:tailEnd type="triangle"/>
          </a:ln>
        </p:spPr>
      </p:sp>
      <p:sp>
        <p:nvSpPr>
          <p:cNvPr id="11" name="card-147"/>
          <p:cNvSpPr/>
          <p:nvPr/>
        </p:nvSpPr>
        <p:spPr>
          <a:xfrm>
            <a:off x="2452969" y="1645920"/>
            <a:ext cx="1572768" cy="1600200"/>
          </a:xfrm>
          <a:prstGeom prst="roundRect">
            <a:avLst>
              <a:gd name="adj" fmla="val 4651"/>
            </a:avLst>
          </a:prstGeom>
          <a:solidFill>
            <a:srgbClr val="EEF2F5"/>
          </a:solidFill>
          <a:ln/>
        </p:spPr>
      </p:sp>
      <p:sp>
        <p:nvSpPr>
          <p:cNvPr id="12" name="icon-bg-148"/>
          <p:cNvSpPr/>
          <p:nvPr/>
        </p:nvSpPr>
        <p:spPr>
          <a:xfrm>
            <a:off x="2987893" y="1810512"/>
            <a:ext cx="502920" cy="502920"/>
          </a:xfrm>
          <a:prstGeom prst="ellipse">
            <a:avLst/>
          </a:prstGeom>
          <a:solidFill>
            <a:srgbClr val="1B2127"/>
          </a:solidFill>
          <a:ln/>
        </p:spPr>
      </p:sp>
      <p:pic>
        <p:nvPicPr>
          <p:cNvPr id="13" name="icon-149" descr="preencoded.png">    </p:cNvPr>
          <p:cNvPicPr>
            <a:picLocks noChangeAspect="1"/>
          </p:cNvPicPr>
          <p:nvPr/>
        </p:nvPicPr>
        <p:blipFill>
          <a:blip r:embed="rId2"/>
          <a:stretch>
            <a:fillRect/>
          </a:stretch>
        </p:blipFill>
        <p:spPr>
          <a:xfrm>
            <a:off x="3098536" y="1921154"/>
            <a:ext cx="281635" cy="281635"/>
          </a:xfrm>
          <a:prstGeom prst="rect">
            <a:avLst/>
          </a:prstGeom>
        </p:spPr>
      </p:pic>
      <p:sp>
        <p:nvSpPr>
          <p:cNvPr id="14" name="step-name"/>
          <p:cNvSpPr txBox="1"/>
          <p:nvPr/>
        </p:nvSpPr>
        <p:spPr>
          <a:xfrm>
            <a:off x="2526121" y="2395728"/>
            <a:ext cx="1426464" cy="320040"/>
          </a:xfrm>
          <a:prstGeom prst="rect">
            <a:avLst/>
          </a:prstGeom>
          <a:noFill/>
          <a:ln/>
        </p:spPr>
        <p:txBody>
          <a:bodyPr wrap="square" lIns="0" tIns="0" rIns="0" bIns="0" rtlCol="0" anchor="ctr"/>
          <a:lstStyle/>
          <a:p>
            <a:pPr algn="ctr" indent="0" marL="0">
              <a:buNone/>
            </a:pPr>
            <a:r>
              <a:rPr lang="en-US" sz="1500" b="1" dirty="0">
                <a:solidFill>
                  <a:srgbClr val="1B2127"/>
                </a:solidFill>
                <a:latin typeface="Arial" pitchFamily="34" charset="0"/>
                <a:ea typeface="Arial" pitchFamily="34" charset="-122"/>
                <a:cs typeface="Arial" pitchFamily="34" charset="-120"/>
              </a:rPr>
              <a:t>Model predicts</a:t>
            </a:r>
            <a:endParaRPr lang="en-US" sz="1500" dirty="0"/>
          </a:p>
        </p:txBody>
      </p:sp>
      <p:sp>
        <p:nvSpPr>
          <p:cNvPr id="15" name="step-desc"/>
          <p:cNvSpPr txBox="1"/>
          <p:nvPr/>
        </p:nvSpPr>
        <p:spPr>
          <a:xfrm>
            <a:off x="2526121" y="2715768"/>
            <a:ext cx="1426464" cy="457200"/>
          </a:xfrm>
          <a:prstGeom prst="rect">
            <a:avLst/>
          </a:prstGeom>
          <a:noFill/>
          <a:ln/>
        </p:spPr>
        <p:txBody>
          <a:bodyPr wrap="square" lIns="0" tIns="0" rIns="0" bIns="0" rtlCol="0" anchor="t"/>
          <a:lstStyle/>
          <a:p>
            <a:pPr algn="ctr" indent="0" marL="0">
              <a:buNone/>
            </a:pPr>
            <a:r>
              <a:rPr lang="en-US" sz="1200" dirty="0">
                <a:solidFill>
                  <a:srgbClr val="3A4651"/>
                </a:solidFill>
              </a:rPr>
              <a:t>then sees the true label</a:t>
            </a:r>
            <a:endParaRPr lang="en-US" sz="1200" dirty="0"/>
          </a:p>
        </p:txBody>
      </p:sp>
      <p:sp>
        <p:nvSpPr>
          <p:cNvPr id="16" name="arrow-152"/>
          <p:cNvSpPr/>
          <p:nvPr/>
        </p:nvSpPr>
        <p:spPr>
          <a:xfrm>
            <a:off x="4062313" y="2446020"/>
            <a:ext cx="258409" cy="0"/>
          </a:xfrm>
          <a:prstGeom prst="line">
            <a:avLst/>
          </a:prstGeom>
          <a:noFill/>
          <a:ln w="22225">
            <a:solidFill>
              <a:srgbClr val="3A4651"/>
            </a:solidFill>
            <a:prstDash val="solid"/>
            <a:tailEnd type="triangle"/>
          </a:ln>
        </p:spPr>
      </p:sp>
      <p:sp>
        <p:nvSpPr>
          <p:cNvPr id="17" name="card-153"/>
          <p:cNvSpPr/>
          <p:nvPr/>
        </p:nvSpPr>
        <p:spPr>
          <a:xfrm>
            <a:off x="4357299" y="1645920"/>
            <a:ext cx="1572768" cy="1600200"/>
          </a:xfrm>
          <a:prstGeom prst="roundRect">
            <a:avLst>
              <a:gd name="adj" fmla="val 4651"/>
            </a:avLst>
          </a:prstGeom>
          <a:solidFill>
            <a:srgbClr val="EEF2F5"/>
          </a:solidFill>
          <a:ln/>
        </p:spPr>
      </p:sp>
      <p:sp>
        <p:nvSpPr>
          <p:cNvPr id="18" name="icon-bg-154"/>
          <p:cNvSpPr/>
          <p:nvPr/>
        </p:nvSpPr>
        <p:spPr>
          <a:xfrm>
            <a:off x="4892223" y="1810512"/>
            <a:ext cx="502920" cy="502920"/>
          </a:xfrm>
          <a:prstGeom prst="ellipse">
            <a:avLst/>
          </a:prstGeom>
          <a:solidFill>
            <a:srgbClr val="1B2127"/>
          </a:solidFill>
          <a:ln/>
        </p:spPr>
      </p:sp>
      <p:pic>
        <p:nvPicPr>
          <p:cNvPr id="19" name="icon-155" descr="preencoded.png">    </p:cNvPr>
          <p:cNvPicPr>
            <a:picLocks noChangeAspect="1"/>
          </p:cNvPicPr>
          <p:nvPr/>
        </p:nvPicPr>
        <p:blipFill>
          <a:blip r:embed="rId3"/>
          <a:stretch>
            <a:fillRect/>
          </a:stretch>
        </p:blipFill>
        <p:spPr>
          <a:xfrm>
            <a:off x="5002865" y="1921154"/>
            <a:ext cx="281635" cy="281635"/>
          </a:xfrm>
          <a:prstGeom prst="rect">
            <a:avLst/>
          </a:prstGeom>
        </p:spPr>
      </p:pic>
      <p:sp>
        <p:nvSpPr>
          <p:cNvPr id="20" name="step-name"/>
          <p:cNvSpPr txBox="1"/>
          <p:nvPr/>
        </p:nvSpPr>
        <p:spPr>
          <a:xfrm>
            <a:off x="4430451" y="2395728"/>
            <a:ext cx="1426464" cy="320040"/>
          </a:xfrm>
          <a:prstGeom prst="rect">
            <a:avLst/>
          </a:prstGeom>
          <a:noFill/>
          <a:ln/>
        </p:spPr>
        <p:txBody>
          <a:bodyPr wrap="square" lIns="0" tIns="0" rIns="0" bIns="0" rtlCol="0" anchor="ctr"/>
          <a:lstStyle/>
          <a:p>
            <a:pPr algn="ctr" indent="0" marL="0">
              <a:buNone/>
            </a:pPr>
            <a:r>
              <a:rPr lang="en-US" sz="1500" b="1" dirty="0">
                <a:solidFill>
                  <a:srgbClr val="1B2127"/>
                </a:solidFill>
                <a:latin typeface="Arial" pitchFamily="34" charset="0"/>
                <a:ea typeface="Arial" pitchFamily="34" charset="-122"/>
                <a:cs typeface="Arial" pitchFamily="34" charset="-120"/>
              </a:rPr>
              <a:t>0 / 1 error</a:t>
            </a:r>
            <a:endParaRPr lang="en-US" sz="1500" dirty="0"/>
          </a:p>
        </p:txBody>
      </p:sp>
      <p:sp>
        <p:nvSpPr>
          <p:cNvPr id="21" name="step-desc"/>
          <p:cNvSpPr txBox="1"/>
          <p:nvPr/>
        </p:nvSpPr>
        <p:spPr>
          <a:xfrm>
            <a:off x="4430451" y="2715768"/>
            <a:ext cx="1426464" cy="457200"/>
          </a:xfrm>
          <a:prstGeom prst="rect">
            <a:avLst/>
          </a:prstGeom>
          <a:noFill/>
          <a:ln/>
        </p:spPr>
        <p:txBody>
          <a:bodyPr wrap="square" lIns="0" tIns="0" rIns="0" bIns="0" rtlCol="0" anchor="t"/>
          <a:lstStyle/>
          <a:p>
            <a:pPr algn="ctr" indent="0" marL="0">
              <a:buNone/>
            </a:pPr>
            <a:r>
              <a:rPr lang="en-US" sz="1200" dirty="0">
                <a:solidFill>
                  <a:srgbClr val="3A4651"/>
                </a:solidFill>
              </a:rPr>
              <a:t>1 = the model was wrong</a:t>
            </a:r>
            <a:endParaRPr lang="en-US" sz="1200" dirty="0"/>
          </a:p>
        </p:txBody>
      </p:sp>
      <p:sp>
        <p:nvSpPr>
          <p:cNvPr id="22" name="arrow-158"/>
          <p:cNvSpPr/>
          <p:nvPr/>
        </p:nvSpPr>
        <p:spPr>
          <a:xfrm>
            <a:off x="5966643" y="2446020"/>
            <a:ext cx="258409" cy="0"/>
          </a:xfrm>
          <a:prstGeom prst="line">
            <a:avLst/>
          </a:prstGeom>
          <a:noFill/>
          <a:ln w="22225">
            <a:solidFill>
              <a:srgbClr val="3A4651"/>
            </a:solidFill>
            <a:prstDash val="solid"/>
            <a:tailEnd type="triangle"/>
          </a:ln>
        </p:spPr>
      </p:sp>
      <p:sp>
        <p:nvSpPr>
          <p:cNvPr id="23" name="card-159"/>
          <p:cNvSpPr/>
          <p:nvPr/>
        </p:nvSpPr>
        <p:spPr>
          <a:xfrm>
            <a:off x="6261628" y="1645920"/>
            <a:ext cx="1572768" cy="1600200"/>
          </a:xfrm>
          <a:prstGeom prst="roundRect">
            <a:avLst>
              <a:gd name="adj" fmla="val 4651"/>
            </a:avLst>
          </a:prstGeom>
          <a:solidFill>
            <a:srgbClr val="EEF2F5"/>
          </a:solidFill>
          <a:ln/>
        </p:spPr>
      </p:sp>
      <p:sp>
        <p:nvSpPr>
          <p:cNvPr id="24" name="icon-bg-160"/>
          <p:cNvSpPr/>
          <p:nvPr/>
        </p:nvSpPr>
        <p:spPr>
          <a:xfrm>
            <a:off x="6796552" y="1810512"/>
            <a:ext cx="502920" cy="502920"/>
          </a:xfrm>
          <a:prstGeom prst="ellipse">
            <a:avLst/>
          </a:prstGeom>
          <a:solidFill>
            <a:srgbClr val="1B2127"/>
          </a:solidFill>
          <a:ln/>
        </p:spPr>
      </p:sp>
      <p:pic>
        <p:nvPicPr>
          <p:cNvPr id="25" name="icon-161" descr="preencoded.png">    </p:cNvPr>
          <p:cNvPicPr>
            <a:picLocks noChangeAspect="1"/>
          </p:cNvPicPr>
          <p:nvPr/>
        </p:nvPicPr>
        <p:blipFill>
          <a:blip r:embed="rId4"/>
          <a:stretch>
            <a:fillRect/>
          </a:stretch>
        </p:blipFill>
        <p:spPr>
          <a:xfrm>
            <a:off x="6907195" y="1921154"/>
            <a:ext cx="281635" cy="281635"/>
          </a:xfrm>
          <a:prstGeom prst="rect">
            <a:avLst/>
          </a:prstGeom>
        </p:spPr>
      </p:pic>
      <p:sp>
        <p:nvSpPr>
          <p:cNvPr id="26" name="step-name"/>
          <p:cNvSpPr txBox="1"/>
          <p:nvPr/>
        </p:nvSpPr>
        <p:spPr>
          <a:xfrm>
            <a:off x="6334780" y="2395728"/>
            <a:ext cx="1426464" cy="320040"/>
          </a:xfrm>
          <a:prstGeom prst="rect">
            <a:avLst/>
          </a:prstGeom>
          <a:noFill/>
          <a:ln/>
        </p:spPr>
        <p:txBody>
          <a:bodyPr wrap="square" lIns="0" tIns="0" rIns="0" bIns="0" rtlCol="0" anchor="ctr"/>
          <a:lstStyle/>
          <a:p>
            <a:pPr algn="ctr" indent="0" marL="0">
              <a:buNone/>
            </a:pPr>
            <a:r>
              <a:rPr lang="en-US" sz="1500" b="1" dirty="0">
                <a:solidFill>
                  <a:srgbClr val="1B2127"/>
                </a:solidFill>
                <a:latin typeface="Arial" pitchFamily="34" charset="0"/>
                <a:ea typeface="Arial" pitchFamily="34" charset="-122"/>
                <a:cs typeface="Arial" pitchFamily="34" charset="-120"/>
              </a:rPr>
              <a:t>Drift detector</a:t>
            </a:r>
            <a:endParaRPr lang="en-US" sz="1500" dirty="0"/>
          </a:p>
        </p:txBody>
      </p:sp>
      <p:sp>
        <p:nvSpPr>
          <p:cNvPr id="27" name="step-desc"/>
          <p:cNvSpPr txBox="1"/>
          <p:nvPr/>
        </p:nvSpPr>
        <p:spPr>
          <a:xfrm>
            <a:off x="6334780" y="2715768"/>
            <a:ext cx="1426464" cy="457200"/>
          </a:xfrm>
          <a:prstGeom prst="rect">
            <a:avLst/>
          </a:prstGeom>
          <a:noFill/>
          <a:ln/>
        </p:spPr>
        <p:txBody>
          <a:bodyPr wrap="square" lIns="0" tIns="0" rIns="0" bIns="0" rtlCol="0" anchor="t"/>
          <a:lstStyle/>
          <a:p>
            <a:pPr algn="ctr" indent="0" marL="0">
              <a:buNone/>
            </a:pPr>
            <a:r>
              <a:rPr lang="en-US" sz="1200" dirty="0">
                <a:solidFill>
                  <a:srgbClr val="3A4651"/>
                </a:solidFill>
              </a:rPr>
              <a:t>watches the error rate</a:t>
            </a:r>
            <a:endParaRPr lang="en-US" sz="1200" dirty="0"/>
          </a:p>
        </p:txBody>
      </p:sp>
      <p:sp>
        <p:nvSpPr>
          <p:cNvPr id="28" name="arrow-164"/>
          <p:cNvSpPr/>
          <p:nvPr/>
        </p:nvSpPr>
        <p:spPr>
          <a:xfrm>
            <a:off x="7870972" y="2446020"/>
            <a:ext cx="258409" cy="0"/>
          </a:xfrm>
          <a:prstGeom prst="line">
            <a:avLst/>
          </a:prstGeom>
          <a:noFill/>
          <a:ln w="22225">
            <a:solidFill>
              <a:srgbClr val="3A4651"/>
            </a:solidFill>
            <a:prstDash val="solid"/>
            <a:tailEnd type="triangle"/>
          </a:ln>
        </p:spPr>
      </p:sp>
      <p:sp>
        <p:nvSpPr>
          <p:cNvPr id="29" name="card-165"/>
          <p:cNvSpPr/>
          <p:nvPr/>
        </p:nvSpPr>
        <p:spPr>
          <a:xfrm>
            <a:off x="8165958" y="1645920"/>
            <a:ext cx="1572768" cy="1600200"/>
          </a:xfrm>
          <a:prstGeom prst="roundRect">
            <a:avLst>
              <a:gd name="adj" fmla="val 4651"/>
            </a:avLst>
          </a:prstGeom>
          <a:solidFill>
            <a:srgbClr val="FBE3E3"/>
          </a:solidFill>
          <a:ln/>
        </p:spPr>
      </p:sp>
      <p:sp>
        <p:nvSpPr>
          <p:cNvPr id="30" name="icon-bg-166"/>
          <p:cNvSpPr/>
          <p:nvPr/>
        </p:nvSpPr>
        <p:spPr>
          <a:xfrm>
            <a:off x="8700882" y="1810512"/>
            <a:ext cx="502920" cy="502920"/>
          </a:xfrm>
          <a:prstGeom prst="ellipse">
            <a:avLst/>
          </a:prstGeom>
          <a:solidFill>
            <a:srgbClr val="D62828"/>
          </a:solidFill>
          <a:ln/>
        </p:spPr>
      </p:sp>
      <p:pic>
        <p:nvPicPr>
          <p:cNvPr id="31" name="icon-167" descr="preencoded.png">    </p:cNvPr>
          <p:cNvPicPr>
            <a:picLocks noChangeAspect="1"/>
          </p:cNvPicPr>
          <p:nvPr/>
        </p:nvPicPr>
        <p:blipFill>
          <a:blip r:embed="rId5"/>
          <a:stretch>
            <a:fillRect/>
          </a:stretch>
        </p:blipFill>
        <p:spPr>
          <a:xfrm>
            <a:off x="8811524" y="1921154"/>
            <a:ext cx="281635" cy="281635"/>
          </a:xfrm>
          <a:prstGeom prst="rect">
            <a:avLst/>
          </a:prstGeom>
        </p:spPr>
      </p:pic>
      <p:sp>
        <p:nvSpPr>
          <p:cNvPr id="32" name="step-name"/>
          <p:cNvSpPr txBox="1"/>
          <p:nvPr/>
        </p:nvSpPr>
        <p:spPr>
          <a:xfrm>
            <a:off x="8239110" y="2395728"/>
            <a:ext cx="1426464" cy="320040"/>
          </a:xfrm>
          <a:prstGeom prst="rect">
            <a:avLst/>
          </a:prstGeom>
          <a:noFill/>
          <a:ln/>
        </p:spPr>
        <p:txBody>
          <a:bodyPr wrap="square" lIns="0" tIns="0" rIns="0" bIns="0" rtlCol="0" anchor="ctr"/>
          <a:lstStyle/>
          <a:p>
            <a:pPr algn="ctr" indent="0" marL="0">
              <a:buNone/>
            </a:pPr>
            <a:r>
              <a:rPr lang="en-US" sz="1500" b="1" dirty="0">
                <a:solidFill>
                  <a:srgbClr val="1B2127"/>
                </a:solidFill>
                <a:latin typeface="Arial" pitchFamily="34" charset="0"/>
                <a:ea typeface="Arial" pitchFamily="34" charset="-122"/>
                <a:cs typeface="Arial" pitchFamily="34" charset="-120"/>
              </a:rPr>
              <a:t>Alarm</a:t>
            </a:r>
            <a:endParaRPr lang="en-US" sz="1500" dirty="0"/>
          </a:p>
        </p:txBody>
      </p:sp>
      <p:sp>
        <p:nvSpPr>
          <p:cNvPr id="33" name="step-desc"/>
          <p:cNvSpPr txBox="1"/>
          <p:nvPr/>
        </p:nvSpPr>
        <p:spPr>
          <a:xfrm>
            <a:off x="8239110" y="2715768"/>
            <a:ext cx="1426464" cy="457200"/>
          </a:xfrm>
          <a:prstGeom prst="rect">
            <a:avLst/>
          </a:prstGeom>
          <a:noFill/>
          <a:ln/>
        </p:spPr>
        <p:txBody>
          <a:bodyPr wrap="square" lIns="0" tIns="0" rIns="0" bIns="0" rtlCol="0" anchor="t"/>
          <a:lstStyle/>
          <a:p>
            <a:pPr algn="ctr" indent="0" marL="0">
              <a:buNone/>
            </a:pPr>
            <a:r>
              <a:rPr lang="en-US" sz="1200" dirty="0">
                <a:solidFill>
                  <a:srgbClr val="3A4651"/>
                </a:solidFill>
              </a:rPr>
              <a:t>the error rate jumped</a:t>
            </a:r>
            <a:endParaRPr lang="en-US" sz="1200" dirty="0"/>
          </a:p>
        </p:txBody>
      </p:sp>
      <p:sp>
        <p:nvSpPr>
          <p:cNvPr id="34" name="arrow-170"/>
          <p:cNvSpPr/>
          <p:nvPr/>
        </p:nvSpPr>
        <p:spPr>
          <a:xfrm>
            <a:off x="9775302" y="2446020"/>
            <a:ext cx="258409" cy="0"/>
          </a:xfrm>
          <a:prstGeom prst="line">
            <a:avLst/>
          </a:prstGeom>
          <a:noFill/>
          <a:ln w="22225">
            <a:solidFill>
              <a:srgbClr val="3A4651"/>
            </a:solidFill>
            <a:prstDash val="solid"/>
            <a:tailEnd type="triangle"/>
          </a:ln>
        </p:spPr>
      </p:sp>
      <p:sp>
        <p:nvSpPr>
          <p:cNvPr id="35" name="card-171"/>
          <p:cNvSpPr/>
          <p:nvPr/>
        </p:nvSpPr>
        <p:spPr>
          <a:xfrm>
            <a:off x="10070287" y="1645920"/>
            <a:ext cx="1572768" cy="1600200"/>
          </a:xfrm>
          <a:prstGeom prst="roundRect">
            <a:avLst>
              <a:gd name="adj" fmla="val 4651"/>
            </a:avLst>
          </a:prstGeom>
          <a:solidFill>
            <a:srgbClr val="EEF2F5"/>
          </a:solidFill>
          <a:ln/>
        </p:spPr>
      </p:sp>
      <p:sp>
        <p:nvSpPr>
          <p:cNvPr id="36" name="icon-bg-172"/>
          <p:cNvSpPr/>
          <p:nvPr/>
        </p:nvSpPr>
        <p:spPr>
          <a:xfrm>
            <a:off x="10605211" y="1810512"/>
            <a:ext cx="502920" cy="502920"/>
          </a:xfrm>
          <a:prstGeom prst="ellipse">
            <a:avLst/>
          </a:prstGeom>
          <a:solidFill>
            <a:srgbClr val="1B2127"/>
          </a:solidFill>
          <a:ln/>
        </p:spPr>
      </p:sp>
      <p:pic>
        <p:nvPicPr>
          <p:cNvPr id="37" name="icon-173" descr="preencoded.png">    </p:cNvPr>
          <p:cNvPicPr>
            <a:picLocks noChangeAspect="1"/>
          </p:cNvPicPr>
          <p:nvPr/>
        </p:nvPicPr>
        <p:blipFill>
          <a:blip r:embed="rId6"/>
          <a:stretch>
            <a:fillRect/>
          </a:stretch>
        </p:blipFill>
        <p:spPr>
          <a:xfrm>
            <a:off x="10715854" y="1921154"/>
            <a:ext cx="281635" cy="281635"/>
          </a:xfrm>
          <a:prstGeom prst="rect">
            <a:avLst/>
          </a:prstGeom>
        </p:spPr>
      </p:pic>
      <p:sp>
        <p:nvSpPr>
          <p:cNvPr id="38" name="step-name"/>
          <p:cNvSpPr txBox="1"/>
          <p:nvPr/>
        </p:nvSpPr>
        <p:spPr>
          <a:xfrm>
            <a:off x="10143439" y="2395728"/>
            <a:ext cx="1426464" cy="320040"/>
          </a:xfrm>
          <a:prstGeom prst="rect">
            <a:avLst/>
          </a:prstGeom>
          <a:noFill/>
          <a:ln/>
        </p:spPr>
        <p:txBody>
          <a:bodyPr wrap="square" lIns="0" tIns="0" rIns="0" bIns="0" rtlCol="0" anchor="ctr"/>
          <a:lstStyle/>
          <a:p>
            <a:pPr algn="ctr" indent="0" marL="0">
              <a:buNone/>
            </a:pPr>
            <a:r>
              <a:rPr lang="en-US" sz="1500" b="1" dirty="0">
                <a:solidFill>
                  <a:srgbClr val="1B2127"/>
                </a:solidFill>
                <a:latin typeface="Arial" pitchFamily="34" charset="0"/>
                <a:ea typeface="Arial" pitchFamily="34" charset="-122"/>
                <a:cs typeface="Arial" pitchFamily="34" charset="-120"/>
              </a:rPr>
              <a:t>Retrain</a:t>
            </a:r>
            <a:endParaRPr lang="en-US" sz="1500" dirty="0"/>
          </a:p>
        </p:txBody>
      </p:sp>
      <p:sp>
        <p:nvSpPr>
          <p:cNvPr id="39" name="step-desc"/>
          <p:cNvSpPr txBox="1"/>
          <p:nvPr/>
        </p:nvSpPr>
        <p:spPr>
          <a:xfrm>
            <a:off x="10143439" y="2715768"/>
            <a:ext cx="1426464" cy="457200"/>
          </a:xfrm>
          <a:prstGeom prst="rect">
            <a:avLst/>
          </a:prstGeom>
          <a:noFill/>
          <a:ln/>
        </p:spPr>
        <p:txBody>
          <a:bodyPr wrap="square" lIns="0" tIns="0" rIns="0" bIns="0" rtlCol="0" anchor="t"/>
          <a:lstStyle/>
          <a:p>
            <a:pPr algn="ctr" indent="0" marL="0">
              <a:buNone/>
            </a:pPr>
            <a:r>
              <a:rPr lang="en-US" sz="1200" dirty="0">
                <a:solidFill>
                  <a:srgbClr val="3A4651"/>
                </a:solidFill>
              </a:rPr>
              <a:t>fit on the latest data</a:t>
            </a:r>
            <a:endParaRPr lang="en-US" sz="1200" dirty="0"/>
          </a:p>
        </p:txBody>
      </p:sp>
      <p:sp>
        <p:nvSpPr>
          <p:cNvPr id="40" name="loop-1"/>
          <p:cNvSpPr/>
          <p:nvPr/>
        </p:nvSpPr>
        <p:spPr>
          <a:xfrm>
            <a:off x="10856671" y="3246120"/>
            <a:ext cx="0" cy="201168"/>
          </a:xfrm>
          <a:prstGeom prst="line">
            <a:avLst/>
          </a:prstGeom>
          <a:noFill/>
          <a:ln w="19050">
            <a:solidFill>
              <a:srgbClr val="3A4651"/>
            </a:solidFill>
            <a:prstDash val="solid"/>
          </a:ln>
        </p:spPr>
      </p:sp>
      <p:sp>
        <p:nvSpPr>
          <p:cNvPr id="41" name="loop-2"/>
          <p:cNvSpPr/>
          <p:nvPr/>
        </p:nvSpPr>
        <p:spPr>
          <a:xfrm>
            <a:off x="3239353" y="3447288"/>
            <a:ext cx="7617318" cy="0"/>
          </a:xfrm>
          <a:prstGeom prst="line">
            <a:avLst/>
          </a:prstGeom>
          <a:noFill/>
          <a:ln w="19050">
            <a:solidFill>
              <a:srgbClr val="3A4651"/>
            </a:solidFill>
            <a:prstDash val="solid"/>
          </a:ln>
        </p:spPr>
      </p:sp>
      <p:sp>
        <p:nvSpPr>
          <p:cNvPr id="42" name="loop-3"/>
          <p:cNvSpPr/>
          <p:nvPr/>
        </p:nvSpPr>
        <p:spPr>
          <a:xfrm flipV="1">
            <a:off x="3239353" y="3246120"/>
            <a:ext cx="0" cy="201168"/>
          </a:xfrm>
          <a:prstGeom prst="line">
            <a:avLst/>
          </a:prstGeom>
          <a:noFill/>
          <a:ln w="19050">
            <a:solidFill>
              <a:srgbClr val="3A4651"/>
            </a:solidFill>
            <a:prstDash val="solid"/>
            <a:tailEnd type="triangle"/>
          </a:ln>
        </p:spPr>
      </p:sp>
      <p:sp>
        <p:nvSpPr>
          <p:cNvPr id="43" name="loop-label"/>
          <p:cNvSpPr txBox="1"/>
          <p:nvPr/>
        </p:nvSpPr>
        <p:spPr>
          <a:xfrm>
            <a:off x="4153753" y="3465576"/>
            <a:ext cx="3657600" cy="256032"/>
          </a:xfrm>
          <a:prstGeom prst="rect">
            <a:avLst/>
          </a:prstGeom>
          <a:noFill/>
          <a:ln/>
        </p:spPr>
        <p:txBody>
          <a:bodyPr wrap="square" lIns="0" tIns="0" rIns="0" bIns="0" rtlCol="0" anchor="ctr"/>
          <a:lstStyle/>
          <a:p>
            <a:pPr indent="0" marL="0">
              <a:buNone/>
            </a:pPr>
            <a:r>
              <a:rPr lang="en-US" sz="1100" i="1" dirty="0">
                <a:solidFill>
                  <a:srgbClr val="5B6670"/>
                </a:solidFill>
              </a:rPr>
              <a:t>new model replaces the old one</a:t>
            </a:r>
            <a:endParaRPr lang="en-US" sz="1100" dirty="0"/>
          </a:p>
        </p:txBody>
      </p:sp>
      <p:sp>
        <p:nvSpPr>
          <p:cNvPr id="44" name="score-title"/>
          <p:cNvSpPr txBox="1"/>
          <p:nvPr/>
        </p:nvSpPr>
        <p:spPr>
          <a:xfrm>
            <a:off x="548640" y="3794760"/>
            <a:ext cx="4572000" cy="320040"/>
          </a:xfrm>
          <a:prstGeom prst="rect">
            <a:avLst/>
          </a:prstGeom>
          <a:noFill/>
          <a:ln/>
        </p:spPr>
        <p:txBody>
          <a:bodyPr wrap="square" lIns="0" tIns="0" rIns="0" bIns="0" rtlCol="0" anchor="ctr"/>
          <a:lstStyle/>
          <a:p>
            <a:pPr indent="0" marL="0">
              <a:buNone/>
            </a:pPr>
            <a:r>
              <a:rPr lang="en-US" sz="1700" b="1" dirty="0">
                <a:solidFill>
                  <a:srgbClr val="1B2127"/>
                </a:solidFill>
                <a:latin typeface="Arial" pitchFamily="34" charset="0"/>
                <a:ea typeface="Arial" pitchFamily="34" charset="-122"/>
                <a:cs typeface="Arial" pitchFamily="34" charset="-120"/>
              </a:rPr>
              <a:t>How an alarm is scored</a:t>
            </a:r>
            <a:endParaRPr lang="en-US" sz="1700" dirty="0"/>
          </a:p>
        </p:txBody>
      </p:sp>
      <p:sp>
        <p:nvSpPr>
          <p:cNvPr id="45" name="tol-window"/>
          <p:cNvSpPr/>
          <p:nvPr/>
        </p:nvSpPr>
        <p:spPr>
          <a:xfrm>
            <a:off x="3108960" y="4343400"/>
            <a:ext cx="3017520" cy="960120"/>
          </a:xfrm>
          <a:prstGeom prst="rect">
            <a:avLst/>
          </a:prstGeom>
          <a:solidFill>
            <a:srgbClr val="DCE8F7"/>
          </a:solidFill>
          <a:ln/>
        </p:spPr>
      </p:sp>
      <p:sp>
        <p:nvSpPr>
          <p:cNvPr id="46" name="timeline"/>
          <p:cNvSpPr/>
          <p:nvPr/>
        </p:nvSpPr>
        <p:spPr>
          <a:xfrm>
            <a:off x="731520" y="5303520"/>
            <a:ext cx="10728655" cy="0"/>
          </a:xfrm>
          <a:prstGeom prst="line">
            <a:avLst/>
          </a:prstGeom>
          <a:noFill/>
          <a:ln w="15875">
            <a:solidFill>
              <a:srgbClr val="3A4651"/>
            </a:solidFill>
            <a:prstDash val="solid"/>
            <a:tailEnd type="triangle"/>
          </a:ln>
        </p:spPr>
      </p:sp>
      <p:sp>
        <p:nvSpPr>
          <p:cNvPr id="47" name="drift-line-178"/>
          <p:cNvSpPr/>
          <p:nvPr/>
        </p:nvSpPr>
        <p:spPr>
          <a:xfrm>
            <a:off x="3108960" y="4251960"/>
            <a:ext cx="0" cy="1143000"/>
          </a:xfrm>
          <a:prstGeom prst="line">
            <a:avLst/>
          </a:prstGeom>
          <a:noFill/>
          <a:ln w="19050">
            <a:solidFill>
              <a:srgbClr val="1B2127"/>
            </a:solidFill>
            <a:prstDash val="dash"/>
          </a:ln>
        </p:spPr>
      </p:sp>
      <p:sp>
        <p:nvSpPr>
          <p:cNvPr id="48" name="td-label"/>
          <p:cNvSpPr txBox="1"/>
          <p:nvPr/>
        </p:nvSpPr>
        <p:spPr>
          <a:xfrm>
            <a:off x="1965960" y="4297680"/>
            <a:ext cx="1051560" cy="256032"/>
          </a:xfrm>
          <a:prstGeom prst="rect">
            <a:avLst/>
          </a:prstGeom>
          <a:noFill/>
          <a:ln/>
        </p:spPr>
        <p:txBody>
          <a:bodyPr wrap="square" lIns="0" tIns="0" rIns="0" bIns="0" rtlCol="0" anchor="ctr"/>
          <a:lstStyle/>
          <a:p>
            <a:pPr algn="r" indent="0" marL="0">
              <a:buNone/>
            </a:pPr>
            <a:r>
              <a:rPr lang="en-US" sz="1200" dirty="0">
                <a:solidFill>
                  <a:srgbClr val="1B2127"/>
                </a:solidFill>
              </a:rPr>
              <a:t>true drift</a:t>
            </a:r>
            <a:endParaRPr lang="en-US" sz="1200" dirty="0"/>
          </a:p>
        </p:txBody>
      </p:sp>
      <p:sp>
        <p:nvSpPr>
          <p:cNvPr id="49" name="tw-label"/>
          <p:cNvSpPr txBox="1"/>
          <p:nvPr/>
        </p:nvSpPr>
        <p:spPr>
          <a:xfrm>
            <a:off x="3200400" y="4389120"/>
            <a:ext cx="2834640" cy="256032"/>
          </a:xfrm>
          <a:prstGeom prst="rect">
            <a:avLst/>
          </a:prstGeom>
          <a:noFill/>
          <a:ln/>
        </p:spPr>
        <p:txBody>
          <a:bodyPr wrap="square" lIns="0" tIns="0" rIns="0" bIns="0" rtlCol="0" anchor="ctr"/>
          <a:lstStyle/>
          <a:p>
            <a:pPr indent="0" marL="0">
              <a:buNone/>
            </a:pPr>
            <a:r>
              <a:rPr lang="en-US" sz="1200" dirty="0">
                <a:solidFill>
                  <a:srgbClr val="1B2127"/>
                </a:solidFill>
              </a:rPr>
              <a:t>tolerance window: drift width + 300 samples</a:t>
            </a:r>
            <a:endParaRPr lang="en-US" sz="1200" dirty="0"/>
          </a:p>
        </p:txBody>
      </p:sp>
      <p:sp>
        <p:nvSpPr>
          <p:cNvPr id="50" name="alarm-181"/>
          <p:cNvSpPr/>
          <p:nvPr/>
        </p:nvSpPr>
        <p:spPr>
          <a:xfrm flipV="1">
            <a:off x="4178808" y="4864608"/>
            <a:ext cx="237744" cy="202082"/>
          </a:xfrm>
          <a:prstGeom prst="triangle">
            <a:avLst/>
          </a:prstGeom>
          <a:solidFill>
            <a:srgbClr val="D62828"/>
          </a:solidFill>
          <a:ln w="9525">
            <a:solidFill>
              <a:srgbClr val="FFFFFF"/>
            </a:solidFill>
            <a:prstDash val="solid"/>
          </a:ln>
        </p:spPr>
      </p:sp>
      <p:sp>
        <p:nvSpPr>
          <p:cNvPr id="51" name="delay-bracket"/>
          <p:cNvSpPr/>
          <p:nvPr/>
        </p:nvSpPr>
        <p:spPr>
          <a:xfrm>
            <a:off x="3108960" y="4773168"/>
            <a:ext cx="1188720" cy="0"/>
          </a:xfrm>
          <a:prstGeom prst="line">
            <a:avLst/>
          </a:prstGeom>
          <a:noFill/>
          <a:ln w="19050">
            <a:solidFill>
              <a:srgbClr val="D62828"/>
            </a:solidFill>
            <a:prstDash val="solid"/>
            <a:headEnd type="triangle"/>
            <a:tailEnd type="triangle"/>
          </a:ln>
        </p:spPr>
      </p:sp>
      <p:sp>
        <p:nvSpPr>
          <p:cNvPr id="52" name="delay-label"/>
          <p:cNvSpPr txBox="1"/>
          <p:nvPr/>
        </p:nvSpPr>
        <p:spPr>
          <a:xfrm>
            <a:off x="3200400" y="4535424"/>
            <a:ext cx="1005840" cy="228600"/>
          </a:xfrm>
          <a:prstGeom prst="rect">
            <a:avLst/>
          </a:prstGeom>
          <a:noFill/>
          <a:ln/>
        </p:spPr>
        <p:txBody>
          <a:bodyPr wrap="square" lIns="0" tIns="0" rIns="0" bIns="0" rtlCol="0" anchor="ctr"/>
          <a:lstStyle/>
          <a:p>
            <a:pPr algn="ctr" indent="0" marL="0">
              <a:buNone/>
            </a:pPr>
            <a:r>
              <a:rPr lang="en-US" sz="1100" dirty="0">
                <a:solidFill>
                  <a:srgbClr val="D62828"/>
                </a:solidFill>
              </a:rPr>
              <a:t>delay</a:t>
            </a:r>
            <a:endParaRPr lang="en-US" sz="1100" dirty="0"/>
          </a:p>
        </p:txBody>
      </p:sp>
      <p:sp>
        <p:nvSpPr>
          <p:cNvPr id="53" name="tp-label"/>
          <p:cNvSpPr txBox="1"/>
          <p:nvPr/>
        </p:nvSpPr>
        <p:spPr>
          <a:xfrm>
            <a:off x="4480560" y="4846320"/>
            <a:ext cx="1828800" cy="411480"/>
          </a:xfrm>
          <a:prstGeom prst="rect">
            <a:avLst/>
          </a:prstGeom>
          <a:noFill/>
          <a:ln/>
        </p:spPr>
        <p:txBody>
          <a:bodyPr wrap="square" lIns="0" tIns="0" rIns="0" bIns="0" rtlCol="0" anchor="ctr"/>
          <a:lstStyle/>
          <a:p>
            <a:pPr indent="0" marL="0">
              <a:buNone/>
            </a:pPr>
            <a:r>
              <a:rPr lang="en-US" sz="1200" b="1" dirty="0">
                <a:solidFill>
                  <a:srgbClr val="1B2127"/>
                </a:solidFill>
              </a:rPr>
              <a:t>first alarm inside = detection</a:t>
            </a:r>
            <a:endParaRPr lang="en-US" sz="1200" dirty="0"/>
          </a:p>
        </p:txBody>
      </p:sp>
      <p:sp>
        <p:nvSpPr>
          <p:cNvPr id="54" name="alarm-184"/>
          <p:cNvSpPr/>
          <p:nvPr/>
        </p:nvSpPr>
        <p:spPr>
          <a:xfrm flipV="1">
            <a:off x="7562088" y="4864608"/>
            <a:ext cx="237744" cy="202082"/>
          </a:xfrm>
          <a:prstGeom prst="triangle">
            <a:avLst/>
          </a:prstGeom>
          <a:solidFill>
            <a:srgbClr val="FFFFFF"/>
          </a:solidFill>
          <a:ln w="19050">
            <a:solidFill>
              <a:srgbClr val="D62828"/>
            </a:solidFill>
            <a:prstDash val="solid"/>
          </a:ln>
        </p:spPr>
      </p:sp>
      <p:sp>
        <p:nvSpPr>
          <p:cNvPr id="55" name="fp-label"/>
          <p:cNvSpPr txBox="1"/>
          <p:nvPr/>
        </p:nvSpPr>
        <p:spPr>
          <a:xfrm>
            <a:off x="7863840" y="4846320"/>
            <a:ext cx="2377440" cy="411480"/>
          </a:xfrm>
          <a:prstGeom prst="rect">
            <a:avLst/>
          </a:prstGeom>
          <a:noFill/>
          <a:ln/>
        </p:spPr>
        <p:txBody>
          <a:bodyPr wrap="square" lIns="0" tIns="0" rIns="0" bIns="0" rtlCol="0" anchor="ctr"/>
          <a:lstStyle/>
          <a:p>
            <a:pPr indent="0" marL="0">
              <a:buNone/>
            </a:pPr>
            <a:r>
              <a:rPr lang="en-US" sz="1200" b="1" dirty="0">
                <a:solidFill>
                  <a:srgbClr val="1B2127"/>
                </a:solidFill>
              </a:rPr>
              <a:t>any other alarm = false alarm</a:t>
            </a:r>
            <a:endParaRPr lang="en-US" sz="1200" dirty="0"/>
          </a:p>
        </p:txBody>
      </p:sp>
      <p:sp>
        <p:nvSpPr>
          <p:cNvPr id="56" name="f1-explainer"/>
          <p:cNvSpPr txBox="1"/>
          <p:nvPr/>
        </p:nvSpPr>
        <p:spPr>
          <a:xfrm>
            <a:off x="548640" y="5532120"/>
            <a:ext cx="11094415" cy="320040"/>
          </a:xfrm>
          <a:prstGeom prst="rect">
            <a:avLst/>
          </a:prstGeom>
          <a:noFill/>
          <a:ln/>
        </p:spPr>
        <p:txBody>
          <a:bodyPr wrap="square" lIns="0" tIns="0" rIns="0" bIns="0" rtlCol="0" anchor="ctr"/>
          <a:lstStyle/>
          <a:p>
            <a:pPr indent="0" marL="0">
              <a:buNone/>
            </a:pPr>
            <a:r>
              <a:rPr lang="en-US" sz="1400" dirty="0">
                <a:solidFill>
                  <a:srgbClr val="3A4651"/>
                </a:solidFill>
              </a:rPr>
              <a:t>No alarm inside the window = missed drift; penalised delay counts a miss as the whole window. F1 combines precision and recall.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alarm-marker-187"/>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2 · SYSTEM AND METHOD</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Experimental setup</a:t>
            </a:r>
            <a:endParaRPr lang="en-US" sz="3200" dirty="0"/>
          </a:p>
        </p:txBody>
      </p:sp>
      <p:sp>
        <p:nvSpPr>
          <p:cNvPr id="5" name="card-189"/>
          <p:cNvSpPr/>
          <p:nvPr/>
        </p:nvSpPr>
        <p:spPr>
          <a:xfrm>
            <a:off x="548640" y="1600200"/>
            <a:ext cx="5387188" cy="1783080"/>
          </a:xfrm>
          <a:prstGeom prst="roundRect">
            <a:avLst>
              <a:gd name="adj" fmla="val 4103"/>
            </a:avLst>
          </a:prstGeom>
          <a:solidFill>
            <a:srgbClr val="EEF2F5"/>
          </a:solidFill>
          <a:ln/>
        </p:spPr>
      </p:sp>
      <p:sp>
        <p:nvSpPr>
          <p:cNvPr id="6" name="icon-bg-190"/>
          <p:cNvSpPr/>
          <p:nvPr/>
        </p:nvSpPr>
        <p:spPr>
          <a:xfrm>
            <a:off x="777240" y="1828800"/>
            <a:ext cx="502920" cy="502920"/>
          </a:xfrm>
          <a:prstGeom prst="ellipse">
            <a:avLst/>
          </a:prstGeom>
          <a:solidFill>
            <a:srgbClr val="1B2127"/>
          </a:solidFill>
          <a:ln/>
        </p:spPr>
      </p:sp>
      <p:pic>
        <p:nvPicPr>
          <p:cNvPr id="7" name="icon-191" descr="preencoded.png">    </p:cNvPr>
          <p:cNvPicPr>
            <a:picLocks noChangeAspect="1"/>
          </p:cNvPicPr>
          <p:nvPr/>
        </p:nvPicPr>
        <p:blipFill>
          <a:blip r:embed="rId1"/>
          <a:stretch>
            <a:fillRect/>
          </a:stretch>
        </p:blipFill>
        <p:spPr>
          <a:xfrm>
            <a:off x="887882" y="1939442"/>
            <a:ext cx="281635" cy="281635"/>
          </a:xfrm>
          <a:prstGeom prst="rect">
            <a:avLst/>
          </a:prstGeom>
        </p:spPr>
      </p:pic>
      <p:sp>
        <p:nvSpPr>
          <p:cNvPr id="8" name="q-head"/>
          <p:cNvSpPr txBox="1"/>
          <p:nvPr/>
        </p:nvSpPr>
        <p:spPr>
          <a:xfrm>
            <a:off x="1417320" y="1874520"/>
            <a:ext cx="4289908" cy="365760"/>
          </a:xfrm>
          <a:prstGeom prst="rect">
            <a:avLst/>
          </a:prstGeom>
          <a:noFill/>
          <a:ln/>
        </p:spPr>
        <p:txBody>
          <a:bodyPr wrap="square" lIns="0" tIns="0" rIns="0" bIns="0" rtlCol="0" anchor="ctr"/>
          <a:lstStyle/>
          <a:p>
            <a:pPr indent="0" marL="0">
              <a:buNone/>
            </a:pPr>
            <a:r>
              <a:rPr lang="en-US" sz="1800" b="1" dirty="0">
                <a:solidFill>
                  <a:srgbClr val="1B2127"/>
                </a:solidFill>
                <a:latin typeface="Arial" pitchFamily="34" charset="0"/>
                <a:ea typeface="Arial" pitchFamily="34" charset="-122"/>
                <a:cs typeface="Arial" pitchFamily="34" charset="-120"/>
              </a:rPr>
              <a:t>Synthetic error streams</a:t>
            </a:r>
            <a:endParaRPr lang="en-US" sz="1800" dirty="0"/>
          </a:p>
        </p:txBody>
      </p:sp>
      <p:sp>
        <p:nvSpPr>
          <p:cNvPr id="9" name="q-body"/>
          <p:cNvSpPr txBox="1"/>
          <p:nvPr/>
        </p:nvSpPr>
        <p:spPr>
          <a:xfrm>
            <a:off x="1417320" y="2286000"/>
            <a:ext cx="4289908" cy="10058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4651"/>
                </a:solidFill>
              </a:rPr>
              <a:t>480 streams in three settings</a:t>
            </a:r>
            <a:endParaRPr lang="en-US" sz="1400" dirty="0"/>
          </a:p>
          <a:p>
            <a:pPr marL="342900" indent="-342900">
              <a:spcAft>
                <a:spcPts val="300"/>
              </a:spcAft>
              <a:buSzPct val="100000"/>
              <a:buChar char="•"/>
            </a:pPr>
            <a:r>
              <a:rPr lang="en-US" sz="1400" dirty="0">
                <a:solidFill>
                  <a:srgbClr val="3A4651"/>
                </a:solidFill>
              </a:rPr>
              <a:t>Fixed (90) and unseen seeds (90): 10,000 samples, 3 drifts</a:t>
            </a:r>
            <a:endParaRPr lang="en-US" sz="1400" dirty="0"/>
          </a:p>
          <a:p>
            <a:pPr marL="342900" indent="-342900">
              <a:spcAft>
                <a:spcPts val="300"/>
              </a:spcAft>
              <a:buSzPct val="100000"/>
              <a:buChar char="•"/>
            </a:pPr>
            <a:r>
              <a:rPr lang="en-US" sz="1400" dirty="0">
                <a:solidFill>
                  <a:srgbClr val="3A4651"/>
                </a:solidFill>
              </a:rPr>
              <a:t>Varied (300): random length, drift count, width and size</a:t>
            </a:r>
            <a:endParaRPr lang="en-US" sz="1400" dirty="0"/>
          </a:p>
        </p:txBody>
      </p:sp>
      <p:sp>
        <p:nvSpPr>
          <p:cNvPr id="10" name="card-194"/>
          <p:cNvSpPr/>
          <p:nvPr/>
        </p:nvSpPr>
        <p:spPr>
          <a:xfrm>
            <a:off x="6255868" y="1600200"/>
            <a:ext cx="5387188" cy="1783080"/>
          </a:xfrm>
          <a:prstGeom prst="roundRect">
            <a:avLst>
              <a:gd name="adj" fmla="val 4103"/>
            </a:avLst>
          </a:prstGeom>
          <a:solidFill>
            <a:srgbClr val="EEF2F5"/>
          </a:solidFill>
          <a:ln/>
        </p:spPr>
      </p:sp>
      <p:sp>
        <p:nvSpPr>
          <p:cNvPr id="11" name="icon-bg-195"/>
          <p:cNvSpPr/>
          <p:nvPr/>
        </p:nvSpPr>
        <p:spPr>
          <a:xfrm>
            <a:off x="6484468" y="1828800"/>
            <a:ext cx="502920" cy="502920"/>
          </a:xfrm>
          <a:prstGeom prst="ellipse">
            <a:avLst/>
          </a:prstGeom>
          <a:solidFill>
            <a:srgbClr val="1B2127"/>
          </a:solidFill>
          <a:ln/>
        </p:spPr>
      </p:sp>
      <p:pic>
        <p:nvPicPr>
          <p:cNvPr id="12" name="icon-196" descr="preencoded.png">    </p:cNvPr>
          <p:cNvPicPr>
            <a:picLocks noChangeAspect="1"/>
          </p:cNvPicPr>
          <p:nvPr/>
        </p:nvPicPr>
        <p:blipFill>
          <a:blip r:embed="rId2"/>
          <a:stretch>
            <a:fillRect/>
          </a:stretch>
        </p:blipFill>
        <p:spPr>
          <a:xfrm>
            <a:off x="6595110" y="1939442"/>
            <a:ext cx="281635" cy="281635"/>
          </a:xfrm>
          <a:prstGeom prst="rect">
            <a:avLst/>
          </a:prstGeom>
        </p:spPr>
      </p:pic>
      <p:sp>
        <p:nvSpPr>
          <p:cNvPr id="13" name="q-head"/>
          <p:cNvSpPr txBox="1"/>
          <p:nvPr/>
        </p:nvSpPr>
        <p:spPr>
          <a:xfrm>
            <a:off x="7124548" y="1874520"/>
            <a:ext cx="4289908" cy="365760"/>
          </a:xfrm>
          <a:prstGeom prst="rect">
            <a:avLst/>
          </a:prstGeom>
          <a:noFill/>
          <a:ln/>
        </p:spPr>
        <p:txBody>
          <a:bodyPr wrap="square" lIns="0" tIns="0" rIns="0" bIns="0" rtlCol="0" anchor="ctr"/>
          <a:lstStyle/>
          <a:p>
            <a:pPr indent="0" marL="0">
              <a:buNone/>
            </a:pPr>
            <a:r>
              <a:rPr lang="en-US" sz="1800" b="1" dirty="0">
                <a:solidFill>
                  <a:srgbClr val="1B2127"/>
                </a:solidFill>
                <a:latin typeface="Arial" pitchFamily="34" charset="0"/>
                <a:ea typeface="Arial" pitchFamily="34" charset="-122"/>
                <a:cs typeface="Arial" pitchFamily="34" charset="-120"/>
              </a:rPr>
              <a:t>Real and simulated data</a:t>
            </a:r>
            <a:endParaRPr lang="en-US" sz="1800" dirty="0"/>
          </a:p>
        </p:txBody>
      </p:sp>
      <p:sp>
        <p:nvSpPr>
          <p:cNvPr id="14" name="q-body"/>
          <p:cNvSpPr txBox="1"/>
          <p:nvPr/>
        </p:nvSpPr>
        <p:spPr>
          <a:xfrm>
            <a:off x="7124548" y="2286000"/>
            <a:ext cx="4289908" cy="10058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4651"/>
                </a:solidFill>
              </a:rPr>
              <a:t>Simulated IIoT sensor stream with 3 known drifts</a:t>
            </a:r>
            <a:endParaRPr lang="en-US" sz="1400" dirty="0"/>
          </a:p>
          <a:p>
            <a:pPr marL="342900" indent="-342900">
              <a:spcAft>
                <a:spcPts val="300"/>
              </a:spcAft>
              <a:buSzPct val="100000"/>
              <a:buChar char="•"/>
            </a:pPr>
            <a:r>
              <a:rPr lang="en-US" sz="1400" dirty="0">
                <a:solidFill>
                  <a:srgbClr val="3A4651"/>
                </a:solidFill>
              </a:rPr>
              <a:t>IoTID20, CICIDS2017 (Paper 2's published samples)</a:t>
            </a:r>
            <a:endParaRPr lang="en-US" sz="1400" dirty="0"/>
          </a:p>
          <a:p>
            <a:pPr marL="342900" indent="-342900">
              <a:spcAft>
                <a:spcPts val="300"/>
              </a:spcAft>
              <a:buSzPct val="100000"/>
              <a:buChar char="•"/>
            </a:pPr>
            <a:r>
              <a:rPr lang="en-US" sz="1400" dirty="0">
                <a:solidFill>
                  <a:srgbClr val="3A4651"/>
                </a:solidFill>
              </a:rPr>
              <a:t>Natural order, and shuffled with injected drift</a:t>
            </a:r>
            <a:endParaRPr lang="en-US" sz="1400" dirty="0"/>
          </a:p>
        </p:txBody>
      </p:sp>
      <p:sp>
        <p:nvSpPr>
          <p:cNvPr id="15" name="card-199"/>
          <p:cNvSpPr/>
          <p:nvPr/>
        </p:nvSpPr>
        <p:spPr>
          <a:xfrm>
            <a:off x="548640" y="3657600"/>
            <a:ext cx="5387188" cy="1783080"/>
          </a:xfrm>
          <a:prstGeom prst="roundRect">
            <a:avLst>
              <a:gd name="adj" fmla="val 4103"/>
            </a:avLst>
          </a:prstGeom>
          <a:solidFill>
            <a:srgbClr val="EEF2F5"/>
          </a:solidFill>
          <a:ln/>
        </p:spPr>
      </p:sp>
      <p:sp>
        <p:nvSpPr>
          <p:cNvPr id="16" name="icon-bg-200"/>
          <p:cNvSpPr/>
          <p:nvPr/>
        </p:nvSpPr>
        <p:spPr>
          <a:xfrm>
            <a:off x="777240" y="3886200"/>
            <a:ext cx="502920" cy="502920"/>
          </a:xfrm>
          <a:prstGeom prst="ellipse">
            <a:avLst/>
          </a:prstGeom>
          <a:solidFill>
            <a:srgbClr val="1B2127"/>
          </a:solidFill>
          <a:ln/>
        </p:spPr>
      </p:sp>
      <p:pic>
        <p:nvPicPr>
          <p:cNvPr id="17" name="icon-201" descr="preencoded.png">    </p:cNvPr>
          <p:cNvPicPr>
            <a:picLocks noChangeAspect="1"/>
          </p:cNvPicPr>
          <p:nvPr/>
        </p:nvPicPr>
        <p:blipFill>
          <a:blip r:embed="rId3"/>
          <a:stretch>
            <a:fillRect/>
          </a:stretch>
        </p:blipFill>
        <p:spPr>
          <a:xfrm>
            <a:off x="887882" y="3996842"/>
            <a:ext cx="281635" cy="281635"/>
          </a:xfrm>
          <a:prstGeom prst="rect">
            <a:avLst/>
          </a:prstGeom>
        </p:spPr>
      </p:pic>
      <p:sp>
        <p:nvSpPr>
          <p:cNvPr id="18" name="q-head"/>
          <p:cNvSpPr txBox="1"/>
          <p:nvPr/>
        </p:nvSpPr>
        <p:spPr>
          <a:xfrm>
            <a:off x="1417320" y="3931920"/>
            <a:ext cx="4289908" cy="365760"/>
          </a:xfrm>
          <a:prstGeom prst="rect">
            <a:avLst/>
          </a:prstGeom>
          <a:noFill/>
          <a:ln/>
        </p:spPr>
        <p:txBody>
          <a:bodyPr wrap="square" lIns="0" tIns="0" rIns="0" bIns="0" rtlCol="0" anchor="ctr"/>
          <a:lstStyle/>
          <a:p>
            <a:pPr indent="0" marL="0">
              <a:buNone/>
            </a:pPr>
            <a:r>
              <a:rPr lang="en-US" sz="1800" b="1" dirty="0">
                <a:solidFill>
                  <a:srgbClr val="1B2127"/>
                </a:solidFill>
                <a:latin typeface="Arial" pitchFamily="34" charset="0"/>
                <a:ea typeface="Arial" pitchFamily="34" charset="-122"/>
                <a:cs typeface="Arial" pitchFamily="34" charset="-120"/>
              </a:rPr>
              <a:t>Metrics</a:t>
            </a:r>
            <a:endParaRPr lang="en-US" sz="1800" dirty="0"/>
          </a:p>
        </p:txBody>
      </p:sp>
      <p:sp>
        <p:nvSpPr>
          <p:cNvPr id="19" name="q-body"/>
          <p:cNvSpPr txBox="1"/>
          <p:nvPr/>
        </p:nvSpPr>
        <p:spPr>
          <a:xfrm>
            <a:off x="1417320" y="4343400"/>
            <a:ext cx="4289908" cy="10058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4651"/>
                </a:solidFill>
              </a:rPr>
              <a:t>Detection: F1, delay, penalised delay, false alarms / 1k, µs, kB</a:t>
            </a:r>
            <a:endParaRPr lang="en-US" sz="1400" dirty="0"/>
          </a:p>
          <a:p>
            <a:pPr marL="342900" indent="-342900">
              <a:spcAft>
                <a:spcPts val="300"/>
              </a:spcAft>
              <a:buSzPct val="100000"/>
              <a:buChar char="•"/>
            </a:pPr>
            <a:r>
              <a:rPr lang="en-US" sz="1400" dirty="0">
                <a:solidFill>
                  <a:srgbClr val="3A4651"/>
                </a:solidFill>
              </a:rPr>
              <a:t>Retraining: accuracy and attack / fault F1, 10 seeds</a:t>
            </a:r>
            <a:endParaRPr lang="en-US" sz="1400" dirty="0"/>
          </a:p>
          <a:p>
            <a:pPr marL="342900" indent="-342900">
              <a:spcAft>
                <a:spcPts val="300"/>
              </a:spcAft>
              <a:buSzPct val="100000"/>
              <a:buChar char="•"/>
            </a:pPr>
            <a:r>
              <a:rPr lang="en-US" sz="1400" dirty="0">
                <a:solidFill>
                  <a:srgbClr val="3A4651"/>
                </a:solidFill>
              </a:rPr>
              <a:t>Live: records/s and end-to-end latency</a:t>
            </a:r>
            <a:endParaRPr lang="en-US" sz="1400" dirty="0"/>
          </a:p>
        </p:txBody>
      </p:sp>
      <p:sp>
        <p:nvSpPr>
          <p:cNvPr id="20" name="card-204"/>
          <p:cNvSpPr/>
          <p:nvPr/>
        </p:nvSpPr>
        <p:spPr>
          <a:xfrm>
            <a:off x="6255868" y="3657600"/>
            <a:ext cx="5387188" cy="1783080"/>
          </a:xfrm>
          <a:prstGeom prst="roundRect">
            <a:avLst>
              <a:gd name="adj" fmla="val 4103"/>
            </a:avLst>
          </a:prstGeom>
          <a:solidFill>
            <a:srgbClr val="EEF2F5"/>
          </a:solidFill>
          <a:ln/>
        </p:spPr>
      </p:sp>
      <p:sp>
        <p:nvSpPr>
          <p:cNvPr id="21" name="icon-bg-205"/>
          <p:cNvSpPr/>
          <p:nvPr/>
        </p:nvSpPr>
        <p:spPr>
          <a:xfrm>
            <a:off x="6484468" y="3886200"/>
            <a:ext cx="502920" cy="502920"/>
          </a:xfrm>
          <a:prstGeom prst="ellipse">
            <a:avLst/>
          </a:prstGeom>
          <a:solidFill>
            <a:srgbClr val="1B2127"/>
          </a:solidFill>
          <a:ln/>
        </p:spPr>
      </p:sp>
      <p:pic>
        <p:nvPicPr>
          <p:cNvPr id="22" name="icon-206" descr="preencoded.png">    </p:cNvPr>
          <p:cNvPicPr>
            <a:picLocks noChangeAspect="1"/>
          </p:cNvPicPr>
          <p:nvPr/>
        </p:nvPicPr>
        <p:blipFill>
          <a:blip r:embed="rId4"/>
          <a:stretch>
            <a:fillRect/>
          </a:stretch>
        </p:blipFill>
        <p:spPr>
          <a:xfrm>
            <a:off x="6595110" y="3996842"/>
            <a:ext cx="281635" cy="281635"/>
          </a:xfrm>
          <a:prstGeom prst="rect">
            <a:avLst/>
          </a:prstGeom>
        </p:spPr>
      </p:pic>
      <p:sp>
        <p:nvSpPr>
          <p:cNvPr id="23" name="q-head"/>
          <p:cNvSpPr txBox="1"/>
          <p:nvPr/>
        </p:nvSpPr>
        <p:spPr>
          <a:xfrm>
            <a:off x="7124548" y="3931920"/>
            <a:ext cx="4289908" cy="365760"/>
          </a:xfrm>
          <a:prstGeom prst="rect">
            <a:avLst/>
          </a:prstGeom>
          <a:noFill/>
          <a:ln/>
        </p:spPr>
        <p:txBody>
          <a:bodyPr wrap="square" lIns="0" tIns="0" rIns="0" bIns="0" rtlCol="0" anchor="ctr"/>
          <a:lstStyle/>
          <a:p>
            <a:pPr indent="0" marL="0">
              <a:buNone/>
            </a:pPr>
            <a:r>
              <a:rPr lang="en-US" sz="1800" b="1" dirty="0">
                <a:solidFill>
                  <a:srgbClr val="1B2127"/>
                </a:solidFill>
                <a:latin typeface="Arial" pitchFamily="34" charset="0"/>
                <a:ea typeface="Arial" pitchFamily="34" charset="-122"/>
                <a:cs typeface="Arial" pitchFamily="34" charset="-120"/>
              </a:rPr>
              <a:t>Statistics</a:t>
            </a:r>
            <a:endParaRPr lang="en-US" sz="1800" dirty="0"/>
          </a:p>
        </p:txBody>
      </p:sp>
      <p:sp>
        <p:nvSpPr>
          <p:cNvPr id="24" name="q-body"/>
          <p:cNvSpPr txBox="1"/>
          <p:nvPr/>
        </p:nvSpPr>
        <p:spPr>
          <a:xfrm>
            <a:off x="7124548" y="4343400"/>
            <a:ext cx="4289908" cy="10058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3A4651"/>
                </a:solidFill>
              </a:rPr>
              <a:t>Friedman + Nemenyi over all detectors</a:t>
            </a:r>
            <a:endParaRPr lang="en-US" sz="1400" dirty="0"/>
          </a:p>
          <a:p>
            <a:pPr marL="342900" indent="-342900">
              <a:spcAft>
                <a:spcPts val="300"/>
              </a:spcAft>
              <a:buSzPct val="100000"/>
              <a:buChar char="•"/>
            </a:pPr>
            <a:r>
              <a:rPr lang="en-US" sz="1400" dirty="0">
                <a:solidFill>
                  <a:srgbClr val="3A4651"/>
                </a:solidFill>
              </a:rPr>
              <a:t>Holm-corrected Wilcoxon: hybrid vs each detector</a:t>
            </a:r>
            <a:endParaRPr lang="en-US" sz="1400" dirty="0"/>
          </a:p>
          <a:p>
            <a:pPr marL="342900" indent="-342900">
              <a:spcAft>
                <a:spcPts val="300"/>
              </a:spcAft>
              <a:buSzPct val="100000"/>
              <a:buChar char="•"/>
            </a:pPr>
            <a:r>
              <a:rPr lang="en-US" sz="1400" dirty="0">
                <a:solidFill>
                  <a:srgbClr val="3A4651"/>
                </a:solidFill>
              </a:rPr>
              <a:t>On F1, penalised delay and time</a:t>
            </a:r>
            <a:endParaRPr lang="en-US" sz="1400" dirty="0"/>
          </a:p>
        </p:txBody>
      </p:sp>
      <p:sp>
        <p:nvSpPr>
          <p:cNvPr id="25" name="detectors"/>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b="1" dirty="0">
                <a:solidFill>
                  <a:srgbClr val="1B2127"/>
                </a:solidFill>
              </a:rPr>
              <a:t>Detectors: </a:t>
            </a:r>
            <a:pPr indent="0" marL="0">
              <a:buNone/>
            </a:pPr>
            <a:r>
              <a:rPr lang="en-US" sz="1400" dirty="0">
                <a:solidFill>
                  <a:srgbClr val="1B2127"/>
                </a:solidFill>
              </a:rPr>
              <a:t>DDM, EDDM, HDDM-A, HDDM-W, ADWIN (River 0.26.1, default settings), our hybrid, and six variants that isolate each design choice.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alarm-marker-210"/>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3 · RESULTS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Baseline: mean-based detectors win, EDDM comes last</a:t>
            </a:r>
            <a:endParaRPr lang="en-US" sz="3200" dirty="0"/>
          </a:p>
        </p:txBody>
      </p:sp>
      <p:graphicFrame>
        <p:nvGraphicFramePr>
          <p:cNvPr id="5" name="f1-chart" descr=""/>
          <p:cNvGraphicFramePr/>
          <p:nvPr/>
        </p:nvGraphicFramePr>
        <p:xfrm>
          <a:off x="548640" y="1554480"/>
          <a:ext cx="5387188"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delay-chart" descr=""/>
          <p:cNvGraphicFramePr/>
          <p:nvPr/>
        </p:nvGraphicFramePr>
        <p:xfrm>
          <a:off x="6255868" y="1554480"/>
          <a:ext cx="5387188" cy="3429000"/>
        </p:xfrm>
        <a:graphic xmlns:a="http://schemas.openxmlformats.org/drawingml/2006/main">
          <a:graphicData uri="http://schemas.openxmlformats.org/drawingml/2006/chart">
            <c:chart xmlns:c="http://schemas.openxmlformats.org/drawingml/2006/chart" r:id="rId2"/>
          </a:graphicData>
        </a:graphic>
      </p:graphicFrame>
      <p:sp>
        <p:nvSpPr>
          <p:cNvPr id="7" name="card-212"/>
          <p:cNvSpPr/>
          <p:nvPr/>
        </p:nvSpPr>
        <p:spPr>
          <a:xfrm>
            <a:off x="548640" y="5120640"/>
            <a:ext cx="11094415" cy="868680"/>
          </a:xfrm>
          <a:prstGeom prst="roundRect">
            <a:avLst>
              <a:gd name="adj" fmla="val 8421"/>
            </a:avLst>
          </a:prstGeom>
          <a:solidFill>
            <a:srgbClr val="FBE3E3"/>
          </a:solidFill>
          <a:ln/>
        </p:spPr>
      </p:sp>
      <p:sp>
        <p:nvSpPr>
          <p:cNvPr id="8" name="eddm-callout"/>
          <p:cNvSpPr txBox="1"/>
          <p:nvPr/>
        </p:nvSpPr>
        <p:spPr>
          <a:xfrm>
            <a:off x="777240" y="5166360"/>
            <a:ext cx="10637215" cy="777240"/>
          </a:xfrm>
          <a:prstGeom prst="rect">
            <a:avLst/>
          </a:prstGeom>
          <a:noFill/>
          <a:ln/>
        </p:spPr>
        <p:txBody>
          <a:bodyPr wrap="square" lIns="0" tIns="0" rIns="0" bIns="0" rtlCol="0" anchor="ctr"/>
          <a:lstStyle/>
          <a:p>
            <a:pPr indent="0" marL="0">
              <a:buNone/>
            </a:pPr>
            <a:r>
              <a:rPr lang="en-US" sz="1400" b="1" dirty="0">
                <a:solidFill>
                  <a:srgbClr val="1B2127"/>
                </a:solidFill>
              </a:rPr>
              <a:t>Not Paper 1's ranking. </a:t>
            </a:r>
            <a:pPr indent="0" marL="0">
              <a:buNone/>
            </a:pPr>
            <a:r>
              <a:rPr lang="en-US" sz="1400" dirty="0">
                <a:solidFill>
                  <a:srgbClr val="1B2127"/>
                </a:solidFill>
              </a:rPr>
              <a:t>Paper 1 found EDDM most accurate; here it is last (F1 0.13). It catches 87%–96% of drifts and reacts fastest, but raises 3.78 false alarms per 1,000 samples, and our scoring counts every one.</a:t>
            </a:r>
            <a:endParaRPr lang="en-US" sz="1400" dirty="0"/>
          </a:p>
        </p:txBody>
      </p:sp>
      <p:sp>
        <p:nvSpPr>
          <p:cNvPr id="9" name="note"/>
          <p:cNvSpPr txBox="1"/>
          <p:nvPr/>
        </p:nvSpPr>
        <p:spPr>
          <a:xfrm>
            <a:off x="548640" y="6108192"/>
            <a:ext cx="11094415" cy="274320"/>
          </a:xfrm>
          <a:prstGeom prst="rect">
            <a:avLst/>
          </a:prstGeom>
          <a:noFill/>
          <a:ln/>
        </p:spPr>
        <p:txBody>
          <a:bodyPr wrap="square" lIns="0" tIns="0" rIns="0" bIns="0" rtlCol="0" anchor="ctr"/>
          <a:lstStyle/>
          <a:p>
            <a:pPr indent="0" marL="0">
              <a:buNone/>
            </a:pPr>
            <a:r>
              <a:rPr lang="en-US" sz="1000" i="1" dirty="0">
                <a:solidFill>
                  <a:srgbClr val="5B6670"/>
                </a:solidFill>
              </a:rPr>
              <a:t>Fixed setting, 90 streams.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alarm-marker-215"/>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3 · RESULTS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Our hybrid: two different detectors, one alarm</a:t>
            </a:r>
            <a:endParaRPr lang="en-US" sz="3200" dirty="0"/>
          </a:p>
        </p:txBody>
      </p:sp>
      <p:sp>
        <p:nvSpPr>
          <p:cNvPr id="5" name="card-217"/>
          <p:cNvSpPr/>
          <p:nvPr/>
        </p:nvSpPr>
        <p:spPr>
          <a:xfrm>
            <a:off x="548640" y="2651760"/>
            <a:ext cx="1280160" cy="1005840"/>
          </a:xfrm>
          <a:prstGeom prst="roundRect">
            <a:avLst>
              <a:gd name="adj" fmla="val 7273"/>
            </a:avLst>
          </a:prstGeom>
          <a:solidFill>
            <a:srgbClr val="EEF2F5"/>
          </a:solidFill>
          <a:ln/>
        </p:spPr>
      </p:sp>
      <p:sp>
        <p:nvSpPr>
          <p:cNvPr id="6" name="d-in"/>
          <p:cNvSpPr txBox="1"/>
          <p:nvPr/>
        </p:nvSpPr>
        <p:spPr>
          <a:xfrm>
            <a:off x="594360" y="2697480"/>
            <a:ext cx="1188720" cy="914400"/>
          </a:xfrm>
          <a:prstGeom prst="rect">
            <a:avLst/>
          </a:prstGeom>
          <a:noFill/>
          <a:ln/>
        </p:spPr>
        <p:txBody>
          <a:bodyPr wrap="square" lIns="0" tIns="0" rIns="0" bIns="0" rtlCol="0" anchor="ctr"/>
          <a:lstStyle/>
          <a:p>
            <a:pPr algn="ctr" indent="0" marL="0">
              <a:buNone/>
            </a:pPr>
            <a:r>
              <a:rPr lang="en-US" sz="1300" b="1" dirty="0">
                <a:solidFill>
                  <a:srgbClr val="1B2127"/>
                </a:solidFill>
              </a:rPr>
              <a:t>0 / 1 error stream</a:t>
            </a:r>
            <a:endParaRPr lang="en-US" sz="1300" dirty="0"/>
          </a:p>
        </p:txBody>
      </p:sp>
      <p:sp>
        <p:nvSpPr>
          <p:cNvPr id="7" name="d-det-219"/>
          <p:cNvSpPr/>
          <p:nvPr/>
        </p:nvSpPr>
        <p:spPr>
          <a:xfrm>
            <a:off x="2240280" y="1737360"/>
            <a:ext cx="1600200" cy="914400"/>
          </a:xfrm>
          <a:prstGeom prst="roundRect">
            <a:avLst>
              <a:gd name="adj" fmla="val 8000"/>
            </a:avLst>
          </a:prstGeom>
          <a:solidFill>
            <a:srgbClr val="FFFFFF"/>
          </a:solidFill>
          <a:ln w="28575">
            <a:solidFill>
              <a:srgbClr val="EB6834"/>
            </a:solidFill>
            <a:prstDash val="solid"/>
          </a:ln>
        </p:spPr>
      </p:sp>
      <p:sp>
        <p:nvSpPr>
          <p:cNvPr id="8" name="d-det-t"/>
          <p:cNvSpPr txBox="1"/>
          <p:nvPr/>
        </p:nvSpPr>
        <p:spPr>
          <a:xfrm>
            <a:off x="2286000" y="1783080"/>
            <a:ext cx="1508760" cy="822960"/>
          </a:xfrm>
          <a:prstGeom prst="rect">
            <a:avLst/>
          </a:prstGeom>
          <a:noFill/>
          <a:ln/>
        </p:spPr>
        <p:txBody>
          <a:bodyPr wrap="square" lIns="0" tIns="0" rIns="0" bIns="0" rtlCol="0" anchor="ctr"/>
          <a:lstStyle/>
          <a:p>
            <a:pPr algn="ctr" indent="0" marL="0">
              <a:buNone/>
            </a:pPr>
            <a:r>
              <a:rPr lang="en-US" sz="1600" b="1" dirty="0">
                <a:solidFill>
                  <a:srgbClr val="1B2127"/>
                </a:solidFill>
              </a:rPr>
              <a:t>HDDM-A</a:t>
            </a:r>
            <a:endParaRPr lang="en-US" sz="1600" dirty="0"/>
          </a:p>
          <a:p>
            <a:pPr algn="ctr" indent="0" marL="0">
              <a:buNone/>
            </a:pPr>
            <a:r>
              <a:rPr lang="en-US" sz="1100" dirty="0">
                <a:solidFill>
                  <a:srgbClr val="3A4651"/>
                </a:solidFill>
              </a:rPr>
              <a:t>running-mean test</a:t>
            </a:r>
            <a:endParaRPr lang="en-US" sz="1600" dirty="0"/>
          </a:p>
        </p:txBody>
      </p:sp>
      <p:sp>
        <p:nvSpPr>
          <p:cNvPr id="9" name="d-det-221"/>
          <p:cNvSpPr/>
          <p:nvPr/>
        </p:nvSpPr>
        <p:spPr>
          <a:xfrm>
            <a:off x="2240280" y="3657600"/>
            <a:ext cx="1600200" cy="914400"/>
          </a:xfrm>
          <a:prstGeom prst="roundRect">
            <a:avLst>
              <a:gd name="adj" fmla="val 8000"/>
            </a:avLst>
          </a:prstGeom>
          <a:solidFill>
            <a:srgbClr val="FFFFFF"/>
          </a:solidFill>
          <a:ln w="28575">
            <a:solidFill>
              <a:srgbClr val="1BAF7A"/>
            </a:solidFill>
            <a:prstDash val="solid"/>
          </a:ln>
        </p:spPr>
      </p:sp>
      <p:sp>
        <p:nvSpPr>
          <p:cNvPr id="10" name="d-det-t"/>
          <p:cNvSpPr txBox="1"/>
          <p:nvPr/>
        </p:nvSpPr>
        <p:spPr>
          <a:xfrm>
            <a:off x="2286000" y="3703320"/>
            <a:ext cx="1508760" cy="822960"/>
          </a:xfrm>
          <a:prstGeom prst="rect">
            <a:avLst/>
          </a:prstGeom>
          <a:noFill/>
          <a:ln/>
        </p:spPr>
        <p:txBody>
          <a:bodyPr wrap="square" lIns="0" tIns="0" rIns="0" bIns="0" rtlCol="0" anchor="ctr"/>
          <a:lstStyle/>
          <a:p>
            <a:pPr algn="ctr" indent="0" marL="0">
              <a:buNone/>
            </a:pPr>
            <a:r>
              <a:rPr lang="en-US" sz="1600" b="1" dirty="0">
                <a:solidFill>
                  <a:srgbClr val="1B2127"/>
                </a:solidFill>
              </a:rPr>
              <a:t>ADWIN</a:t>
            </a:r>
            <a:endParaRPr lang="en-US" sz="1600" dirty="0"/>
          </a:p>
          <a:p>
            <a:pPr algn="ctr" indent="0" marL="0">
              <a:buNone/>
            </a:pPr>
            <a:r>
              <a:rPr lang="en-US" sz="1100" dirty="0">
                <a:solidFill>
                  <a:srgbClr val="3A4651"/>
                </a:solidFill>
              </a:rPr>
              <a:t>two adaptive windows</a:t>
            </a:r>
            <a:endParaRPr lang="en-US" sz="1600" dirty="0"/>
          </a:p>
        </p:txBody>
      </p:sp>
      <p:sp>
        <p:nvSpPr>
          <p:cNvPr id="11" name="arrow-223"/>
          <p:cNvSpPr/>
          <p:nvPr/>
        </p:nvSpPr>
        <p:spPr>
          <a:xfrm flipV="1">
            <a:off x="1828800" y="2194560"/>
            <a:ext cx="411480" cy="822960"/>
          </a:xfrm>
          <a:prstGeom prst="line">
            <a:avLst/>
          </a:prstGeom>
          <a:noFill/>
          <a:ln w="22225">
            <a:solidFill>
              <a:srgbClr val="3A4651"/>
            </a:solidFill>
            <a:prstDash val="solid"/>
            <a:tailEnd type="triangle"/>
          </a:ln>
        </p:spPr>
      </p:sp>
      <p:sp>
        <p:nvSpPr>
          <p:cNvPr id="12" name="arrow-224"/>
          <p:cNvSpPr/>
          <p:nvPr/>
        </p:nvSpPr>
        <p:spPr>
          <a:xfrm>
            <a:off x="1828800" y="3291840"/>
            <a:ext cx="411480" cy="822960"/>
          </a:xfrm>
          <a:prstGeom prst="line">
            <a:avLst/>
          </a:prstGeom>
          <a:noFill/>
          <a:ln w="22225">
            <a:solidFill>
              <a:srgbClr val="3A4651"/>
            </a:solidFill>
            <a:prstDash val="solid"/>
            <a:tailEnd type="triangle"/>
          </a:ln>
        </p:spPr>
      </p:sp>
      <p:sp>
        <p:nvSpPr>
          <p:cNvPr id="13" name="d-or"/>
          <p:cNvSpPr/>
          <p:nvPr/>
        </p:nvSpPr>
        <p:spPr>
          <a:xfrm>
            <a:off x="4160520" y="2788920"/>
            <a:ext cx="731520" cy="731520"/>
          </a:xfrm>
          <a:prstGeom prst="ellipse">
            <a:avLst/>
          </a:prstGeom>
          <a:solidFill>
            <a:srgbClr val="1B2127"/>
          </a:solidFill>
          <a:ln/>
        </p:spPr>
      </p:sp>
      <p:sp>
        <p:nvSpPr>
          <p:cNvPr id="14" name="d-or-t"/>
          <p:cNvSpPr txBox="1"/>
          <p:nvPr/>
        </p:nvSpPr>
        <p:spPr>
          <a:xfrm>
            <a:off x="4160520" y="278892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rPr>
              <a:t>OR</a:t>
            </a:r>
            <a:endParaRPr lang="en-US" sz="1600" dirty="0"/>
          </a:p>
        </p:txBody>
      </p:sp>
      <p:sp>
        <p:nvSpPr>
          <p:cNvPr id="15" name="arrow-226"/>
          <p:cNvSpPr/>
          <p:nvPr/>
        </p:nvSpPr>
        <p:spPr>
          <a:xfrm>
            <a:off x="3840480" y="2194560"/>
            <a:ext cx="365760" cy="658368"/>
          </a:xfrm>
          <a:prstGeom prst="line">
            <a:avLst/>
          </a:prstGeom>
          <a:noFill/>
          <a:ln w="22225">
            <a:solidFill>
              <a:srgbClr val="3A4651"/>
            </a:solidFill>
            <a:prstDash val="solid"/>
            <a:tailEnd type="triangle"/>
          </a:ln>
        </p:spPr>
      </p:sp>
      <p:sp>
        <p:nvSpPr>
          <p:cNvPr id="16" name="arrow-227"/>
          <p:cNvSpPr/>
          <p:nvPr/>
        </p:nvSpPr>
        <p:spPr>
          <a:xfrm flipV="1">
            <a:off x="3840480" y="3456432"/>
            <a:ext cx="365760" cy="658368"/>
          </a:xfrm>
          <a:prstGeom prst="line">
            <a:avLst/>
          </a:prstGeom>
          <a:noFill/>
          <a:ln w="22225">
            <a:solidFill>
              <a:srgbClr val="3A4651"/>
            </a:solidFill>
            <a:prstDash val="solid"/>
            <a:tailEnd type="triangle"/>
          </a:ln>
        </p:spPr>
      </p:sp>
      <p:sp>
        <p:nvSpPr>
          <p:cNvPr id="17" name="arrow-228"/>
          <p:cNvSpPr/>
          <p:nvPr/>
        </p:nvSpPr>
        <p:spPr>
          <a:xfrm>
            <a:off x="4526280" y="3520440"/>
            <a:ext cx="0" cy="457200"/>
          </a:xfrm>
          <a:prstGeom prst="line">
            <a:avLst/>
          </a:prstGeom>
          <a:noFill/>
          <a:ln w="22225">
            <a:solidFill>
              <a:srgbClr val="3A4651"/>
            </a:solidFill>
            <a:prstDash val="solid"/>
            <a:tailEnd type="triangle"/>
          </a:ln>
        </p:spPr>
      </p:sp>
      <p:sp>
        <p:nvSpPr>
          <p:cNvPr id="18" name="d-ref"/>
          <p:cNvSpPr/>
          <p:nvPr/>
        </p:nvSpPr>
        <p:spPr>
          <a:xfrm>
            <a:off x="3703320" y="4023360"/>
            <a:ext cx="1645920" cy="868680"/>
          </a:xfrm>
          <a:prstGeom prst="roundRect">
            <a:avLst>
              <a:gd name="adj" fmla="val 8421"/>
            </a:avLst>
          </a:prstGeom>
          <a:solidFill>
            <a:srgbClr val="EEF2F5"/>
          </a:solidFill>
          <a:ln/>
        </p:spPr>
      </p:sp>
      <p:sp>
        <p:nvSpPr>
          <p:cNvPr id="19" name="d-ref-t"/>
          <p:cNvSpPr txBox="1"/>
          <p:nvPr/>
        </p:nvSpPr>
        <p:spPr>
          <a:xfrm>
            <a:off x="3749040" y="4069080"/>
            <a:ext cx="1554480" cy="777240"/>
          </a:xfrm>
          <a:prstGeom prst="rect">
            <a:avLst/>
          </a:prstGeom>
          <a:noFill/>
          <a:ln/>
        </p:spPr>
        <p:txBody>
          <a:bodyPr wrap="square" lIns="0" tIns="0" rIns="0" bIns="0" rtlCol="0" anchor="ctr"/>
          <a:lstStyle/>
          <a:p>
            <a:pPr algn="ctr" indent="0" marL="0">
              <a:buNone/>
            </a:pPr>
            <a:r>
              <a:rPr lang="en-US" sz="1300" b="1" dirty="0">
                <a:solidFill>
                  <a:srgbClr val="1B2127"/>
                </a:solidFill>
              </a:rPr>
              <a:t>Refractory 500</a:t>
            </a:r>
            <a:endParaRPr lang="en-US" sz="1300" dirty="0"/>
          </a:p>
          <a:p>
            <a:pPr algn="ctr" indent="0" marL="0">
              <a:buNone/>
            </a:pPr>
            <a:r>
              <a:rPr lang="en-US" sz="1100" dirty="0">
                <a:solidFill>
                  <a:srgbClr val="3A4651"/>
                </a:solidFill>
              </a:rPr>
              <a:t>ignore repeat alarms for 500 samples</a:t>
            </a:r>
            <a:endParaRPr lang="en-US" sz="1300" dirty="0"/>
          </a:p>
        </p:txBody>
      </p:sp>
      <p:sp>
        <p:nvSpPr>
          <p:cNvPr id="20" name="arrow-230"/>
          <p:cNvSpPr/>
          <p:nvPr/>
        </p:nvSpPr>
        <p:spPr>
          <a:xfrm>
            <a:off x="4526280" y="4892040"/>
            <a:ext cx="0" cy="365760"/>
          </a:xfrm>
          <a:prstGeom prst="line">
            <a:avLst/>
          </a:prstGeom>
          <a:noFill/>
          <a:ln w="22225">
            <a:solidFill>
              <a:srgbClr val="3A4651"/>
            </a:solidFill>
            <a:prstDash val="solid"/>
            <a:tailEnd type="triangle"/>
          </a:ln>
        </p:spPr>
      </p:sp>
      <p:sp>
        <p:nvSpPr>
          <p:cNvPr id="21" name="alarm-231"/>
          <p:cNvSpPr/>
          <p:nvPr/>
        </p:nvSpPr>
        <p:spPr>
          <a:xfrm flipV="1">
            <a:off x="4370832" y="5303520"/>
            <a:ext cx="310896" cy="264262"/>
          </a:xfrm>
          <a:prstGeom prst="triangle">
            <a:avLst/>
          </a:prstGeom>
          <a:solidFill>
            <a:srgbClr val="D62828"/>
          </a:solidFill>
          <a:ln w="9525">
            <a:solidFill>
              <a:srgbClr val="FFFFFF"/>
            </a:solidFill>
            <a:prstDash val="solid"/>
          </a:ln>
        </p:spPr>
      </p:sp>
      <p:sp>
        <p:nvSpPr>
          <p:cNvPr id="22" name="d-alarm-t"/>
          <p:cNvSpPr txBox="1"/>
          <p:nvPr/>
        </p:nvSpPr>
        <p:spPr>
          <a:xfrm>
            <a:off x="4754880" y="5285232"/>
            <a:ext cx="1097280" cy="274320"/>
          </a:xfrm>
          <a:prstGeom prst="rect">
            <a:avLst/>
          </a:prstGeom>
          <a:noFill/>
          <a:ln/>
        </p:spPr>
        <p:txBody>
          <a:bodyPr wrap="square" lIns="0" tIns="0" rIns="0" bIns="0" rtlCol="0" anchor="ctr"/>
          <a:lstStyle/>
          <a:p>
            <a:pPr indent="0" marL="0">
              <a:buNone/>
            </a:pPr>
            <a:r>
              <a:rPr lang="en-US" sz="1300" b="1" dirty="0">
                <a:solidFill>
                  <a:srgbClr val="D62828"/>
                </a:solidFill>
              </a:rPr>
              <a:t>one alarm</a:t>
            </a:r>
            <a:endParaRPr lang="en-US" sz="1300" dirty="0"/>
          </a:p>
        </p:txBody>
      </p:sp>
      <p:graphicFrame>
        <p:nvGraphicFramePr>
          <p:cNvPr id="11" name="f1-table"/>
          <p:cNvGraphicFramePr>
            <a:graphicFrameLocks noGrp="1"/>
          </p:cNvGraphicFramePr>
          <p:nvPr>
            <p:extLst>
              <p:ext uri="{D42A27DB-BD31-4B8C-83A1-F6EECF244321}">
                <p14:modId xmlns:p14="http://schemas.microsoft.com/office/powerpoint/2010/main" val="1579011935"/>
              </p:ext>
            </p:extLst>
          </p:nvPr>
        </p:nvGraphicFramePr>
        <p:xfrm>
          <a:off x="5989320" y="1691640"/>
          <a:ext cx="5653735" cy="914400"/>
        </p:xfrm>
        <a:graphic>
          <a:graphicData uri="http://schemas.openxmlformats.org/drawingml/2006/table">
            <a:tbl>
              <a:tblPr/>
              <a:tblGrid>
                <a:gridCol w="2148840"/>
                <a:gridCol w="1005840"/>
                <a:gridCol w="1188720"/>
                <a:gridCol w="1307592"/>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Detection F1</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Fixed</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Unseen seeds</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Varied</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r>
              <a:tr h="365760">
                <a:tc>
                  <a:txBody>
                    <a:bodyPr/>
                    <a:lstStyle/>
                    <a:p>
                      <a:pPr algn="l" indent="0" marL="0">
                        <a:buNone/>
                      </a:pPr>
                      <a:r>
                        <a:rPr lang="en-US" sz="1300" b="1" dirty="0">
                          <a:solidFill>
                            <a:srgbClr val="1B2127"/>
                          </a:solidFill>
                          <a:latin typeface="Calibri" pitchFamily="34" charset="0"/>
                          <a:ea typeface="Calibri" pitchFamily="34" charset="-122"/>
                          <a:cs typeface="Calibri" pitchFamily="34" charset="-120"/>
                        </a:rPr>
                        <a:t>Hybrid (ours)</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c>
                  <a:txBody>
                    <a:bodyPr/>
                    <a:lstStyle/>
                    <a:p>
                      <a:pPr algn="ctr" indent="0" marL="0">
                        <a:buNone/>
                      </a:pPr>
                      <a:r>
                        <a:rPr lang="en-US" sz="1300" b="1" dirty="0">
                          <a:solidFill>
                            <a:srgbClr val="1B2127"/>
                          </a:solidFill>
                          <a:latin typeface="Calibri" pitchFamily="34" charset="0"/>
                          <a:ea typeface="Calibri" pitchFamily="34" charset="-122"/>
                          <a:cs typeface="Calibri" pitchFamily="34" charset="-120"/>
                        </a:rPr>
                        <a:t>0.733</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c>
                  <a:txBody>
                    <a:bodyPr/>
                    <a:lstStyle/>
                    <a:p>
                      <a:pPr algn="ctr" indent="0" marL="0">
                        <a:buNone/>
                      </a:pPr>
                      <a:r>
                        <a:rPr lang="en-US" sz="1300" b="1" dirty="0">
                          <a:solidFill>
                            <a:srgbClr val="1B2127"/>
                          </a:solidFill>
                          <a:latin typeface="Calibri" pitchFamily="34" charset="0"/>
                          <a:ea typeface="Calibri" pitchFamily="34" charset="-122"/>
                          <a:cs typeface="Calibri" pitchFamily="34" charset="-120"/>
                        </a:rPr>
                        <a:t>0.786</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c>
                  <a:txBody>
                    <a:bodyPr/>
                    <a:lstStyle/>
                    <a:p>
                      <a:pPr algn="ctr" indent="0" marL="0">
                        <a:buNone/>
                      </a:pPr>
                      <a:r>
                        <a:rPr lang="en-US" sz="1300" b="1" dirty="0">
                          <a:solidFill>
                            <a:srgbClr val="1B2127"/>
                          </a:solidFill>
                          <a:latin typeface="Calibri" pitchFamily="34" charset="0"/>
                          <a:ea typeface="Calibri" pitchFamily="34" charset="-122"/>
                          <a:cs typeface="Calibri" pitchFamily="34" charset="-120"/>
                        </a:rPr>
                        <a:t>0.591</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r>
              <a:tr h="365760">
                <a:tc>
                  <a:txBody>
                    <a:bodyPr/>
                    <a:lstStyle/>
                    <a:p>
                      <a:pPr algn="l" indent="0" marL="0">
                        <a:buNone/>
                      </a:pPr>
                      <a:r>
                        <a:rPr lang="en-US" sz="1300" dirty="0">
                          <a:solidFill>
                            <a:srgbClr val="1B2127"/>
                          </a:solidFill>
                          <a:latin typeface="Calibri" pitchFamily="34" charset="0"/>
                          <a:ea typeface="Calibri" pitchFamily="34" charset="-122"/>
                          <a:cs typeface="Calibri" pitchFamily="34" charset="-120"/>
                        </a:rPr>
                        <a:t>HDDM-A</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0.672</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0.723</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0.483</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B2127"/>
                          </a:solidFill>
                          <a:latin typeface="Calibri" pitchFamily="34" charset="0"/>
                          <a:ea typeface="Calibri" pitchFamily="34" charset="-122"/>
                          <a:cs typeface="Calibri" pitchFamily="34" charset="-120"/>
                        </a:rPr>
                        <a:t>ADWIN</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0.611</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0.641</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0.550</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B2127"/>
                          </a:solidFill>
                          <a:latin typeface="Calibri" pitchFamily="34" charset="0"/>
                          <a:ea typeface="Calibri" pitchFamily="34" charset="-122"/>
                          <a:cs typeface="Calibri" pitchFamily="34" charset="-120"/>
                        </a:rPr>
                        <a:t>HDDM-A + refractory only</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0.680</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0.734</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127"/>
                          </a:solidFill>
                          <a:latin typeface="Calibri" pitchFamily="34" charset="0"/>
                          <a:ea typeface="Calibri" pitchFamily="34" charset="-122"/>
                          <a:cs typeface="Calibri" pitchFamily="34" charset="-120"/>
                        </a:rPr>
                        <a:t>0.484</a:t>
                      </a:r>
                      <a:endParaRPr lang="en-US" sz="13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r>
            </a:tbl>
          </a:graphicData>
        </a:graphic>
      </p:graphicFrame>
      <p:sp>
        <p:nvSpPr>
          <p:cNvPr id="24" name="sig-title"/>
          <p:cNvSpPr txBox="1"/>
          <p:nvPr/>
        </p:nvSpPr>
        <p:spPr>
          <a:xfrm>
            <a:off x="5989320" y="3703320"/>
            <a:ext cx="5653735" cy="274320"/>
          </a:xfrm>
          <a:prstGeom prst="rect">
            <a:avLst/>
          </a:prstGeom>
          <a:noFill/>
          <a:ln/>
        </p:spPr>
        <p:txBody>
          <a:bodyPr wrap="square" lIns="0" tIns="0" rIns="0" bIns="0" rtlCol="0" anchor="ctr"/>
          <a:lstStyle/>
          <a:p>
            <a:pPr indent="0" marL="0">
              <a:buNone/>
            </a:pPr>
            <a:r>
              <a:rPr lang="en-US" sz="1300" b="1" dirty="0">
                <a:solidFill>
                  <a:srgbClr val="1B2127"/>
                </a:solidFill>
              </a:rPr>
              <a:t>Is the hybrid significantly better? (Holm-corrected Wilcoxon)</a:t>
            </a:r>
            <a:endParaRPr lang="en-US" sz="1300" dirty="0"/>
          </a:p>
        </p:txBody>
      </p:sp>
      <p:graphicFrame>
        <p:nvGraphicFramePr>
          <p:cNvPr id="21" name="sig-table"/>
          <p:cNvGraphicFramePr>
            <a:graphicFrameLocks noGrp="1"/>
          </p:cNvGraphicFramePr>
          <p:nvPr>
            <p:extLst>
              <p:ext uri="{D42A27DB-BD31-4B8C-83A1-F6EECF244321}">
                <p14:modId xmlns:p14="http://schemas.microsoft.com/office/powerpoint/2010/main" val="1579011935"/>
              </p:ext>
            </p:extLst>
          </p:nvPr>
        </p:nvGraphicFramePr>
        <p:xfrm>
          <a:off x="5989320" y="4023360"/>
          <a:ext cx="5653735" cy="914400"/>
        </p:xfrm>
        <a:graphic>
          <a:graphicData uri="http://schemas.openxmlformats.org/drawingml/2006/table">
            <a:tbl>
              <a:tblPr/>
              <a:tblGrid>
                <a:gridCol w="2148840"/>
                <a:gridCol w="1005840"/>
                <a:gridCol w="1188720"/>
                <a:gridCol w="1307592"/>
              </a:tblGrid>
              <a:tr h="365760">
                <a:tc>
                  <a:txBody>
                    <a:bodyPr/>
                    <a:lstStyle/>
                    <a:p>
                      <a:pPr algn="l" indent="0" marL="0">
                        <a:buNone/>
                      </a:pPr>
                      <a:r>
                        <a:rPr lang="en-US" sz="1200" dirty="0">
                          <a:solidFill>
                            <a:srgbClr val="1B2127"/>
                          </a:solidFill>
                          <a:latin typeface="Calibri" pitchFamily="34" charset="0"/>
                          <a:ea typeface="Calibri" pitchFamily="34" charset="-122"/>
                          <a:cs typeface="Calibri" pitchFamily="34" charset="-120"/>
                        </a:rPr>
                        <a:t>vs HDDM-A</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6E4F"/>
                          </a:solidFill>
                          <a:latin typeface="Calibri" pitchFamily="34" charset="0"/>
                          <a:ea typeface="Calibri" pitchFamily="34" charset="-122"/>
                          <a:cs typeface="Calibri" pitchFamily="34" charset="-120"/>
                        </a:rPr>
                        <a:t>yes, p = 0.042</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DF2E8"/>
                    </a:solidFill>
                  </a:tcPr>
                </a:tc>
                <a:tc>
                  <a:txBody>
                    <a:bodyPr/>
                    <a:lstStyle/>
                    <a:p>
                      <a:pPr algn="ctr" indent="0" marL="0">
                        <a:buNone/>
                      </a:pPr>
                      <a:r>
                        <a:rPr lang="en-US" sz="1200" b="1" dirty="0">
                          <a:solidFill>
                            <a:srgbClr val="0B6E4F"/>
                          </a:solidFill>
                          <a:latin typeface="Calibri" pitchFamily="34" charset="0"/>
                          <a:ea typeface="Calibri" pitchFamily="34" charset="-122"/>
                          <a:cs typeface="Calibri" pitchFamily="34" charset="-120"/>
                        </a:rPr>
                        <a:t>yes, p = 0.021</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DF2E8"/>
                    </a:solidFill>
                  </a:tcPr>
                </a:tc>
                <a:tc>
                  <a:txBody>
                    <a:bodyPr/>
                    <a:lstStyle/>
                    <a:p>
                      <a:pPr algn="ctr" indent="0" marL="0">
                        <a:buNone/>
                      </a:pPr>
                      <a:r>
                        <a:rPr lang="en-US" sz="1200" b="1" dirty="0">
                          <a:solidFill>
                            <a:srgbClr val="0B6E4F"/>
                          </a:solidFill>
                          <a:latin typeface="Calibri" pitchFamily="34" charset="0"/>
                          <a:ea typeface="Calibri" pitchFamily="34" charset="-122"/>
                          <a:cs typeface="Calibri" pitchFamily="34" charset="-120"/>
                        </a:rPr>
                        <a:t>yes, p &lt; 0.001</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DF2E8"/>
                    </a:solidFill>
                  </a:tcPr>
                </a:tc>
              </a:tr>
              <a:tr h="365760">
                <a:tc>
                  <a:txBody>
                    <a:bodyPr/>
                    <a:lstStyle/>
                    <a:p>
                      <a:pPr algn="l" indent="0" marL="0">
                        <a:buNone/>
                      </a:pPr>
                      <a:r>
                        <a:rPr lang="en-US" sz="1200" dirty="0">
                          <a:solidFill>
                            <a:srgbClr val="1B2127"/>
                          </a:solidFill>
                          <a:latin typeface="Calibri" pitchFamily="34" charset="0"/>
                          <a:ea typeface="Calibri" pitchFamily="34" charset="-122"/>
                          <a:cs typeface="Calibri" pitchFamily="34" charset="-120"/>
                        </a:rPr>
                        <a:t>vs ADWIN</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B6E4F"/>
                          </a:solidFill>
                          <a:latin typeface="Calibri" pitchFamily="34" charset="0"/>
                          <a:ea typeface="Calibri" pitchFamily="34" charset="-122"/>
                          <a:cs typeface="Calibri" pitchFamily="34" charset="-120"/>
                        </a:rPr>
                        <a:t>yes, p &lt; 0.001</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DF2E8"/>
                    </a:solidFill>
                  </a:tcPr>
                </a:tc>
                <a:tc>
                  <a:txBody>
                    <a:bodyPr/>
                    <a:lstStyle/>
                    <a:p>
                      <a:pPr algn="ctr" indent="0" marL="0">
                        <a:buNone/>
                      </a:pPr>
                      <a:r>
                        <a:rPr lang="en-US" sz="1200" b="1" dirty="0">
                          <a:solidFill>
                            <a:srgbClr val="0B6E4F"/>
                          </a:solidFill>
                          <a:latin typeface="Calibri" pitchFamily="34" charset="0"/>
                          <a:ea typeface="Calibri" pitchFamily="34" charset="-122"/>
                          <a:cs typeface="Calibri" pitchFamily="34" charset="-120"/>
                        </a:rPr>
                        <a:t>yes, p &lt; 0.001</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DF2E8"/>
                    </a:solidFill>
                  </a:tcPr>
                </a:tc>
                <a:tc>
                  <a:txBody>
                    <a:bodyPr/>
                    <a:lstStyle/>
                    <a:p>
                      <a:pPr algn="ctr" indent="0" marL="0">
                        <a:buNone/>
                      </a:pPr>
                      <a:r>
                        <a:rPr lang="en-US" sz="1200" b="1" dirty="0">
                          <a:solidFill>
                            <a:srgbClr val="D62828"/>
                          </a:solidFill>
                          <a:latin typeface="Calibri" pitchFamily="34" charset="0"/>
                          <a:ea typeface="Calibri" pitchFamily="34" charset="-122"/>
                          <a:cs typeface="Calibri" pitchFamily="34" charset="-120"/>
                        </a:rPr>
                        <a:t>tied, p = 0.284</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BE3E3"/>
                    </a:solidFill>
                  </a:tcPr>
                </a:tc>
              </a:tr>
              <a:tr h="365760">
                <a:tc>
                  <a:txBody>
                    <a:bodyPr/>
                    <a:lstStyle/>
                    <a:p>
                      <a:pPr algn="l" indent="0" marL="0">
                        <a:buNone/>
                      </a:pPr>
                      <a:r>
                        <a:rPr lang="en-US" sz="1200" dirty="0">
                          <a:solidFill>
                            <a:srgbClr val="1B2127"/>
                          </a:solidFill>
                          <a:latin typeface="Calibri" pitchFamily="34" charset="0"/>
                          <a:ea typeface="Calibri" pitchFamily="34" charset="-122"/>
                          <a:cs typeface="Calibri" pitchFamily="34" charset="-120"/>
                        </a:rPr>
                        <a:t>vs HDDM-A + refractory</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62828"/>
                          </a:solidFill>
                          <a:latin typeface="Calibri" pitchFamily="34" charset="0"/>
                          <a:ea typeface="Calibri" pitchFamily="34" charset="-122"/>
                          <a:cs typeface="Calibri" pitchFamily="34" charset="-120"/>
                        </a:rPr>
                        <a:t>tied, p = 0.217</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BE3E3"/>
                    </a:solidFill>
                  </a:tcPr>
                </a:tc>
                <a:tc>
                  <a:txBody>
                    <a:bodyPr/>
                    <a:lstStyle/>
                    <a:p>
                      <a:pPr algn="ctr" indent="0" marL="0">
                        <a:buNone/>
                      </a:pPr>
                      <a:r>
                        <a:rPr lang="en-US" sz="1200" b="1" dirty="0">
                          <a:solidFill>
                            <a:srgbClr val="D62828"/>
                          </a:solidFill>
                          <a:latin typeface="Calibri" pitchFamily="34" charset="0"/>
                          <a:ea typeface="Calibri" pitchFamily="34" charset="-122"/>
                          <a:cs typeface="Calibri" pitchFamily="34" charset="-120"/>
                        </a:rPr>
                        <a:t>tied, p = 0.219</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FBE3E3"/>
                    </a:solidFill>
                  </a:tcPr>
                </a:tc>
                <a:tc>
                  <a:txBody>
                    <a:bodyPr/>
                    <a:lstStyle/>
                    <a:p>
                      <a:pPr algn="ctr" indent="0" marL="0">
                        <a:buNone/>
                      </a:pPr>
                      <a:r>
                        <a:rPr lang="en-US" sz="1200" b="1" dirty="0">
                          <a:solidFill>
                            <a:srgbClr val="0B6E4F"/>
                          </a:solidFill>
                          <a:latin typeface="Calibri" pitchFamily="34" charset="0"/>
                          <a:ea typeface="Calibri" pitchFamily="34" charset="-122"/>
                          <a:cs typeface="Calibri" pitchFamily="34" charset="-120"/>
                        </a:rPr>
                        <a:t>yes, p &lt; 0.001</a:t>
                      </a:r>
                      <a:endParaRPr lang="en-US" sz="1200" dirty="0">
                        <a:latin typeface="Calibri" charset="0"/>
                        <a:ea typeface="Calibri" charset="0"/>
                        <a:cs typeface="Calibri" charset="0"/>
                      </a:endParaRPr>
                    </a:p>
                  </a:txBody>
                  <a:tcPr marL="45720" marR="45720" marT="45720" marB="45720"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DF2E8"/>
                    </a:solidFill>
                  </a:tcPr>
                </a:tc>
              </a:tr>
            </a:tbl>
          </a:graphicData>
        </a:graphic>
      </p:graphicFrame>
      <p:sp>
        <p:nvSpPr>
          <p:cNvPr id="26" name="claim"/>
          <p:cNvSpPr txBox="1"/>
          <p:nvPr/>
        </p:nvSpPr>
        <p:spPr>
          <a:xfrm>
            <a:off x="5989320" y="5257800"/>
            <a:ext cx="5653735" cy="777240"/>
          </a:xfrm>
          <a:prstGeom prst="rect">
            <a:avLst/>
          </a:prstGeom>
          <a:noFill/>
          <a:ln/>
        </p:spPr>
        <p:txBody>
          <a:bodyPr wrap="square" lIns="0" tIns="0" rIns="0" bIns="0" rtlCol="0" anchor="t"/>
          <a:lstStyle/>
          <a:p>
            <a:pPr indent="0" marL="0">
              <a:buNone/>
            </a:pPr>
            <a:r>
              <a:rPr lang="en-US" sz="1300" b="1" dirty="0">
                <a:solidFill>
                  <a:srgbClr val="3A4651"/>
                </a:solidFill>
              </a:rPr>
              <a:t>Supported claim: </a:t>
            </a:r>
            <a:pPr indent="0" marL="0">
              <a:buNone/>
            </a:pPr>
            <a:r>
              <a:rPr lang="en-US" sz="1300" dirty="0">
                <a:solidFill>
                  <a:srgbClr val="3A4651"/>
                </a:solidFill>
              </a:rPr>
              <a:t>best F1 in every setting and significantly better than HDDM-A; tied with ADWIN in the varied setting, and in the fixed settings the refractory period alone explains part of the gain.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alarm-marker-235"/>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3 · RESULTS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What did not work: EDDM pairings and confirmation</a:t>
            </a:r>
            <a:endParaRPr lang="en-US" sz="3200" dirty="0"/>
          </a:p>
        </p:txBody>
      </p:sp>
      <p:graphicFrame>
        <p:nvGraphicFramePr>
          <p:cNvPr id="5" name="ablation-chart" descr=""/>
          <p:cNvGraphicFramePr/>
          <p:nvPr/>
        </p:nvGraphicFramePr>
        <p:xfrm>
          <a:off x="548640" y="1600200"/>
          <a:ext cx="6035040" cy="4343400"/>
        </p:xfrm>
        <a:graphic xmlns:a="http://schemas.openxmlformats.org/drawingml/2006/main">
          <a:graphicData uri="http://schemas.openxmlformats.org/drawingml/2006/chart">
            <c:chart xmlns:c="http://schemas.openxmlformats.org/drawingml/2006/chart" r:id="rId1"/>
          </a:graphicData>
        </a:graphic>
      </p:graphicFrame>
      <p:sp>
        <p:nvSpPr>
          <p:cNvPr id="6" name="icon-bg-237"/>
          <p:cNvSpPr/>
          <p:nvPr/>
        </p:nvSpPr>
        <p:spPr>
          <a:xfrm>
            <a:off x="6949440" y="1691640"/>
            <a:ext cx="502920" cy="502920"/>
          </a:xfrm>
          <a:prstGeom prst="ellipse">
            <a:avLst/>
          </a:prstGeom>
          <a:solidFill>
            <a:srgbClr val="D62828"/>
          </a:solidFill>
          <a:ln/>
        </p:spPr>
      </p:sp>
      <p:pic>
        <p:nvPicPr>
          <p:cNvPr id="7" name="icon-238" descr="preencoded.png">    </p:cNvPr>
          <p:cNvPicPr>
            <a:picLocks noChangeAspect="1"/>
          </p:cNvPicPr>
          <p:nvPr/>
        </p:nvPicPr>
        <p:blipFill>
          <a:blip r:embed="rId2"/>
          <a:stretch>
            <a:fillRect/>
          </a:stretch>
        </p:blipFill>
        <p:spPr>
          <a:xfrm>
            <a:off x="7060082" y="1802282"/>
            <a:ext cx="281635" cy="281635"/>
          </a:xfrm>
          <a:prstGeom prst="rect">
            <a:avLst/>
          </a:prstGeom>
        </p:spPr>
      </p:pic>
      <p:sp>
        <p:nvSpPr>
          <p:cNvPr id="8" name="fail-head"/>
          <p:cNvSpPr txBox="1"/>
          <p:nvPr/>
        </p:nvSpPr>
        <p:spPr>
          <a:xfrm>
            <a:off x="7635240" y="1673352"/>
            <a:ext cx="4007815" cy="347472"/>
          </a:xfrm>
          <a:prstGeom prst="rect">
            <a:avLst/>
          </a:prstGeom>
          <a:noFill/>
          <a:ln/>
        </p:spPr>
        <p:txBody>
          <a:bodyPr wrap="square" lIns="0" tIns="0" rIns="0" bIns="0" rtlCol="0" anchor="ctr"/>
          <a:lstStyle/>
          <a:p>
            <a:pPr indent="0" marL="0">
              <a:buNone/>
            </a:pPr>
            <a:r>
              <a:rPr lang="en-US" sz="1700" b="1" dirty="0">
                <a:solidFill>
                  <a:srgbClr val="1B2127"/>
                </a:solidFill>
                <a:latin typeface="Arial" pitchFamily="34" charset="0"/>
                <a:ea typeface="Arial" pitchFamily="34" charset="-122"/>
                <a:cs typeface="Arial" pitchFamily="34" charset="-120"/>
              </a:rPr>
              <a:t>Any OR with EDDM</a:t>
            </a:r>
            <a:endParaRPr lang="en-US" sz="1700" dirty="0"/>
          </a:p>
        </p:txBody>
      </p:sp>
      <p:sp>
        <p:nvSpPr>
          <p:cNvPr id="9" name="fail-body"/>
          <p:cNvSpPr txBox="1"/>
          <p:nvPr/>
        </p:nvSpPr>
        <p:spPr>
          <a:xfrm>
            <a:off x="7635240" y="2039112"/>
            <a:ext cx="4007815" cy="868680"/>
          </a:xfrm>
          <a:prstGeom prst="rect">
            <a:avLst/>
          </a:prstGeom>
          <a:noFill/>
          <a:ln/>
        </p:spPr>
        <p:txBody>
          <a:bodyPr wrap="square" lIns="0" tIns="0" rIns="0" bIns="0" rtlCol="0" anchor="t"/>
          <a:lstStyle/>
          <a:p>
            <a:pPr indent="0" marL="0">
              <a:buNone/>
            </a:pPr>
            <a:r>
              <a:rPr lang="en-US" sz="1400" dirty="0">
                <a:solidFill>
                  <a:srgbClr val="3A4651"/>
                </a:solidFill>
              </a:rPr>
              <a:t>Our proposal 0.223, Paper 2's pair 0.347. EDDM raises 2.09 and 0.94 false alarms per 1,000 samples, and OR passes every one through.</a:t>
            </a:r>
            <a:endParaRPr lang="en-US" sz="1400" dirty="0"/>
          </a:p>
        </p:txBody>
      </p:sp>
      <p:sp>
        <p:nvSpPr>
          <p:cNvPr id="10" name="icon-bg-241"/>
          <p:cNvSpPr/>
          <p:nvPr/>
        </p:nvSpPr>
        <p:spPr>
          <a:xfrm>
            <a:off x="6949440" y="3063240"/>
            <a:ext cx="502920" cy="502920"/>
          </a:xfrm>
          <a:prstGeom prst="ellipse">
            <a:avLst/>
          </a:prstGeom>
          <a:solidFill>
            <a:srgbClr val="D62828"/>
          </a:solidFill>
          <a:ln/>
        </p:spPr>
      </p:sp>
      <p:pic>
        <p:nvPicPr>
          <p:cNvPr id="11" name="icon-242" descr="preencoded.png">    </p:cNvPr>
          <p:cNvPicPr>
            <a:picLocks noChangeAspect="1"/>
          </p:cNvPicPr>
          <p:nvPr/>
        </p:nvPicPr>
        <p:blipFill>
          <a:blip r:embed="rId3"/>
          <a:stretch>
            <a:fillRect/>
          </a:stretch>
        </p:blipFill>
        <p:spPr>
          <a:xfrm>
            <a:off x="7060082" y="3173882"/>
            <a:ext cx="281635" cy="281635"/>
          </a:xfrm>
          <a:prstGeom prst="rect">
            <a:avLst/>
          </a:prstGeom>
        </p:spPr>
      </p:pic>
      <p:sp>
        <p:nvSpPr>
          <p:cNvPr id="12" name="fail-head"/>
          <p:cNvSpPr txBox="1"/>
          <p:nvPr/>
        </p:nvSpPr>
        <p:spPr>
          <a:xfrm>
            <a:off x="7635240" y="3044952"/>
            <a:ext cx="4007815" cy="347472"/>
          </a:xfrm>
          <a:prstGeom prst="rect">
            <a:avLst/>
          </a:prstGeom>
          <a:noFill/>
          <a:ln/>
        </p:spPr>
        <p:txBody>
          <a:bodyPr wrap="square" lIns="0" tIns="0" rIns="0" bIns="0" rtlCol="0" anchor="ctr"/>
          <a:lstStyle/>
          <a:p>
            <a:pPr indent="0" marL="0">
              <a:buNone/>
            </a:pPr>
            <a:r>
              <a:rPr lang="en-US" sz="1700" b="1" dirty="0">
                <a:solidFill>
                  <a:srgbClr val="1B2127"/>
                </a:solidFill>
                <a:latin typeface="Arial" pitchFamily="34" charset="0"/>
                <a:ea typeface="Arial" pitchFamily="34" charset="-122"/>
                <a:cs typeface="Arial" pitchFamily="34" charset="-120"/>
              </a:rPr>
              <a:t>Confirmation: both must agree (AND)</a:t>
            </a:r>
            <a:endParaRPr lang="en-US" sz="1700" dirty="0"/>
          </a:p>
        </p:txBody>
      </p:sp>
      <p:sp>
        <p:nvSpPr>
          <p:cNvPr id="13" name="fail-body"/>
          <p:cNvSpPr txBox="1"/>
          <p:nvPr/>
        </p:nvSpPr>
        <p:spPr>
          <a:xfrm>
            <a:off x="7635240" y="3410712"/>
            <a:ext cx="4007815" cy="868680"/>
          </a:xfrm>
          <a:prstGeom prst="rect">
            <a:avLst/>
          </a:prstGeom>
          <a:noFill/>
          <a:ln/>
        </p:spPr>
        <p:txBody>
          <a:bodyPr wrap="square" lIns="0" tIns="0" rIns="0" bIns="0" rtlCol="0" anchor="t"/>
          <a:lstStyle/>
          <a:p>
            <a:pPr indent="0" marL="0">
              <a:buNone/>
            </a:pPr>
            <a:r>
              <a:rPr lang="en-US" sz="1400" dirty="0">
                <a:solidFill>
                  <a:srgbClr val="3A4651"/>
                </a:solidFill>
              </a:rPr>
              <a:t>F1 0.417 and 0.370. Waiting for a second detector catches only 31%–59% of drifts, and late.</a:t>
            </a:r>
            <a:endParaRPr lang="en-US" sz="1400" dirty="0"/>
          </a:p>
        </p:txBody>
      </p:sp>
      <p:sp>
        <p:nvSpPr>
          <p:cNvPr id="14" name="icon-bg-245"/>
          <p:cNvSpPr/>
          <p:nvPr/>
        </p:nvSpPr>
        <p:spPr>
          <a:xfrm>
            <a:off x="6949440" y="4434840"/>
            <a:ext cx="502920" cy="502920"/>
          </a:xfrm>
          <a:prstGeom prst="ellipse">
            <a:avLst/>
          </a:prstGeom>
          <a:solidFill>
            <a:srgbClr val="1BAF7A"/>
          </a:solidFill>
          <a:ln/>
        </p:spPr>
      </p:sp>
      <p:pic>
        <p:nvPicPr>
          <p:cNvPr id="15" name="icon-246" descr="preencoded.png">    </p:cNvPr>
          <p:cNvPicPr>
            <a:picLocks noChangeAspect="1"/>
          </p:cNvPicPr>
          <p:nvPr/>
        </p:nvPicPr>
        <p:blipFill>
          <a:blip r:embed="rId4"/>
          <a:stretch>
            <a:fillRect/>
          </a:stretch>
        </p:blipFill>
        <p:spPr>
          <a:xfrm>
            <a:off x="7060082" y="4545482"/>
            <a:ext cx="281635" cy="281635"/>
          </a:xfrm>
          <a:prstGeom prst="rect">
            <a:avLst/>
          </a:prstGeom>
        </p:spPr>
      </p:pic>
      <p:sp>
        <p:nvSpPr>
          <p:cNvPr id="16" name="fail-head"/>
          <p:cNvSpPr txBox="1"/>
          <p:nvPr/>
        </p:nvSpPr>
        <p:spPr>
          <a:xfrm>
            <a:off x="7635240" y="4416552"/>
            <a:ext cx="4007815" cy="347472"/>
          </a:xfrm>
          <a:prstGeom prst="rect">
            <a:avLst/>
          </a:prstGeom>
          <a:noFill/>
          <a:ln/>
        </p:spPr>
        <p:txBody>
          <a:bodyPr wrap="square" lIns="0" tIns="0" rIns="0" bIns="0" rtlCol="0" anchor="ctr"/>
          <a:lstStyle/>
          <a:p>
            <a:pPr indent="0" marL="0">
              <a:buNone/>
            </a:pPr>
            <a:r>
              <a:rPr lang="en-US" sz="1700" b="1" dirty="0">
                <a:solidFill>
                  <a:srgbClr val="1B2127"/>
                </a:solidFill>
                <a:latin typeface="Arial" pitchFamily="34" charset="0"/>
                <a:ea typeface="Arial" pitchFamily="34" charset="-122"/>
                <a:cs typeface="Arial" pitchFamily="34" charset="-120"/>
              </a:rPr>
              <a:t>What worked</a:t>
            </a:r>
            <a:endParaRPr lang="en-US" sz="1700" dirty="0"/>
          </a:p>
        </p:txBody>
      </p:sp>
      <p:sp>
        <p:nvSpPr>
          <p:cNvPr id="17" name="fail-body"/>
          <p:cNvSpPr txBox="1"/>
          <p:nvPr/>
        </p:nvSpPr>
        <p:spPr>
          <a:xfrm>
            <a:off x="7635240" y="4782312"/>
            <a:ext cx="4007815" cy="868680"/>
          </a:xfrm>
          <a:prstGeom prst="rect">
            <a:avLst/>
          </a:prstGeom>
          <a:noFill/>
          <a:ln/>
        </p:spPr>
        <p:txBody>
          <a:bodyPr wrap="square" lIns="0" tIns="0" rIns="0" bIns="0" rtlCol="0" anchor="t"/>
          <a:lstStyle/>
          <a:p>
            <a:pPr indent="0" marL="0">
              <a:buNone/>
            </a:pPr>
            <a:r>
              <a:rPr lang="en-US" sz="1400" dirty="0">
                <a:solidFill>
                  <a:srgbClr val="3A4651"/>
                </a:solidFill>
              </a:rPr>
              <a:t>Two detectors that are each reliable but use different tests, joined by OR plus a refractory period.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larm-marker-249"/>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3 · RESULTS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Retraining rescues accuracy, but the trigger matters less</a:t>
            </a:r>
            <a:endParaRPr lang="en-US" sz="3200" dirty="0"/>
          </a:p>
        </p:txBody>
      </p:sp>
      <p:sp>
        <p:nvSpPr>
          <p:cNvPr id="5" name="leg-line-251"/>
          <p:cNvSpPr/>
          <p:nvPr/>
        </p:nvSpPr>
        <p:spPr>
          <a:xfrm>
            <a:off x="548640" y="1700784"/>
            <a:ext cx="365760" cy="0"/>
          </a:xfrm>
          <a:prstGeom prst="line">
            <a:avLst/>
          </a:prstGeom>
          <a:noFill/>
          <a:ln w="38100">
            <a:solidFill>
              <a:srgbClr val="52514E"/>
            </a:solidFill>
            <a:prstDash val="sysDot"/>
          </a:ln>
        </p:spPr>
      </p:sp>
      <p:sp>
        <p:nvSpPr>
          <p:cNvPr id="6" name="leg-text"/>
          <p:cNvSpPr txBox="1"/>
          <p:nvPr/>
        </p:nvSpPr>
        <p:spPr>
          <a:xfrm>
            <a:off x="1005840" y="1572768"/>
            <a:ext cx="1828800" cy="256032"/>
          </a:xfrm>
          <a:prstGeom prst="rect">
            <a:avLst/>
          </a:prstGeom>
          <a:noFill/>
          <a:ln/>
        </p:spPr>
        <p:txBody>
          <a:bodyPr wrap="square" lIns="0" tIns="0" rIns="0" bIns="0" rtlCol="0" anchor="ctr"/>
          <a:lstStyle/>
          <a:p>
            <a:pPr indent="0" marL="0">
              <a:buNone/>
            </a:pPr>
            <a:r>
              <a:rPr lang="en-US" sz="1200" dirty="0">
                <a:solidFill>
                  <a:srgbClr val="1B2127"/>
                </a:solidFill>
              </a:rPr>
              <a:t>Static</a:t>
            </a:r>
            <a:endParaRPr lang="en-US" sz="1200" dirty="0"/>
          </a:p>
        </p:txBody>
      </p:sp>
      <p:sp>
        <p:nvSpPr>
          <p:cNvPr id="7" name="leg-line-253"/>
          <p:cNvSpPr/>
          <p:nvPr/>
        </p:nvSpPr>
        <p:spPr>
          <a:xfrm>
            <a:off x="2880360" y="1700784"/>
            <a:ext cx="365760" cy="0"/>
          </a:xfrm>
          <a:prstGeom prst="line">
            <a:avLst/>
          </a:prstGeom>
          <a:noFill/>
          <a:ln w="38100">
            <a:solidFill>
              <a:srgbClr val="2A78D6"/>
            </a:solidFill>
            <a:prstDash val="solid"/>
          </a:ln>
        </p:spPr>
      </p:sp>
      <p:sp>
        <p:nvSpPr>
          <p:cNvPr id="8" name="leg-text"/>
          <p:cNvSpPr txBox="1"/>
          <p:nvPr/>
        </p:nvSpPr>
        <p:spPr>
          <a:xfrm>
            <a:off x="3337560" y="1572768"/>
            <a:ext cx="1828800" cy="256032"/>
          </a:xfrm>
          <a:prstGeom prst="rect">
            <a:avLst/>
          </a:prstGeom>
          <a:noFill/>
          <a:ln/>
        </p:spPr>
        <p:txBody>
          <a:bodyPr wrap="square" lIns="0" tIns="0" rIns="0" bIns="0" rtlCol="0" anchor="ctr"/>
          <a:lstStyle/>
          <a:p>
            <a:pPr indent="0" marL="0">
              <a:buNone/>
            </a:pPr>
            <a:r>
              <a:rPr lang="en-US" sz="1200" dirty="0">
                <a:solidFill>
                  <a:srgbClr val="1B2127"/>
                </a:solidFill>
              </a:rPr>
              <a:t>Retrain on hybrid</a:t>
            </a:r>
            <a:endParaRPr lang="en-US" sz="1200" dirty="0"/>
          </a:p>
        </p:txBody>
      </p:sp>
      <p:sp>
        <p:nvSpPr>
          <p:cNvPr id="9" name="leg-line-255"/>
          <p:cNvSpPr/>
          <p:nvPr/>
        </p:nvSpPr>
        <p:spPr>
          <a:xfrm>
            <a:off x="5212080" y="1700784"/>
            <a:ext cx="365760" cy="0"/>
          </a:xfrm>
          <a:prstGeom prst="line">
            <a:avLst/>
          </a:prstGeom>
          <a:noFill/>
          <a:ln w="38100">
            <a:solidFill>
              <a:srgbClr val="5B2A86"/>
            </a:solidFill>
            <a:prstDash val="dashDot"/>
          </a:ln>
        </p:spPr>
      </p:sp>
      <p:sp>
        <p:nvSpPr>
          <p:cNvPr id="10" name="leg-text"/>
          <p:cNvSpPr txBox="1"/>
          <p:nvPr/>
        </p:nvSpPr>
        <p:spPr>
          <a:xfrm>
            <a:off x="5669280" y="1572768"/>
            <a:ext cx="1828800" cy="256032"/>
          </a:xfrm>
          <a:prstGeom prst="rect">
            <a:avLst/>
          </a:prstGeom>
          <a:noFill/>
          <a:ln/>
        </p:spPr>
        <p:txBody>
          <a:bodyPr wrap="square" lIns="0" tIns="0" rIns="0" bIns="0" rtlCol="0" anchor="ctr"/>
          <a:lstStyle/>
          <a:p>
            <a:pPr indent="0" marL="0">
              <a:buNone/>
            </a:pPr>
            <a:r>
              <a:rPr lang="en-US" sz="1200" dirty="0">
                <a:solidFill>
                  <a:srgbClr val="1B2127"/>
                </a:solidFill>
              </a:rPr>
              <a:t>River HAT (online)</a:t>
            </a:r>
            <a:endParaRPr lang="en-US" sz="1200" dirty="0"/>
          </a:p>
        </p:txBody>
      </p:sp>
      <p:graphicFrame>
        <p:nvGraphicFramePr>
          <p:cNvPr id="11" name="time-chart-257" descr=""/>
          <p:cNvGraphicFramePr/>
          <p:nvPr/>
        </p:nvGraphicFramePr>
        <p:xfrm>
          <a:off x="548640" y="1874520"/>
          <a:ext cx="6309360" cy="3566160"/>
        </p:xfrm>
        <a:graphic xmlns:a="http://schemas.openxmlformats.org/drawingml/2006/main">
          <a:graphicData uri="http://schemas.openxmlformats.org/drawingml/2006/chart">
            <c:chart xmlns:c="http://schemas.openxmlformats.org/drawingml/2006/chart" r:id="rId1"/>
          </a:graphicData>
        </a:graphic>
      </p:graphicFrame>
      <p:sp>
        <p:nvSpPr>
          <p:cNvPr id="12" name="drift-line-258"/>
          <p:cNvSpPr/>
          <p:nvPr/>
        </p:nvSpPr>
        <p:spPr>
          <a:xfrm>
            <a:off x="2306046" y="2017166"/>
            <a:ext cx="0" cy="3066898"/>
          </a:xfrm>
          <a:prstGeom prst="line">
            <a:avLst/>
          </a:prstGeom>
          <a:noFill/>
          <a:ln w="19050">
            <a:solidFill>
              <a:srgbClr val="1B2127"/>
            </a:solidFill>
            <a:prstDash val="dash"/>
          </a:ln>
        </p:spPr>
      </p:sp>
      <p:sp>
        <p:nvSpPr>
          <p:cNvPr id="13" name="drift-line-259"/>
          <p:cNvSpPr/>
          <p:nvPr/>
        </p:nvSpPr>
        <p:spPr>
          <a:xfrm>
            <a:off x="3783764" y="2017166"/>
            <a:ext cx="0" cy="3066898"/>
          </a:xfrm>
          <a:prstGeom prst="line">
            <a:avLst/>
          </a:prstGeom>
          <a:noFill/>
          <a:ln w="19050">
            <a:solidFill>
              <a:srgbClr val="1B2127"/>
            </a:solidFill>
            <a:prstDash val="dash"/>
          </a:ln>
        </p:spPr>
      </p:sp>
      <p:sp>
        <p:nvSpPr>
          <p:cNvPr id="14" name="drift-line-260"/>
          <p:cNvSpPr/>
          <p:nvPr/>
        </p:nvSpPr>
        <p:spPr>
          <a:xfrm>
            <a:off x="5261483" y="2017166"/>
            <a:ext cx="0" cy="3066898"/>
          </a:xfrm>
          <a:prstGeom prst="line">
            <a:avLst/>
          </a:prstGeom>
          <a:noFill/>
          <a:ln w="19050">
            <a:solidFill>
              <a:srgbClr val="1B2127"/>
            </a:solidFill>
            <a:prstDash val="dash"/>
          </a:ln>
        </p:spPr>
      </p:sp>
      <p:sp>
        <p:nvSpPr>
          <p:cNvPr id="15" name="x-tick"/>
          <p:cNvSpPr txBox="1"/>
          <p:nvPr/>
        </p:nvSpPr>
        <p:spPr>
          <a:xfrm>
            <a:off x="1848846" y="5129784"/>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5k</a:t>
            </a:r>
            <a:endParaRPr lang="en-US" sz="1100" dirty="0"/>
          </a:p>
        </p:txBody>
      </p:sp>
      <p:sp>
        <p:nvSpPr>
          <p:cNvPr id="16" name="x-tick"/>
          <p:cNvSpPr txBox="1"/>
          <p:nvPr/>
        </p:nvSpPr>
        <p:spPr>
          <a:xfrm>
            <a:off x="3326564" y="5129784"/>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10k</a:t>
            </a:r>
            <a:endParaRPr lang="en-US" sz="1100" dirty="0"/>
          </a:p>
        </p:txBody>
      </p:sp>
      <p:sp>
        <p:nvSpPr>
          <p:cNvPr id="17" name="x-tick"/>
          <p:cNvSpPr txBox="1"/>
          <p:nvPr/>
        </p:nvSpPr>
        <p:spPr>
          <a:xfrm>
            <a:off x="4804283" y="5129784"/>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15k</a:t>
            </a:r>
            <a:endParaRPr lang="en-US" sz="1100" dirty="0"/>
          </a:p>
        </p:txBody>
      </p:sp>
      <p:sp>
        <p:nvSpPr>
          <p:cNvPr id="18" name="rt-caption"/>
          <p:cNvSpPr txBox="1"/>
          <p:nvPr/>
        </p:nvSpPr>
        <p:spPr>
          <a:xfrm>
            <a:off x="548640" y="5760720"/>
            <a:ext cx="6309360" cy="274320"/>
          </a:xfrm>
          <a:prstGeom prst="rect">
            <a:avLst/>
          </a:prstGeom>
          <a:noFill/>
          <a:ln/>
        </p:spPr>
        <p:txBody>
          <a:bodyPr wrap="square" lIns="0" tIns="0" rIns="0" bIns="0" rtlCol="0" anchor="ctr"/>
          <a:lstStyle/>
          <a:p>
            <a:pPr indent="0" marL="0">
              <a:buNone/>
            </a:pPr>
            <a:r>
              <a:rPr lang="en-US" sz="1100" i="1" dirty="0">
                <a:solidFill>
                  <a:srgbClr val="5B6670"/>
                </a:solidFill>
              </a:rPr>
              <a:t>Simulated IIoT stream, seed 0. Rolling accuracy (last 300); dashed = true drift.</a:t>
            </a:r>
            <a:endParaRPr lang="en-US" sz="1100" dirty="0"/>
          </a:p>
        </p:txBody>
      </p:sp>
      <p:graphicFrame>
        <p:nvGraphicFramePr>
          <p:cNvPr id="13" name="ds-table"/>
          <p:cNvGraphicFramePr>
            <a:graphicFrameLocks noGrp="1"/>
          </p:cNvGraphicFramePr>
          <p:nvPr>
            <p:extLst>
              <p:ext uri="{D42A27DB-BD31-4B8C-83A1-F6EECF244321}">
                <p14:modId xmlns:p14="http://schemas.microsoft.com/office/powerpoint/2010/main" val="1579011935"/>
              </p:ext>
            </p:extLst>
          </p:nvPr>
        </p:nvGraphicFramePr>
        <p:xfrm>
          <a:off x="7132320" y="1600200"/>
          <a:ext cx="4510735" cy="914400"/>
        </p:xfrm>
        <a:graphic>
          <a:graphicData uri="http://schemas.openxmlformats.org/drawingml/2006/table">
            <a:tbl>
              <a:tblPr/>
              <a:tblGrid>
                <a:gridCol w="1325880"/>
                <a:gridCol w="1051560"/>
                <a:gridCol w="1051560"/>
                <a:gridCol w="1078992"/>
              </a:tblGrid>
              <a:tr h="502920">
                <a:tc>
                  <a:txBody>
                    <a:bodyPr/>
                    <a:lstStyle/>
                    <a:p>
                      <a:pPr algn="ctr" indent="0" marL="0">
                        <a:buNone/>
                      </a:pP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Simulated</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CICIDS nat.</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attack F1</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CICIDS inj.</a:t>
                      </a:r>
                      <a:endParaRPr lang="en-US" sz="1100" dirty="0">
                        <a:latin typeface="Calibri" charset="0"/>
                        <a:ea typeface="Calibri" charset="0"/>
                        <a:cs typeface="Calibri" charset="0"/>
                      </a:endParaRPr>
                    </a:p>
                    <a:p>
                      <a:pPr algn="ctr" indent="0" marL="0">
                        <a:buNone/>
                      </a:pPr>
                      <a:r>
                        <a:rPr lang="en-US" sz="1100" b="1" dirty="0">
                          <a:solidFill>
                            <a:srgbClr val="FFFFFF"/>
                          </a:solidFill>
                          <a:latin typeface="Calibri" pitchFamily="34" charset="0"/>
                          <a:ea typeface="Calibri" pitchFamily="34" charset="-122"/>
                          <a:cs typeface="Calibri" pitchFamily="34" charset="-120"/>
                        </a:rPr>
                        <a:t>attack F1</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1B2127"/>
                    </a:solidFill>
                  </a:tcPr>
                </a:tc>
              </a:tr>
              <a:tr h="365760">
                <a:tc>
                  <a:txBody>
                    <a:bodyPr/>
                    <a:lstStyle/>
                    <a:p>
                      <a:pPr algn="l" indent="0" marL="0">
                        <a:buNone/>
                      </a:pPr>
                      <a:r>
                        <a:rPr lang="en-US" sz="1200" dirty="0">
                          <a:solidFill>
                            <a:srgbClr val="1B2127"/>
                          </a:solidFill>
                          <a:latin typeface="Calibri" pitchFamily="34" charset="0"/>
                          <a:ea typeface="Calibri" pitchFamily="34" charset="-122"/>
                          <a:cs typeface="Calibri" pitchFamily="34" charset="-120"/>
                        </a:rPr>
                        <a:t>Static</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200" b="1" dirty="0">
                          <a:solidFill>
                            <a:srgbClr val="D62828"/>
                          </a:solidFill>
                          <a:latin typeface="Calibri" pitchFamily="34" charset="0"/>
                          <a:ea typeface="Calibri" pitchFamily="34" charset="-122"/>
                          <a:cs typeface="Calibri" pitchFamily="34" charset="-120"/>
                        </a:rPr>
                        <a:t>0.603</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200" b="1" dirty="0">
                          <a:solidFill>
                            <a:srgbClr val="D62828"/>
                          </a:solidFill>
                          <a:latin typeface="Calibri" pitchFamily="34" charset="0"/>
                          <a:ea typeface="Calibri" pitchFamily="34" charset="-122"/>
                          <a:cs typeface="Calibri" pitchFamily="34" charset="-120"/>
                        </a:rPr>
                        <a:t>0.016</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200" b="1" dirty="0">
                          <a:solidFill>
                            <a:srgbClr val="D62828"/>
                          </a:solidFill>
                          <a:latin typeface="Calibri" pitchFamily="34" charset="0"/>
                          <a:ea typeface="Calibri" pitchFamily="34" charset="-122"/>
                          <a:cs typeface="Calibri" pitchFamily="34" charset="-120"/>
                        </a:rPr>
                        <a:t>0.644</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r>
              <a:tr h="365760">
                <a:tc>
                  <a:txBody>
                    <a:bodyPr/>
                    <a:lstStyle/>
                    <a:p>
                      <a:pPr algn="l" indent="0" marL="0">
                        <a:buNone/>
                      </a:pPr>
                      <a:r>
                        <a:rPr lang="en-US" sz="1200" b="1" dirty="0">
                          <a:solidFill>
                            <a:srgbClr val="1B2127"/>
                          </a:solidFill>
                          <a:latin typeface="Calibri" pitchFamily="34" charset="0"/>
                          <a:ea typeface="Calibri" pitchFamily="34" charset="-122"/>
                          <a:cs typeface="Calibri" pitchFamily="34" charset="-120"/>
                        </a:rPr>
                        <a:t>Retrain on hybrid</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c>
                  <a:txBody>
                    <a:bodyPr/>
                    <a:lstStyle/>
                    <a:p>
                      <a:pPr algn="ctr" indent="0" marL="0">
                        <a:buNone/>
                      </a:pPr>
                      <a:r>
                        <a:rPr lang="en-US" sz="1200" b="1" dirty="0">
                          <a:solidFill>
                            <a:srgbClr val="1B2127"/>
                          </a:solidFill>
                          <a:latin typeface="Calibri" pitchFamily="34" charset="0"/>
                          <a:ea typeface="Calibri" pitchFamily="34" charset="-122"/>
                          <a:cs typeface="Calibri" pitchFamily="34" charset="-120"/>
                        </a:rPr>
                        <a:t>0.834</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c>
                  <a:txBody>
                    <a:bodyPr/>
                    <a:lstStyle/>
                    <a:p>
                      <a:pPr algn="ctr" indent="0" marL="0">
                        <a:buNone/>
                      </a:pPr>
                      <a:r>
                        <a:rPr lang="en-US" sz="1200" b="1" dirty="0">
                          <a:solidFill>
                            <a:srgbClr val="1B2127"/>
                          </a:solidFill>
                          <a:latin typeface="Calibri" pitchFamily="34" charset="0"/>
                          <a:ea typeface="Calibri" pitchFamily="34" charset="-122"/>
                          <a:cs typeface="Calibri" pitchFamily="34" charset="-120"/>
                        </a:rPr>
                        <a:t>0.756</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c>
                  <a:txBody>
                    <a:bodyPr/>
                    <a:lstStyle/>
                    <a:p>
                      <a:pPr algn="ctr" indent="0" marL="0">
                        <a:buNone/>
                      </a:pPr>
                      <a:r>
                        <a:rPr lang="en-US" sz="1200" b="1" dirty="0">
                          <a:solidFill>
                            <a:srgbClr val="1B2127"/>
                          </a:solidFill>
                          <a:latin typeface="Calibri" pitchFamily="34" charset="0"/>
                          <a:ea typeface="Calibri" pitchFamily="34" charset="-122"/>
                          <a:cs typeface="Calibri" pitchFamily="34" charset="-120"/>
                        </a:rPr>
                        <a:t>0.916</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solidFill>
                      <a:srgbClr val="DCE8F7"/>
                    </a:solidFill>
                  </a:tcPr>
                </a:tc>
              </a:tr>
              <a:tr h="502920">
                <a:tc>
                  <a:txBody>
                    <a:bodyPr/>
                    <a:lstStyle/>
                    <a:p>
                      <a:pPr algn="l" indent="0" marL="0">
                        <a:buNone/>
                      </a:pPr>
                      <a:r>
                        <a:rPr lang="en-US" sz="1200" dirty="0">
                          <a:solidFill>
                            <a:srgbClr val="1B2127"/>
                          </a:solidFill>
                          <a:latin typeface="Calibri" pitchFamily="34" charset="0"/>
                          <a:ea typeface="Calibri" pitchFamily="34" charset="-122"/>
                          <a:cs typeface="Calibri" pitchFamily="34" charset="-120"/>
                        </a:rPr>
                        <a:t>Best trigger</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100" dirty="0">
                          <a:solidFill>
                            <a:srgbClr val="1B2127"/>
                          </a:solidFill>
                          <a:latin typeface="Calibri" pitchFamily="34" charset="0"/>
                          <a:ea typeface="Calibri" pitchFamily="34" charset="-122"/>
                          <a:cs typeface="Calibri" pitchFamily="34" charset="-120"/>
                        </a:rPr>
                        <a:t>0.840</a:t>
                      </a:r>
                      <a:endParaRPr lang="en-US" sz="1100" dirty="0">
                        <a:latin typeface="Calibri" charset="0"/>
                        <a:ea typeface="Calibri" charset="0"/>
                        <a:cs typeface="Calibri" charset="0"/>
                      </a:endParaRPr>
                    </a:p>
                    <a:p>
                      <a:pPr algn="ctr" indent="0" marL="0">
                        <a:buNone/>
                      </a:pPr>
                      <a:r>
                        <a:rPr lang="en-US" sz="1100" dirty="0">
                          <a:solidFill>
                            <a:srgbClr val="1B2127"/>
                          </a:solidFill>
                          <a:latin typeface="Calibri" pitchFamily="34" charset="0"/>
                          <a:ea typeface="Calibri" pitchFamily="34" charset="-122"/>
                          <a:cs typeface="Calibri" pitchFamily="34" charset="-120"/>
                        </a:rPr>
                        <a:t>EDDM</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100" dirty="0">
                          <a:solidFill>
                            <a:srgbClr val="1B2127"/>
                          </a:solidFill>
                          <a:latin typeface="Calibri" pitchFamily="34" charset="0"/>
                          <a:ea typeface="Calibri" pitchFamily="34" charset="-122"/>
                          <a:cs typeface="Calibri" pitchFamily="34" charset="-120"/>
                        </a:rPr>
                        <a:t>0.894</a:t>
                      </a:r>
                      <a:endParaRPr lang="en-US" sz="1100" dirty="0">
                        <a:latin typeface="Calibri" charset="0"/>
                        <a:ea typeface="Calibri" charset="0"/>
                        <a:cs typeface="Calibri" charset="0"/>
                      </a:endParaRPr>
                    </a:p>
                    <a:p>
                      <a:pPr algn="ctr" indent="0" marL="0">
                        <a:buNone/>
                      </a:pPr>
                      <a:r>
                        <a:rPr lang="en-US" sz="1100" dirty="0">
                          <a:solidFill>
                            <a:srgbClr val="1B2127"/>
                          </a:solidFill>
                          <a:latin typeface="Calibri" pitchFamily="34" charset="0"/>
                          <a:ea typeface="Calibri" pitchFamily="34" charset="-122"/>
                          <a:cs typeface="Calibri" pitchFamily="34" charset="-120"/>
                        </a:rPr>
                        <a:t>DDM</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100" dirty="0">
                          <a:solidFill>
                            <a:srgbClr val="1B2127"/>
                          </a:solidFill>
                          <a:latin typeface="Calibri" pitchFamily="34" charset="0"/>
                          <a:ea typeface="Calibri" pitchFamily="34" charset="-122"/>
                          <a:cs typeface="Calibri" pitchFamily="34" charset="-120"/>
                        </a:rPr>
                        <a:t>0.931</a:t>
                      </a:r>
                      <a:endParaRPr lang="en-US" sz="1100" dirty="0">
                        <a:latin typeface="Calibri" charset="0"/>
                        <a:ea typeface="Calibri" charset="0"/>
                        <a:cs typeface="Calibri" charset="0"/>
                      </a:endParaRPr>
                    </a:p>
                    <a:p>
                      <a:pPr algn="ctr" indent="0" marL="0">
                        <a:buNone/>
                      </a:pPr>
                      <a:r>
                        <a:rPr lang="en-US" sz="1100" dirty="0">
                          <a:solidFill>
                            <a:srgbClr val="1B2127"/>
                          </a:solidFill>
                          <a:latin typeface="Calibri" pitchFamily="34" charset="0"/>
                          <a:ea typeface="Calibri" pitchFamily="34" charset="-122"/>
                          <a:cs typeface="Calibri" pitchFamily="34" charset="-120"/>
                        </a:rPr>
                        <a:t>EDDM</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r>
              <a:tr h="502920">
                <a:tc>
                  <a:txBody>
                    <a:bodyPr/>
                    <a:lstStyle/>
                    <a:p>
                      <a:pPr algn="l" indent="0" marL="0">
                        <a:buNone/>
                      </a:pPr>
                      <a:r>
                        <a:rPr lang="en-US" sz="1200" dirty="0">
                          <a:solidFill>
                            <a:srgbClr val="1B2127"/>
                          </a:solidFill>
                          <a:latin typeface="Calibri" pitchFamily="34" charset="0"/>
                          <a:ea typeface="Calibri" pitchFamily="34" charset="-122"/>
                          <a:cs typeface="Calibri" pitchFamily="34" charset="-120"/>
                        </a:rPr>
                        <a:t>Best online model</a:t>
                      </a:r>
                      <a:endParaRPr lang="en-US" sz="12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100" dirty="0">
                          <a:solidFill>
                            <a:srgbClr val="1B2127"/>
                          </a:solidFill>
                          <a:latin typeface="Calibri" pitchFamily="34" charset="0"/>
                          <a:ea typeface="Calibri" pitchFamily="34" charset="-122"/>
                          <a:cs typeface="Calibri" pitchFamily="34" charset="-120"/>
                        </a:rPr>
                        <a:t>0.848</a:t>
                      </a:r>
                      <a:endParaRPr lang="en-US" sz="1100" dirty="0">
                        <a:latin typeface="Calibri" charset="0"/>
                        <a:ea typeface="Calibri" charset="0"/>
                        <a:cs typeface="Calibri" charset="0"/>
                      </a:endParaRPr>
                    </a:p>
                    <a:p>
                      <a:pPr algn="ctr" indent="0" marL="0">
                        <a:buNone/>
                      </a:pPr>
                      <a:r>
                        <a:rPr lang="en-US" sz="1100" dirty="0">
                          <a:solidFill>
                            <a:srgbClr val="1B2127"/>
                          </a:solidFill>
                          <a:latin typeface="Calibri" pitchFamily="34" charset="0"/>
                          <a:ea typeface="Calibri" pitchFamily="34" charset="-122"/>
                          <a:cs typeface="Calibri" pitchFamily="34" charset="-120"/>
                        </a:rPr>
                        <a:t>River HAT</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100" dirty="0">
                          <a:solidFill>
                            <a:srgbClr val="1B2127"/>
                          </a:solidFill>
                          <a:latin typeface="Calibri" pitchFamily="34" charset="0"/>
                          <a:ea typeface="Calibri" pitchFamily="34" charset="-122"/>
                          <a:cs typeface="Calibri" pitchFamily="34" charset="-120"/>
                        </a:rPr>
                        <a:t>0.962</a:t>
                      </a:r>
                      <a:endParaRPr lang="en-US" sz="1100" dirty="0">
                        <a:latin typeface="Calibri" charset="0"/>
                        <a:ea typeface="Calibri" charset="0"/>
                        <a:cs typeface="Calibri" charset="0"/>
                      </a:endParaRPr>
                    </a:p>
                    <a:p>
                      <a:pPr algn="ctr" indent="0" marL="0">
                        <a:buNone/>
                      </a:pPr>
                      <a:r>
                        <a:rPr lang="en-US" sz="1100" dirty="0">
                          <a:solidFill>
                            <a:srgbClr val="1B2127"/>
                          </a:solidFill>
                          <a:latin typeface="Calibri" pitchFamily="34" charset="0"/>
                          <a:ea typeface="Calibri" pitchFamily="34" charset="-122"/>
                          <a:cs typeface="Calibri" pitchFamily="34" charset="-120"/>
                        </a:rPr>
                        <a:t>River ARF</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c>
                  <a:txBody>
                    <a:bodyPr/>
                    <a:lstStyle/>
                    <a:p>
                      <a:pPr algn="ctr" indent="0" marL="0">
                        <a:buNone/>
                      </a:pPr>
                      <a:r>
                        <a:rPr lang="en-US" sz="1100" dirty="0">
                          <a:solidFill>
                            <a:srgbClr val="1B2127"/>
                          </a:solidFill>
                          <a:latin typeface="Calibri" pitchFamily="34" charset="0"/>
                          <a:ea typeface="Calibri" pitchFamily="34" charset="-122"/>
                          <a:cs typeface="Calibri" pitchFamily="34" charset="-120"/>
                        </a:rPr>
                        <a:t>0.892</a:t>
                      </a:r>
                      <a:endParaRPr lang="en-US" sz="1100" dirty="0">
                        <a:latin typeface="Calibri" charset="0"/>
                        <a:ea typeface="Calibri" charset="0"/>
                        <a:cs typeface="Calibri" charset="0"/>
                      </a:endParaRPr>
                    </a:p>
                    <a:p>
                      <a:pPr algn="ctr" indent="0" marL="0">
                        <a:buNone/>
                      </a:pPr>
                      <a:r>
                        <a:rPr lang="en-US" sz="1100" dirty="0">
                          <a:solidFill>
                            <a:srgbClr val="1B2127"/>
                          </a:solidFill>
                          <a:latin typeface="Calibri" pitchFamily="34" charset="0"/>
                          <a:ea typeface="Calibri" pitchFamily="34" charset="-122"/>
                          <a:cs typeface="Calibri" pitchFamily="34" charset="-120"/>
                        </a:rPr>
                        <a:t>River ARF</a:t>
                      </a:r>
                      <a:endParaRPr lang="en-US" sz="1100" dirty="0">
                        <a:latin typeface="Calibri" charset="0"/>
                        <a:ea typeface="Calibri" charset="0"/>
                        <a:cs typeface="Calibri" charset="0"/>
                      </a:endParaRPr>
                    </a:p>
                  </a:txBody>
                  <a:tcPr marL="36576" marR="36576" marT="36576" marB="36576" anchor="ctr">
                    <a:lnL w="9525" cap="flat" cmpd="sng" algn="ctr">
                      <a:solidFill>
                        <a:srgbClr val="DDE2E6"/>
                      </a:solidFill>
                      <a:prstDash val="solid"/>
                      <a:round/>
                      <a:headEnd type="none" w="med" len="med"/>
                      <a:tailEnd type="none" w="med" len="med"/>
                    </a:lnL>
                    <a:lnR w="9525" cap="flat" cmpd="sng" algn="ctr">
                      <a:solidFill>
                        <a:srgbClr val="DDE2E6"/>
                      </a:solidFill>
                      <a:prstDash val="solid"/>
                      <a:round/>
                      <a:headEnd type="none" w="med" len="med"/>
                      <a:tailEnd type="none" w="med" len="med"/>
                    </a:lnR>
                    <a:lnT w="9525" cap="flat" cmpd="sng" algn="ctr">
                      <a:solidFill>
                        <a:srgbClr val="DDE2E6"/>
                      </a:solidFill>
                      <a:prstDash val="solid"/>
                      <a:round/>
                      <a:headEnd type="none" w="med" len="med"/>
                      <a:tailEnd type="none" w="med" len="med"/>
                    </a:lnT>
                    <a:lnB w="9525" cap="flat" cmpd="sng" algn="ctr">
                      <a:solidFill>
                        <a:srgbClr val="DDE2E6"/>
                      </a:solidFill>
                      <a:prstDash val="solid"/>
                      <a:round/>
                      <a:headEnd type="none" w="med" len="med"/>
                      <a:tailEnd type="none" w="med" len="med"/>
                    </a:lnB>
                  </a:tcPr>
                </a:tc>
              </a:tr>
            </a:tbl>
          </a:graphicData>
        </a:graphic>
      </p:graphicFrame>
      <p:sp>
        <p:nvSpPr>
          <p:cNvPr id="20" name="ds-note"/>
          <p:cNvSpPr txBox="1"/>
          <p:nvPr/>
        </p:nvSpPr>
        <p:spPr>
          <a:xfrm>
            <a:off x="7132320" y="3931920"/>
            <a:ext cx="4510735" cy="228600"/>
          </a:xfrm>
          <a:prstGeom prst="rect">
            <a:avLst/>
          </a:prstGeom>
          <a:noFill/>
          <a:ln/>
        </p:spPr>
        <p:txBody>
          <a:bodyPr wrap="square" lIns="0" tIns="0" rIns="0" bIns="0" rtlCol="0" anchor="ctr"/>
          <a:lstStyle/>
          <a:p>
            <a:pPr indent="0" marL="0">
              <a:buNone/>
            </a:pPr>
            <a:r>
              <a:rPr lang="en-US" sz="1000" i="1" dirty="0">
                <a:solidFill>
                  <a:srgbClr val="5B6670"/>
                </a:solidFill>
              </a:rPr>
              <a:t>Mean of 10 seeds; natural order is one run.</a:t>
            </a:r>
            <a:endParaRPr lang="en-US" sz="1000" dirty="0"/>
          </a:p>
        </p:txBody>
      </p:sp>
      <p:sp>
        <p:nvSpPr>
          <p:cNvPr id="21" name="ds-bullets"/>
          <p:cNvSpPr txBox="1"/>
          <p:nvPr/>
        </p:nvSpPr>
        <p:spPr>
          <a:xfrm>
            <a:off x="7132320" y="4206240"/>
            <a:ext cx="4510735"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127"/>
                </a:solidFill>
              </a:rPr>
              <a:t>Retraining recovers most of the loss: 60% → 82%–84% simulated; attack F1 0.02 → 0.73–0.89 on CICIDS2017.</a:t>
            </a:r>
            <a:endParaRPr lang="en-US" sz="1300" dirty="0"/>
          </a:p>
          <a:p>
            <a:pPr marL="342900" indent="-342900">
              <a:spcAft>
                <a:spcPts val="600"/>
              </a:spcAft>
              <a:buSzPct val="100000"/>
              <a:buChar char="•"/>
            </a:pPr>
            <a:r>
              <a:rPr lang="en-US" sz="1300" dirty="0">
                <a:solidFill>
                  <a:srgbClr val="1B2127"/>
                </a:solidFill>
              </a:rPr>
              <a:t>On every stream with drift, another trigger beats the hybrid; noisier triggers retrain more often.</a:t>
            </a:r>
            <a:endParaRPr lang="en-US" sz="1300" dirty="0"/>
          </a:p>
          <a:p>
            <a:pPr marL="342900" indent="-342900">
              <a:spcAft>
                <a:spcPts val="600"/>
              </a:spcAft>
              <a:buSzPct val="100000"/>
              <a:buChar char="•"/>
            </a:pPr>
            <a:r>
              <a:rPr lang="en-US" sz="1300" dirty="0">
                <a:solidFill>
                  <a:srgbClr val="1B2127"/>
                </a:solidFill>
              </a:rPr>
              <a:t>Online learners (HAT, ARF) adapt by themselves and are as good or better.</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alarm-marker-267"/>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PART 4 · LIVE SYSTEM, DEMO AND CONCLUSION</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Live pipeline: one-sided ADWIN cuts false alarms</a:t>
            </a:r>
            <a:endParaRPr lang="en-US" sz="3200" dirty="0"/>
          </a:p>
        </p:txBody>
      </p:sp>
      <p:graphicFrame>
        <p:nvGraphicFramePr>
          <p:cNvPr id="5" name="time-chart-269" descr=""/>
          <p:cNvGraphicFramePr/>
          <p:nvPr/>
        </p:nvGraphicFramePr>
        <p:xfrm>
          <a:off x="548640" y="1554480"/>
          <a:ext cx="6675120" cy="1920240"/>
        </p:xfrm>
        <a:graphic xmlns:a="http://schemas.openxmlformats.org/drawingml/2006/main">
          <a:graphicData uri="http://schemas.openxmlformats.org/drawingml/2006/chart">
            <c:chart xmlns:c="http://schemas.openxmlformats.org/drawingml/2006/chart" r:id="rId1"/>
          </a:graphicData>
        </a:graphic>
      </p:graphicFrame>
      <p:sp>
        <p:nvSpPr>
          <p:cNvPr id="6" name="drift-line-270"/>
          <p:cNvSpPr/>
          <p:nvPr/>
        </p:nvSpPr>
        <p:spPr>
          <a:xfrm>
            <a:off x="2531185" y="1900123"/>
            <a:ext cx="0" cy="1382573"/>
          </a:xfrm>
          <a:prstGeom prst="line">
            <a:avLst/>
          </a:prstGeom>
          <a:noFill/>
          <a:ln w="15875">
            <a:solidFill>
              <a:srgbClr val="1B2127"/>
            </a:solidFill>
            <a:prstDash val="dash"/>
          </a:ln>
        </p:spPr>
      </p:sp>
      <p:sp>
        <p:nvSpPr>
          <p:cNvPr id="7" name="drift-line-271"/>
          <p:cNvSpPr/>
          <p:nvPr/>
        </p:nvSpPr>
        <p:spPr>
          <a:xfrm>
            <a:off x="4055958" y="1900123"/>
            <a:ext cx="0" cy="1382573"/>
          </a:xfrm>
          <a:prstGeom prst="line">
            <a:avLst/>
          </a:prstGeom>
          <a:noFill/>
          <a:ln w="15875">
            <a:solidFill>
              <a:srgbClr val="1B2127"/>
            </a:solidFill>
            <a:prstDash val="dash"/>
          </a:ln>
        </p:spPr>
      </p:sp>
      <p:sp>
        <p:nvSpPr>
          <p:cNvPr id="8" name="drift-line-272"/>
          <p:cNvSpPr/>
          <p:nvPr/>
        </p:nvSpPr>
        <p:spPr>
          <a:xfrm>
            <a:off x="5580732" y="1900123"/>
            <a:ext cx="0" cy="1382573"/>
          </a:xfrm>
          <a:prstGeom prst="line">
            <a:avLst/>
          </a:prstGeom>
          <a:noFill/>
          <a:ln w="15875">
            <a:solidFill>
              <a:srgbClr val="1B2127"/>
            </a:solidFill>
            <a:prstDash val="dash"/>
          </a:ln>
        </p:spPr>
      </p:sp>
      <p:sp>
        <p:nvSpPr>
          <p:cNvPr id="9" name="alarm-273"/>
          <p:cNvSpPr/>
          <p:nvPr/>
        </p:nvSpPr>
        <p:spPr>
          <a:xfrm flipV="1">
            <a:off x="1687417" y="2814084"/>
            <a:ext cx="164592" cy="139903"/>
          </a:xfrm>
          <a:prstGeom prst="triangle">
            <a:avLst/>
          </a:prstGeom>
          <a:solidFill>
            <a:srgbClr val="FFFFFF"/>
          </a:solidFill>
          <a:ln w="19050">
            <a:solidFill>
              <a:srgbClr val="D62828"/>
            </a:solidFill>
            <a:prstDash val="solid"/>
          </a:ln>
        </p:spPr>
      </p:sp>
      <p:sp>
        <p:nvSpPr>
          <p:cNvPr id="10" name="alarm-274"/>
          <p:cNvSpPr/>
          <p:nvPr/>
        </p:nvSpPr>
        <p:spPr>
          <a:xfrm flipV="1">
            <a:off x="2454073" y="2795650"/>
            <a:ext cx="164592" cy="139903"/>
          </a:xfrm>
          <a:prstGeom prst="triangle">
            <a:avLst/>
          </a:prstGeom>
          <a:solidFill>
            <a:srgbClr val="D62828"/>
          </a:solidFill>
          <a:ln w="9525">
            <a:solidFill>
              <a:srgbClr val="FFFFFF"/>
            </a:solidFill>
            <a:prstDash val="solid"/>
          </a:ln>
        </p:spPr>
      </p:sp>
      <p:sp>
        <p:nvSpPr>
          <p:cNvPr id="11" name="alarm-275"/>
          <p:cNvSpPr/>
          <p:nvPr/>
        </p:nvSpPr>
        <p:spPr>
          <a:xfrm flipV="1">
            <a:off x="3977017" y="2712696"/>
            <a:ext cx="164592" cy="139903"/>
          </a:xfrm>
          <a:prstGeom prst="triangle">
            <a:avLst/>
          </a:prstGeom>
          <a:solidFill>
            <a:srgbClr val="D62828"/>
          </a:solidFill>
          <a:ln w="9525">
            <a:solidFill>
              <a:srgbClr val="FFFFFF"/>
            </a:solidFill>
            <a:prstDash val="solid"/>
          </a:ln>
        </p:spPr>
      </p:sp>
      <p:sp>
        <p:nvSpPr>
          <p:cNvPr id="12" name="alarm-276"/>
          <p:cNvSpPr/>
          <p:nvPr/>
        </p:nvSpPr>
        <p:spPr>
          <a:xfrm flipV="1">
            <a:off x="5268805" y="2685044"/>
            <a:ext cx="164592" cy="139903"/>
          </a:xfrm>
          <a:prstGeom prst="triangle">
            <a:avLst/>
          </a:prstGeom>
          <a:solidFill>
            <a:srgbClr val="FFFFFF"/>
          </a:solidFill>
          <a:ln w="19050">
            <a:solidFill>
              <a:srgbClr val="D62828"/>
            </a:solidFill>
            <a:prstDash val="solid"/>
          </a:ln>
        </p:spPr>
      </p:sp>
      <p:sp>
        <p:nvSpPr>
          <p:cNvPr id="13" name="alarm-277"/>
          <p:cNvSpPr/>
          <p:nvPr/>
        </p:nvSpPr>
        <p:spPr>
          <a:xfrm flipV="1">
            <a:off x="6658179" y="2602090"/>
            <a:ext cx="164592" cy="139903"/>
          </a:xfrm>
          <a:prstGeom prst="triangle">
            <a:avLst/>
          </a:prstGeom>
          <a:solidFill>
            <a:srgbClr val="FFFFFF"/>
          </a:solidFill>
          <a:ln w="19050">
            <a:solidFill>
              <a:srgbClr val="D62828"/>
            </a:solidFill>
            <a:prstDash val="solid"/>
          </a:ln>
        </p:spPr>
      </p:sp>
      <p:sp>
        <p:nvSpPr>
          <p:cNvPr id="14" name="panel-title"/>
          <p:cNvSpPr txBox="1"/>
          <p:nvPr/>
        </p:nvSpPr>
        <p:spPr>
          <a:xfrm>
            <a:off x="1097280" y="1554480"/>
            <a:ext cx="6035040" cy="274320"/>
          </a:xfrm>
          <a:prstGeom prst="rect">
            <a:avLst/>
          </a:prstGeom>
          <a:noFill/>
          <a:ln/>
        </p:spPr>
        <p:txBody>
          <a:bodyPr wrap="square" lIns="0" tIns="0" rIns="0" bIns="0" rtlCol="0" anchor="ctr"/>
          <a:lstStyle/>
          <a:p>
            <a:pPr indent="0" marL="0">
              <a:buNone/>
            </a:pPr>
            <a:r>
              <a:rPr lang="en-US" sz="1300" b="1" dirty="0">
                <a:solidFill>
                  <a:srgbClr val="1B2127"/>
                </a:solidFill>
              </a:rPr>
              <a:t>Two-sided hybrid: </a:t>
            </a:r>
            <a:pPr indent="0" marL="0">
              <a:buNone/>
            </a:pPr>
            <a:r>
              <a:rPr lang="en-US" sz="1300" dirty="0">
                <a:solidFill>
                  <a:srgbClr val="1B2127"/>
                </a:solidFill>
              </a:rPr>
              <a:t>F1 0.50, 2 of 3 drifts, 3 false alarms</a:t>
            </a:r>
            <a:endParaRPr lang="en-US" sz="1300" dirty="0"/>
          </a:p>
        </p:txBody>
      </p:sp>
      <p:graphicFrame>
        <p:nvGraphicFramePr>
          <p:cNvPr id="15" name="time-chart-279" descr=""/>
          <p:cNvGraphicFramePr/>
          <p:nvPr/>
        </p:nvGraphicFramePr>
        <p:xfrm>
          <a:off x="548640" y="3611880"/>
          <a:ext cx="6675120" cy="1920240"/>
        </p:xfrm>
        <a:graphic xmlns:a="http://schemas.openxmlformats.org/drawingml/2006/main">
          <a:graphicData uri="http://schemas.openxmlformats.org/drawingml/2006/chart">
            <c:chart xmlns:c="http://schemas.openxmlformats.org/drawingml/2006/chart" r:id="rId2"/>
          </a:graphicData>
        </a:graphic>
      </p:graphicFrame>
      <p:sp>
        <p:nvSpPr>
          <p:cNvPr id="16" name="drift-line-280"/>
          <p:cNvSpPr/>
          <p:nvPr/>
        </p:nvSpPr>
        <p:spPr>
          <a:xfrm>
            <a:off x="2531185" y="3957523"/>
            <a:ext cx="0" cy="1382573"/>
          </a:xfrm>
          <a:prstGeom prst="line">
            <a:avLst/>
          </a:prstGeom>
          <a:noFill/>
          <a:ln w="15875">
            <a:solidFill>
              <a:srgbClr val="1B2127"/>
            </a:solidFill>
            <a:prstDash val="dash"/>
          </a:ln>
        </p:spPr>
      </p:sp>
      <p:sp>
        <p:nvSpPr>
          <p:cNvPr id="17" name="drift-line-281"/>
          <p:cNvSpPr/>
          <p:nvPr/>
        </p:nvSpPr>
        <p:spPr>
          <a:xfrm>
            <a:off x="4055958" y="3957523"/>
            <a:ext cx="0" cy="1382573"/>
          </a:xfrm>
          <a:prstGeom prst="line">
            <a:avLst/>
          </a:prstGeom>
          <a:noFill/>
          <a:ln w="15875">
            <a:solidFill>
              <a:srgbClr val="1B2127"/>
            </a:solidFill>
            <a:prstDash val="dash"/>
          </a:ln>
        </p:spPr>
      </p:sp>
      <p:sp>
        <p:nvSpPr>
          <p:cNvPr id="18" name="drift-line-282"/>
          <p:cNvSpPr/>
          <p:nvPr/>
        </p:nvSpPr>
        <p:spPr>
          <a:xfrm>
            <a:off x="5580732" y="3957523"/>
            <a:ext cx="0" cy="1382573"/>
          </a:xfrm>
          <a:prstGeom prst="line">
            <a:avLst/>
          </a:prstGeom>
          <a:noFill/>
          <a:ln w="15875">
            <a:solidFill>
              <a:srgbClr val="1B2127"/>
            </a:solidFill>
            <a:prstDash val="dash"/>
          </a:ln>
        </p:spPr>
      </p:sp>
      <p:sp>
        <p:nvSpPr>
          <p:cNvPr id="19" name="alarm-283"/>
          <p:cNvSpPr/>
          <p:nvPr/>
        </p:nvSpPr>
        <p:spPr>
          <a:xfrm flipV="1">
            <a:off x="1687417" y="4871484"/>
            <a:ext cx="164592" cy="139903"/>
          </a:xfrm>
          <a:prstGeom prst="triangle">
            <a:avLst/>
          </a:prstGeom>
          <a:solidFill>
            <a:srgbClr val="FFFFFF"/>
          </a:solidFill>
          <a:ln w="19050">
            <a:solidFill>
              <a:srgbClr val="D62828"/>
            </a:solidFill>
            <a:prstDash val="solid"/>
          </a:ln>
        </p:spPr>
      </p:sp>
      <p:sp>
        <p:nvSpPr>
          <p:cNvPr id="20" name="alarm-284"/>
          <p:cNvSpPr/>
          <p:nvPr/>
        </p:nvSpPr>
        <p:spPr>
          <a:xfrm flipV="1">
            <a:off x="2454073" y="4853050"/>
            <a:ext cx="164592" cy="139903"/>
          </a:xfrm>
          <a:prstGeom prst="triangle">
            <a:avLst/>
          </a:prstGeom>
          <a:solidFill>
            <a:srgbClr val="D62828"/>
          </a:solidFill>
          <a:ln w="9525">
            <a:solidFill>
              <a:srgbClr val="FFFFFF"/>
            </a:solidFill>
            <a:prstDash val="solid"/>
          </a:ln>
        </p:spPr>
      </p:sp>
      <p:sp>
        <p:nvSpPr>
          <p:cNvPr id="21" name="alarm-285"/>
          <p:cNvSpPr/>
          <p:nvPr/>
        </p:nvSpPr>
        <p:spPr>
          <a:xfrm flipV="1">
            <a:off x="3977017" y="4770096"/>
            <a:ext cx="164592" cy="139903"/>
          </a:xfrm>
          <a:prstGeom prst="triangle">
            <a:avLst/>
          </a:prstGeom>
          <a:solidFill>
            <a:srgbClr val="D62828"/>
          </a:solidFill>
          <a:ln w="9525">
            <a:solidFill>
              <a:srgbClr val="FFFFFF"/>
            </a:solidFill>
            <a:prstDash val="solid"/>
          </a:ln>
        </p:spPr>
      </p:sp>
      <p:sp>
        <p:nvSpPr>
          <p:cNvPr id="22" name="alarm-286"/>
          <p:cNvSpPr/>
          <p:nvPr/>
        </p:nvSpPr>
        <p:spPr>
          <a:xfrm flipV="1">
            <a:off x="5600596" y="4263152"/>
            <a:ext cx="164592" cy="139903"/>
          </a:xfrm>
          <a:prstGeom prst="triangle">
            <a:avLst/>
          </a:prstGeom>
          <a:solidFill>
            <a:srgbClr val="D62828"/>
          </a:solidFill>
          <a:ln w="9525">
            <a:solidFill>
              <a:srgbClr val="FFFFFF"/>
            </a:solidFill>
            <a:prstDash val="solid"/>
          </a:ln>
        </p:spPr>
      </p:sp>
      <p:sp>
        <p:nvSpPr>
          <p:cNvPr id="23" name="panel-title"/>
          <p:cNvSpPr txBox="1"/>
          <p:nvPr/>
        </p:nvSpPr>
        <p:spPr>
          <a:xfrm>
            <a:off x="1097280" y="3611880"/>
            <a:ext cx="6035040" cy="274320"/>
          </a:xfrm>
          <a:prstGeom prst="rect">
            <a:avLst/>
          </a:prstGeom>
          <a:noFill/>
          <a:ln/>
        </p:spPr>
        <p:txBody>
          <a:bodyPr wrap="square" lIns="0" tIns="0" rIns="0" bIns="0" rtlCol="0" anchor="ctr"/>
          <a:lstStyle/>
          <a:p>
            <a:pPr indent="0" marL="0">
              <a:buNone/>
            </a:pPr>
            <a:r>
              <a:rPr lang="en-US" sz="1300" b="1" dirty="0">
                <a:solidFill>
                  <a:srgbClr val="1B2127"/>
                </a:solidFill>
              </a:rPr>
              <a:t>One-sided hybrid (ADWIN-up): </a:t>
            </a:r>
            <a:pPr indent="0" marL="0">
              <a:buNone/>
            </a:pPr>
            <a:r>
              <a:rPr lang="en-US" sz="1300" dirty="0">
                <a:solidFill>
                  <a:srgbClr val="1B2127"/>
                </a:solidFill>
              </a:rPr>
              <a:t>F1 0.86, 3 of 3 drifts, 1 false alarm</a:t>
            </a:r>
            <a:endParaRPr lang="en-US" sz="1300" dirty="0"/>
          </a:p>
        </p:txBody>
      </p:sp>
      <p:sp>
        <p:nvSpPr>
          <p:cNvPr id="24" name="x-tick"/>
          <p:cNvSpPr txBox="1"/>
          <p:nvPr/>
        </p:nvSpPr>
        <p:spPr>
          <a:xfrm>
            <a:off x="2073985" y="5385816"/>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5k</a:t>
            </a:r>
            <a:endParaRPr lang="en-US" sz="1100" dirty="0"/>
          </a:p>
        </p:txBody>
      </p:sp>
      <p:sp>
        <p:nvSpPr>
          <p:cNvPr id="25" name="x-tick"/>
          <p:cNvSpPr txBox="1"/>
          <p:nvPr/>
        </p:nvSpPr>
        <p:spPr>
          <a:xfrm>
            <a:off x="3598758" y="5385816"/>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10k</a:t>
            </a:r>
            <a:endParaRPr lang="en-US" sz="1100" dirty="0"/>
          </a:p>
        </p:txBody>
      </p:sp>
      <p:sp>
        <p:nvSpPr>
          <p:cNvPr id="26" name="x-tick"/>
          <p:cNvSpPr txBox="1"/>
          <p:nvPr/>
        </p:nvSpPr>
        <p:spPr>
          <a:xfrm>
            <a:off x="5123532" y="5385816"/>
            <a:ext cx="914400" cy="228600"/>
          </a:xfrm>
          <a:prstGeom prst="rect">
            <a:avLst/>
          </a:prstGeom>
          <a:noFill/>
          <a:ln/>
        </p:spPr>
        <p:txBody>
          <a:bodyPr wrap="square" lIns="0" tIns="0" rIns="0" bIns="0" rtlCol="0" anchor="ctr"/>
          <a:lstStyle/>
          <a:p>
            <a:pPr algn="ctr" indent="0" marL="0">
              <a:buNone/>
            </a:pPr>
            <a:r>
              <a:rPr lang="en-US" sz="1100" dirty="0">
                <a:solidFill>
                  <a:srgbClr val="5B6670"/>
                </a:solidFill>
              </a:rPr>
              <a:t>15k</a:t>
            </a:r>
            <a:endParaRPr lang="en-US" sz="1100" dirty="0"/>
          </a:p>
        </p:txBody>
      </p:sp>
      <p:sp>
        <p:nvSpPr>
          <p:cNvPr id="27" name="live-caption"/>
          <p:cNvSpPr txBox="1"/>
          <p:nvPr/>
        </p:nvSpPr>
        <p:spPr>
          <a:xfrm>
            <a:off x="548640" y="5806440"/>
            <a:ext cx="6675120" cy="274320"/>
          </a:xfrm>
          <a:prstGeom prst="rect">
            <a:avLst/>
          </a:prstGeom>
          <a:noFill/>
          <a:ln/>
        </p:spPr>
        <p:txBody>
          <a:bodyPr wrap="square" lIns="0" tIns="0" rIns="0" bIns="0" rtlCol="0" anchor="ctr"/>
          <a:lstStyle/>
          <a:p>
            <a:pPr indent="0" marL="0">
              <a:buNone/>
            </a:pPr>
            <a:r>
              <a:rPr lang="en-US" sz="1100" i="1" dirty="0">
                <a:solidFill>
                  <a:srgbClr val="5B6670"/>
                </a:solidFill>
              </a:rPr>
              <a:t>Rolling error rate exported from InfluxDB. Filled triangle = detection, hollow = false alarm; dashed = true drift.</a:t>
            </a:r>
            <a:endParaRPr lang="en-US" sz="1100" dirty="0"/>
          </a:p>
        </p:txBody>
      </p:sp>
      <p:sp>
        <p:nvSpPr>
          <p:cNvPr id="28" name="live-stat"/>
          <p:cNvSpPr txBox="1"/>
          <p:nvPr/>
        </p:nvSpPr>
        <p:spPr>
          <a:xfrm>
            <a:off x="7635240" y="1600200"/>
            <a:ext cx="4007815" cy="548640"/>
          </a:xfrm>
          <a:prstGeom prst="rect">
            <a:avLst/>
          </a:prstGeom>
          <a:noFill/>
          <a:ln/>
        </p:spPr>
        <p:txBody>
          <a:bodyPr wrap="square" lIns="0" tIns="0" rIns="0" bIns="0" rtlCol="0" anchor="ctr"/>
          <a:lstStyle/>
          <a:p>
            <a:pPr indent="0" marL="0">
              <a:buNone/>
            </a:pPr>
            <a:r>
              <a:rPr lang="en-US" sz="3200" b="1" dirty="0">
                <a:solidFill>
                  <a:srgbClr val="1B2127"/>
                </a:solidFill>
              </a:rPr>
              <a:t>~805</a:t>
            </a:r>
            <a:endParaRPr lang="en-US" sz="3200" dirty="0"/>
          </a:p>
        </p:txBody>
      </p:sp>
      <p:sp>
        <p:nvSpPr>
          <p:cNvPr id="29" name="live-stat-l"/>
          <p:cNvSpPr txBox="1"/>
          <p:nvPr/>
        </p:nvSpPr>
        <p:spPr>
          <a:xfrm>
            <a:off x="7635240" y="2130552"/>
            <a:ext cx="4007815" cy="274320"/>
          </a:xfrm>
          <a:prstGeom prst="rect">
            <a:avLst/>
          </a:prstGeom>
          <a:noFill/>
          <a:ln/>
        </p:spPr>
        <p:txBody>
          <a:bodyPr wrap="square" lIns="0" tIns="0" rIns="0" bIns="0" rtlCol="0" anchor="ctr"/>
          <a:lstStyle/>
          <a:p>
            <a:pPr indent="0" marL="0">
              <a:buNone/>
            </a:pPr>
            <a:r>
              <a:rPr lang="en-US" sz="1300" dirty="0">
                <a:solidFill>
                  <a:srgbClr val="5B6670"/>
                </a:solidFill>
              </a:rPr>
              <a:t>records/s through one consumer</a:t>
            </a:r>
            <a:endParaRPr lang="en-US" sz="1300" dirty="0"/>
          </a:p>
        </p:txBody>
      </p:sp>
      <p:sp>
        <p:nvSpPr>
          <p:cNvPr id="30" name="live-stat"/>
          <p:cNvSpPr txBox="1"/>
          <p:nvPr/>
        </p:nvSpPr>
        <p:spPr>
          <a:xfrm>
            <a:off x="7635240" y="2587752"/>
            <a:ext cx="4007815" cy="548640"/>
          </a:xfrm>
          <a:prstGeom prst="rect">
            <a:avLst/>
          </a:prstGeom>
          <a:noFill/>
          <a:ln/>
        </p:spPr>
        <p:txBody>
          <a:bodyPr wrap="square" lIns="0" tIns="0" rIns="0" bIns="0" rtlCol="0" anchor="ctr"/>
          <a:lstStyle/>
          <a:p>
            <a:pPr indent="0" marL="0">
              <a:buNone/>
            </a:pPr>
            <a:r>
              <a:rPr lang="en-US" sz="3200" b="1" dirty="0">
                <a:solidFill>
                  <a:srgbClr val="1B2127"/>
                </a:solidFill>
              </a:rPr>
              <a:t>3.1 / 2.2 ms</a:t>
            </a:r>
            <a:endParaRPr lang="en-US" sz="3200" dirty="0"/>
          </a:p>
        </p:txBody>
      </p:sp>
      <p:sp>
        <p:nvSpPr>
          <p:cNvPr id="31" name="live-stat-l"/>
          <p:cNvSpPr txBox="1"/>
          <p:nvPr/>
        </p:nvSpPr>
        <p:spPr>
          <a:xfrm>
            <a:off x="7635240" y="3118104"/>
            <a:ext cx="4007815" cy="274320"/>
          </a:xfrm>
          <a:prstGeom prst="rect">
            <a:avLst/>
          </a:prstGeom>
          <a:noFill/>
          <a:ln/>
        </p:spPr>
        <p:txBody>
          <a:bodyPr wrap="square" lIns="0" tIns="0" rIns="0" bIns="0" rtlCol="0" anchor="ctr"/>
          <a:lstStyle/>
          <a:p>
            <a:pPr indent="0" marL="0">
              <a:buNone/>
            </a:pPr>
            <a:r>
              <a:rPr lang="en-US" sz="1300" dirty="0">
                <a:solidFill>
                  <a:srgbClr val="5B6670"/>
                </a:solidFill>
              </a:rPr>
              <a:t>median end-to-end latency (two- / one-sided)</a:t>
            </a:r>
            <a:endParaRPr lang="en-US" sz="1300" dirty="0"/>
          </a:p>
        </p:txBody>
      </p:sp>
      <p:sp>
        <p:nvSpPr>
          <p:cNvPr id="32" name="live-stat"/>
          <p:cNvSpPr txBox="1"/>
          <p:nvPr/>
        </p:nvSpPr>
        <p:spPr>
          <a:xfrm>
            <a:off x="7635240" y="3575304"/>
            <a:ext cx="4007815" cy="548640"/>
          </a:xfrm>
          <a:prstGeom prst="rect">
            <a:avLst/>
          </a:prstGeom>
          <a:noFill/>
          <a:ln/>
        </p:spPr>
        <p:txBody>
          <a:bodyPr wrap="square" lIns="0" tIns="0" rIns="0" bIns="0" rtlCol="0" anchor="ctr"/>
          <a:lstStyle/>
          <a:p>
            <a:pPr indent="0" marL="0">
              <a:buNone/>
            </a:pPr>
            <a:r>
              <a:rPr lang="en-US" sz="3200" b="1" dirty="0">
                <a:solidFill>
                  <a:srgbClr val="184F95"/>
                </a:solidFill>
              </a:rPr>
              <a:t>0.50 → 0.86</a:t>
            </a:r>
            <a:endParaRPr lang="en-US" sz="3200" dirty="0"/>
          </a:p>
        </p:txBody>
      </p:sp>
      <p:sp>
        <p:nvSpPr>
          <p:cNvPr id="33" name="live-stat-l"/>
          <p:cNvSpPr txBox="1"/>
          <p:nvPr/>
        </p:nvSpPr>
        <p:spPr>
          <a:xfrm>
            <a:off x="7635240" y="4105656"/>
            <a:ext cx="4007815" cy="274320"/>
          </a:xfrm>
          <a:prstGeom prst="rect">
            <a:avLst/>
          </a:prstGeom>
          <a:noFill/>
          <a:ln/>
        </p:spPr>
        <p:txBody>
          <a:bodyPr wrap="square" lIns="0" tIns="0" rIns="0" bIns="0" rtlCol="0" anchor="ctr"/>
          <a:lstStyle/>
          <a:p>
            <a:pPr indent="0" marL="0">
              <a:buNone/>
            </a:pPr>
            <a:r>
              <a:rPr lang="en-US" sz="1300" dirty="0">
                <a:solidFill>
                  <a:srgbClr val="5B6670"/>
                </a:solidFill>
              </a:rPr>
              <a:t>detection F1 with one-sided ADWIN</a:t>
            </a:r>
            <a:endParaRPr lang="en-US" sz="1300" dirty="0"/>
          </a:p>
        </p:txBody>
      </p:sp>
      <p:sp>
        <p:nvSpPr>
          <p:cNvPr id="34" name="card-298"/>
          <p:cNvSpPr/>
          <p:nvPr/>
        </p:nvSpPr>
        <p:spPr>
          <a:xfrm>
            <a:off x="7635240" y="4663440"/>
            <a:ext cx="4007815" cy="1371600"/>
          </a:xfrm>
          <a:prstGeom prst="roundRect">
            <a:avLst>
              <a:gd name="adj" fmla="val 5333"/>
            </a:avLst>
          </a:prstGeom>
          <a:solidFill>
            <a:srgbClr val="1B2127"/>
          </a:solidFill>
          <a:ln/>
        </p:spPr>
      </p:sp>
      <p:sp>
        <p:nvSpPr>
          <p:cNvPr id="35" name="icon-bg-299"/>
          <p:cNvSpPr/>
          <p:nvPr/>
        </p:nvSpPr>
        <p:spPr>
          <a:xfrm>
            <a:off x="7818120" y="4846320"/>
            <a:ext cx="502920" cy="502920"/>
          </a:xfrm>
          <a:prstGeom prst="ellipse">
            <a:avLst/>
          </a:prstGeom>
          <a:solidFill>
            <a:srgbClr val="2A78D6"/>
          </a:solidFill>
          <a:ln/>
        </p:spPr>
      </p:sp>
      <p:pic>
        <p:nvPicPr>
          <p:cNvPr id="36" name="icon-300" descr="preencoded.png">    </p:cNvPr>
          <p:cNvPicPr>
            <a:picLocks noChangeAspect="1"/>
          </p:cNvPicPr>
          <p:nvPr/>
        </p:nvPicPr>
        <p:blipFill>
          <a:blip r:embed="rId3"/>
          <a:stretch>
            <a:fillRect/>
          </a:stretch>
        </p:blipFill>
        <p:spPr>
          <a:xfrm>
            <a:off x="7928762" y="4956962"/>
            <a:ext cx="281635" cy="281635"/>
          </a:xfrm>
          <a:prstGeom prst="rect">
            <a:avLst/>
          </a:prstGeom>
        </p:spPr>
      </p:pic>
      <p:sp>
        <p:nvSpPr>
          <p:cNvPr id="37" name="demo-cue"/>
          <p:cNvSpPr txBox="1"/>
          <p:nvPr/>
        </p:nvSpPr>
        <p:spPr>
          <a:xfrm>
            <a:off x="8503920" y="4754880"/>
            <a:ext cx="3001975" cy="1188720"/>
          </a:xfrm>
          <a:prstGeom prst="rect">
            <a:avLst/>
          </a:prstGeom>
          <a:noFill/>
          <a:ln/>
        </p:spPr>
        <p:txBody>
          <a:bodyPr wrap="square" lIns="0" tIns="0" rIns="0" bIns="0" rtlCol="0" anchor="ctr"/>
          <a:lstStyle/>
          <a:p>
            <a:pPr indent="0" marL="0">
              <a:buNone/>
            </a:pPr>
            <a:r>
              <a:rPr lang="en-US" sz="1500" b="1" dirty="0">
                <a:solidFill>
                  <a:srgbClr val="FFFFFF"/>
                </a:solidFill>
              </a:rPr>
              <a:t>Live demo</a:t>
            </a:r>
            <a:endParaRPr lang="en-US" sz="1500" dirty="0"/>
          </a:p>
          <a:p>
            <a:pPr indent="0" marL="0">
              <a:buNone/>
            </a:pPr>
            <a:r>
              <a:rPr lang="en-US" sz="1500" dirty="0">
                <a:solidFill>
                  <a:srgbClr val="C9D1D8"/>
                </a:solidFill>
              </a:rPr>
              <a:t>Switch to the dashboard: Page 1, then Page 2</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alarm-marker-302"/>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8A949D"/>
                </a:solidFill>
              </a:rPr>
              <a:t>PART 4 · LIVE SYSTEM, DEMO AND CONCLUSION</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FFFFFF"/>
                </a:solidFill>
              </a:rPr>
              <a:t>Conclusion</a:t>
            </a:r>
            <a:endParaRPr lang="en-US" sz="3200" dirty="0"/>
          </a:p>
        </p:txBody>
      </p:sp>
      <p:sp>
        <p:nvSpPr>
          <p:cNvPr id="5" name="c-num"/>
          <p:cNvSpPr txBox="1"/>
          <p:nvPr/>
        </p:nvSpPr>
        <p:spPr>
          <a:xfrm>
            <a:off x="548640" y="1481328"/>
            <a:ext cx="548640" cy="640080"/>
          </a:xfrm>
          <a:prstGeom prst="rect">
            <a:avLst/>
          </a:prstGeom>
          <a:noFill/>
          <a:ln/>
        </p:spPr>
        <p:txBody>
          <a:bodyPr wrap="square" lIns="0" tIns="0" rIns="0" bIns="0" rtlCol="0" anchor="ctr"/>
          <a:lstStyle/>
          <a:p>
            <a:pPr indent="0" marL="0">
              <a:buNone/>
            </a:pPr>
            <a:r>
              <a:rPr lang="en-US" sz="3400" b="1" dirty="0">
                <a:solidFill>
                  <a:srgbClr val="2A78D6"/>
                </a:solidFill>
              </a:rPr>
              <a:t>1</a:t>
            </a:r>
            <a:endParaRPr lang="en-US" sz="3400" dirty="0"/>
          </a:p>
        </p:txBody>
      </p:sp>
      <p:sp>
        <p:nvSpPr>
          <p:cNvPr id="6" name="c-head"/>
          <p:cNvSpPr txBox="1"/>
          <p:nvPr/>
        </p:nvSpPr>
        <p:spPr>
          <a:xfrm>
            <a:off x="1234440" y="1554480"/>
            <a:ext cx="10424160" cy="329184"/>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 single detector wins on everything.</a:t>
            </a:r>
            <a:endParaRPr lang="en-US" sz="1800" dirty="0"/>
          </a:p>
        </p:txBody>
      </p:sp>
      <p:sp>
        <p:nvSpPr>
          <p:cNvPr id="7" name="c-body"/>
          <p:cNvSpPr txBox="1"/>
          <p:nvPr/>
        </p:nvSpPr>
        <p:spPr>
          <a:xfrm>
            <a:off x="1234440" y="1901952"/>
            <a:ext cx="10424160" cy="365760"/>
          </a:xfrm>
          <a:prstGeom prst="rect">
            <a:avLst/>
          </a:prstGeom>
          <a:noFill/>
          <a:ln/>
        </p:spPr>
        <p:txBody>
          <a:bodyPr wrap="square" lIns="0" tIns="0" rIns="0" bIns="0" rtlCol="0" anchor="t"/>
          <a:lstStyle/>
          <a:p>
            <a:pPr indent="0" marL="0">
              <a:buNone/>
            </a:pPr>
            <a:r>
              <a:rPr lang="en-US" sz="1300" dirty="0">
                <a:solidFill>
                  <a:srgbClr val="C9D1D8"/>
                </a:solidFill>
              </a:rPr>
              <a:t>Mean-based detectors (HDDM-A, ADWIN) balance accuracy and false alarms best; EDDM and HDDM-W are fastest but noisy.</a:t>
            </a:r>
            <a:endParaRPr lang="en-US" sz="1300" dirty="0"/>
          </a:p>
        </p:txBody>
      </p:sp>
      <p:sp>
        <p:nvSpPr>
          <p:cNvPr id="8" name="c-num"/>
          <p:cNvSpPr txBox="1"/>
          <p:nvPr/>
        </p:nvSpPr>
        <p:spPr>
          <a:xfrm>
            <a:off x="548640" y="2350008"/>
            <a:ext cx="548640" cy="640080"/>
          </a:xfrm>
          <a:prstGeom prst="rect">
            <a:avLst/>
          </a:prstGeom>
          <a:noFill/>
          <a:ln/>
        </p:spPr>
        <p:txBody>
          <a:bodyPr wrap="square" lIns="0" tIns="0" rIns="0" bIns="0" rtlCol="0" anchor="ctr"/>
          <a:lstStyle/>
          <a:p>
            <a:pPr indent="0" marL="0">
              <a:buNone/>
            </a:pPr>
            <a:r>
              <a:rPr lang="en-US" sz="3400" b="1" dirty="0">
                <a:solidFill>
                  <a:srgbClr val="2A78D6"/>
                </a:solidFill>
              </a:rPr>
              <a:t>2</a:t>
            </a:r>
            <a:endParaRPr lang="en-US" sz="3400" dirty="0"/>
          </a:p>
        </p:txBody>
      </p:sp>
      <p:sp>
        <p:nvSpPr>
          <p:cNvPr id="9" name="c-head"/>
          <p:cNvSpPr txBox="1"/>
          <p:nvPr/>
        </p:nvSpPr>
        <p:spPr>
          <a:xfrm>
            <a:off x="1234440" y="2423160"/>
            <a:ext cx="10424160" cy="329184"/>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hybrid is at least as good as the best single detector, at low cost.</a:t>
            </a:r>
            <a:endParaRPr lang="en-US" sz="1800" dirty="0"/>
          </a:p>
        </p:txBody>
      </p:sp>
      <p:sp>
        <p:nvSpPr>
          <p:cNvPr id="10" name="c-body"/>
          <p:cNvSpPr txBox="1"/>
          <p:nvPr/>
        </p:nvSpPr>
        <p:spPr>
          <a:xfrm>
            <a:off x="1234440" y="2770632"/>
            <a:ext cx="10424160" cy="365760"/>
          </a:xfrm>
          <a:prstGeom prst="rect">
            <a:avLst/>
          </a:prstGeom>
          <a:noFill/>
          <a:ln/>
        </p:spPr>
        <p:txBody>
          <a:bodyPr wrap="square" lIns="0" tIns="0" rIns="0" bIns="0" rtlCol="0" anchor="t"/>
          <a:lstStyle/>
          <a:p>
            <a:pPr indent="0" marL="0">
              <a:buNone/>
            </a:pPr>
            <a:r>
              <a:rPr lang="en-US" sz="1300" dirty="0">
                <a:solidFill>
                  <a:srgbClr val="C9D1D8"/>
                </a:solidFill>
              </a:rPr>
              <a:t>Best F1 in all three settings (0.733 / 0.786 / 0.591), significantly better than HDDM-A, tied with ADWIN when settings vary; 3.1 µs and 4.4 kB.</a:t>
            </a:r>
            <a:endParaRPr lang="en-US" sz="1300" dirty="0"/>
          </a:p>
        </p:txBody>
      </p:sp>
      <p:sp>
        <p:nvSpPr>
          <p:cNvPr id="11" name="c-num"/>
          <p:cNvSpPr txBox="1"/>
          <p:nvPr/>
        </p:nvSpPr>
        <p:spPr>
          <a:xfrm>
            <a:off x="548640" y="3218688"/>
            <a:ext cx="548640" cy="640080"/>
          </a:xfrm>
          <a:prstGeom prst="rect">
            <a:avLst/>
          </a:prstGeom>
          <a:noFill/>
          <a:ln/>
        </p:spPr>
        <p:txBody>
          <a:bodyPr wrap="square" lIns="0" tIns="0" rIns="0" bIns="0" rtlCol="0" anchor="ctr"/>
          <a:lstStyle/>
          <a:p>
            <a:pPr indent="0" marL="0">
              <a:buNone/>
            </a:pPr>
            <a:r>
              <a:rPr lang="en-US" sz="3400" b="1" dirty="0">
                <a:solidFill>
                  <a:srgbClr val="2A78D6"/>
                </a:solidFill>
              </a:rPr>
              <a:t>3</a:t>
            </a:r>
            <a:endParaRPr lang="en-US" sz="3400" dirty="0"/>
          </a:p>
        </p:txBody>
      </p:sp>
      <p:sp>
        <p:nvSpPr>
          <p:cNvPr id="12" name="c-head"/>
          <p:cNvSpPr txBox="1"/>
          <p:nvPr/>
        </p:nvSpPr>
        <p:spPr>
          <a:xfrm>
            <a:off x="1234440" y="3291840"/>
            <a:ext cx="10424160" cy="329184"/>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Drift-triggered retraining is essential; the best trigger is not settled.</a:t>
            </a:r>
            <a:endParaRPr lang="en-US" sz="1800" dirty="0"/>
          </a:p>
        </p:txBody>
      </p:sp>
      <p:sp>
        <p:nvSpPr>
          <p:cNvPr id="13" name="c-body"/>
          <p:cNvSpPr txBox="1"/>
          <p:nvPr/>
        </p:nvSpPr>
        <p:spPr>
          <a:xfrm>
            <a:off x="1234440" y="3639312"/>
            <a:ext cx="10424160" cy="365760"/>
          </a:xfrm>
          <a:prstGeom prst="rect">
            <a:avLst/>
          </a:prstGeom>
          <a:noFill/>
          <a:ln/>
        </p:spPr>
        <p:txBody>
          <a:bodyPr wrap="square" lIns="0" tIns="0" rIns="0" bIns="0" rtlCol="0" anchor="t"/>
          <a:lstStyle/>
          <a:p>
            <a:pPr indent="0" marL="0">
              <a:buNone/>
            </a:pPr>
            <a:r>
              <a:rPr lang="en-US" sz="1300" dirty="0">
                <a:solidFill>
                  <a:srgbClr val="C9D1D8"/>
                </a:solidFill>
              </a:rPr>
              <a:t>Static 60% vs 82%–84% retrained; online learners are competitive.</a:t>
            </a:r>
            <a:endParaRPr lang="en-US" sz="1300" dirty="0"/>
          </a:p>
        </p:txBody>
      </p:sp>
      <p:sp>
        <p:nvSpPr>
          <p:cNvPr id="14" name="card-313"/>
          <p:cNvSpPr/>
          <p:nvPr/>
        </p:nvSpPr>
        <p:spPr>
          <a:xfrm>
            <a:off x="548640" y="4206240"/>
            <a:ext cx="5410048" cy="1463040"/>
          </a:xfrm>
          <a:prstGeom prst="roundRect">
            <a:avLst>
              <a:gd name="adj" fmla="val 5000"/>
            </a:avLst>
          </a:prstGeom>
          <a:solidFill>
            <a:srgbClr val="29323A"/>
          </a:solidFill>
          <a:ln/>
        </p:spPr>
      </p:sp>
      <p:sp>
        <p:nvSpPr>
          <p:cNvPr id="15" name="lim-head"/>
          <p:cNvSpPr txBox="1"/>
          <p:nvPr/>
        </p:nvSpPr>
        <p:spPr>
          <a:xfrm>
            <a:off x="777240" y="4297680"/>
            <a:ext cx="4952848" cy="292608"/>
          </a:xfrm>
          <a:prstGeom prst="rect">
            <a:avLst/>
          </a:prstGeom>
          <a:noFill/>
          <a:ln/>
        </p:spPr>
        <p:txBody>
          <a:bodyPr wrap="square" lIns="0" tIns="0" rIns="0" bIns="0" rtlCol="0" anchor="ctr"/>
          <a:lstStyle/>
          <a:p>
            <a:pPr indent="0" marL="0">
              <a:buNone/>
            </a:pPr>
            <a:r>
              <a:rPr lang="en-US" sz="1500" b="1" dirty="0">
                <a:solidFill>
                  <a:srgbClr val="F2A0A0"/>
                </a:solidFill>
              </a:rPr>
              <a:t>Limitations</a:t>
            </a:r>
            <a:endParaRPr lang="en-US" sz="1500" dirty="0"/>
          </a:p>
        </p:txBody>
      </p:sp>
      <p:sp>
        <p:nvSpPr>
          <p:cNvPr id="16" name="lim-body"/>
          <p:cNvSpPr txBox="1"/>
          <p:nvPr/>
        </p:nvSpPr>
        <p:spPr>
          <a:xfrm>
            <a:off x="777240" y="4617720"/>
            <a:ext cx="4952848" cy="10058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rgbClr val="C9D1D8"/>
                </a:solidFill>
              </a:rPr>
              <a:t>Synthetic Bernoulli errors; real errors are autocorrelated</a:t>
            </a:r>
            <a:endParaRPr lang="en-US" sz="1300" dirty="0"/>
          </a:p>
          <a:p>
            <a:pPr marL="342900" indent="-342900">
              <a:spcAft>
                <a:spcPts val="200"/>
              </a:spcAft>
              <a:buSzPct val="100000"/>
              <a:buChar char="•"/>
            </a:pPr>
            <a:r>
              <a:rPr lang="en-US" sz="1300" dirty="0">
                <a:solidFill>
                  <a:srgbClr val="C9D1D8"/>
                </a:solidFill>
              </a:rPr>
              <a:t>Only the hybrid was tuned; baselines use defaults</a:t>
            </a:r>
            <a:endParaRPr lang="en-US" sz="1300" dirty="0"/>
          </a:p>
          <a:p>
            <a:pPr marL="342900" indent="-342900">
              <a:spcAft>
                <a:spcPts val="200"/>
              </a:spcAft>
              <a:buSzPct val="100000"/>
              <a:buChar char="•"/>
            </a:pPr>
            <a:r>
              <a:rPr lang="en-US" sz="1300" dirty="0">
                <a:solidFill>
                  <a:srgbClr val="C9D1D8"/>
                </a:solidFill>
              </a:rPr>
              <a:t>Dataset samples, one kind of injected drift; one machine, one consumer</a:t>
            </a:r>
            <a:endParaRPr lang="en-US" sz="1300" dirty="0"/>
          </a:p>
        </p:txBody>
      </p:sp>
      <p:sp>
        <p:nvSpPr>
          <p:cNvPr id="17" name="card-316"/>
          <p:cNvSpPr/>
          <p:nvPr/>
        </p:nvSpPr>
        <p:spPr>
          <a:xfrm>
            <a:off x="6233008" y="4206240"/>
            <a:ext cx="5410048" cy="1463040"/>
          </a:xfrm>
          <a:prstGeom prst="roundRect">
            <a:avLst>
              <a:gd name="adj" fmla="val 5000"/>
            </a:avLst>
          </a:prstGeom>
          <a:solidFill>
            <a:srgbClr val="29323A"/>
          </a:solidFill>
          <a:ln/>
        </p:spPr>
      </p:sp>
      <p:sp>
        <p:nvSpPr>
          <p:cNvPr id="18" name="lim-head"/>
          <p:cNvSpPr txBox="1"/>
          <p:nvPr/>
        </p:nvSpPr>
        <p:spPr>
          <a:xfrm>
            <a:off x="6461608" y="4297680"/>
            <a:ext cx="4952848" cy="292608"/>
          </a:xfrm>
          <a:prstGeom prst="rect">
            <a:avLst/>
          </a:prstGeom>
          <a:noFill/>
          <a:ln/>
        </p:spPr>
        <p:txBody>
          <a:bodyPr wrap="square" lIns="0" tIns="0" rIns="0" bIns="0" rtlCol="0" anchor="ctr"/>
          <a:lstStyle/>
          <a:p>
            <a:pPr indent="0" marL="0">
              <a:buNone/>
            </a:pPr>
            <a:r>
              <a:rPr lang="en-US" sz="1500" b="1" dirty="0">
                <a:solidFill>
                  <a:srgbClr val="8FC0F5"/>
                </a:solidFill>
              </a:rPr>
              <a:t>Future work</a:t>
            </a:r>
            <a:endParaRPr lang="en-US" sz="1500" dirty="0"/>
          </a:p>
        </p:txBody>
      </p:sp>
      <p:sp>
        <p:nvSpPr>
          <p:cNvPr id="19" name="lim-body"/>
          <p:cNvSpPr txBox="1"/>
          <p:nvPr/>
        </p:nvSpPr>
        <p:spPr>
          <a:xfrm>
            <a:off x="6461608" y="4617720"/>
            <a:ext cx="4952848" cy="10058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rgbClr val="C9D1D8"/>
                </a:solidFill>
              </a:rPr>
              <a:t>Tune every detector on equal footing</a:t>
            </a:r>
            <a:endParaRPr lang="en-US" sz="1300" dirty="0"/>
          </a:p>
          <a:p>
            <a:pPr marL="342900" indent="-342900">
              <a:spcAft>
                <a:spcPts val="200"/>
              </a:spcAft>
              <a:buSzPct val="100000"/>
              <a:buChar char="•"/>
            </a:pPr>
            <a:r>
              <a:rPr lang="en-US" sz="1300" dirty="0">
                <a:solidFill>
                  <a:srgbClr val="C9D1D8"/>
                </a:solidFill>
              </a:rPr>
              <a:t>Full datasets and other kinds of drift</a:t>
            </a:r>
            <a:endParaRPr lang="en-US" sz="1300" dirty="0"/>
          </a:p>
          <a:p>
            <a:pPr marL="342900" indent="-342900">
              <a:spcAft>
                <a:spcPts val="200"/>
              </a:spcAft>
              <a:buSzPct val="100000"/>
              <a:buChar char="•"/>
            </a:pPr>
            <a:r>
              <a:rPr lang="en-US" sz="1300" dirty="0">
                <a:solidFill>
                  <a:srgbClr val="C9D1D8"/>
                </a:solidFill>
              </a:rPr>
              <a:t>Batch InfluxDB writes and partition the topic to scale the consumer</a:t>
            </a:r>
            <a:endParaRPr lang="en-US" sz="1300" dirty="0"/>
          </a:p>
        </p:txBody>
      </p:sp>
      <p:sp>
        <p:nvSpPr>
          <p:cNvPr id="20" name="thanks"/>
          <p:cNvSpPr txBox="1"/>
          <p:nvPr/>
        </p:nvSpPr>
        <p:spPr>
          <a:xfrm>
            <a:off x="548640" y="5870448"/>
            <a:ext cx="4754880"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Thank you. Questions?</a:t>
            </a:r>
            <a:endParaRPr lang="en-US" sz="2400" dirty="0"/>
          </a:p>
        </p:txBody>
      </p:sp>
      <p:sp>
        <p:nvSpPr>
          <p:cNvPr id="21" name="alarm-320"/>
          <p:cNvSpPr/>
          <p:nvPr/>
        </p:nvSpPr>
        <p:spPr>
          <a:xfrm flipV="1">
            <a:off x="5266944" y="5989320"/>
            <a:ext cx="256032" cy="217627"/>
          </a:xfrm>
          <a:prstGeom prst="triangle">
            <a:avLst/>
          </a:prstGeom>
          <a:solidFill>
            <a:srgbClr val="D62828"/>
          </a:solidFill>
          <a:ln w="9525">
            <a:solidFill>
              <a:srgbClr val="FFFFFF"/>
            </a:solidFill>
            <a:prstDash val="solid"/>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alarm-marker-321"/>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BACKUP · EXPECTED QUESTIONS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Why did EDDM come last, unlike in Paper 1?</a:t>
            </a:r>
            <a:endParaRPr lang="en-US" sz="3200" dirty="0"/>
          </a:p>
        </p:txBody>
      </p:sp>
      <p:sp>
        <p:nvSpPr>
          <p:cNvPr id="5" name="qa-body"/>
          <p:cNvSpPr txBox="1"/>
          <p:nvPr/>
        </p:nvSpPr>
        <p:spPr>
          <a:xfrm>
            <a:off x="548640" y="1783080"/>
            <a:ext cx="694944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127"/>
                </a:solidFill>
              </a:rPr>
              <a:t>EDDM watches the distance between errors, so it is very sensitive: 3.78 false alarms per 1,000 samples, about 34× HDDM-A.</a:t>
            </a:r>
            <a:endParaRPr lang="en-US" sz="1700" dirty="0"/>
          </a:p>
          <a:p>
            <a:pPr marL="342900" indent="-342900">
              <a:spcAft>
                <a:spcPts val="1200"/>
              </a:spcAft>
              <a:buSzPct val="100000"/>
              <a:buChar char="•"/>
            </a:pPr>
            <a:r>
              <a:rPr lang="en-US" sz="1700" dirty="0">
                <a:solidFill>
                  <a:srgbClr val="1B2127"/>
                </a:solidFill>
              </a:rPr>
              <a:t>It does catch 87%–96% of drifts and has the lowest penalised delay among single detectors.</a:t>
            </a:r>
            <a:endParaRPr lang="en-US" sz="1700" dirty="0"/>
          </a:p>
          <a:p>
            <a:pPr marL="342900" indent="-342900">
              <a:spcAft>
                <a:spcPts val="1200"/>
              </a:spcAft>
              <a:buSzPct val="100000"/>
              <a:buChar char="•"/>
            </a:pPr>
            <a:r>
              <a:rPr lang="en-US" sz="1700" dirty="0">
                <a:solidFill>
                  <a:srgbClr val="1B2127"/>
                </a:solidFill>
              </a:rPr>
              <a:t>Our F1 counts every extra alarm as a false alarm; Paper 1's scoring and generator differ, and we used defaults.</a:t>
            </a:r>
            <a:endParaRPr lang="en-US" sz="1700" dirty="0"/>
          </a:p>
          <a:p>
            <a:pPr marL="342900" indent="-342900">
              <a:spcAft>
                <a:spcPts val="1200"/>
              </a:spcAft>
              <a:buSzPct val="100000"/>
              <a:buChar char="•"/>
            </a:pPr>
            <a:r>
              <a:rPr lang="en-US" sz="1700" dirty="0">
                <a:solidFill>
                  <a:srgbClr val="1B2127"/>
                </a:solidFill>
              </a:rPr>
              <a:t>EDDM is last in all three of our settings, so this is not a quirk of one configuration.</a:t>
            </a:r>
            <a:endParaRPr lang="en-US" sz="1700" dirty="0"/>
          </a:p>
        </p:txBody>
      </p:sp>
      <p:sp>
        <p:nvSpPr>
          <p:cNvPr id="6" name="card-324"/>
          <p:cNvSpPr/>
          <p:nvPr/>
        </p:nvSpPr>
        <p:spPr>
          <a:xfrm>
            <a:off x="8001000" y="1783080"/>
            <a:ext cx="3642055" cy="2834640"/>
          </a:xfrm>
          <a:prstGeom prst="roundRect">
            <a:avLst>
              <a:gd name="adj" fmla="val 2581"/>
            </a:avLst>
          </a:prstGeom>
          <a:solidFill>
            <a:srgbClr val="EEF2F5"/>
          </a:solidFill>
          <a:ln/>
        </p:spPr>
      </p:sp>
      <p:sp>
        <p:nvSpPr>
          <p:cNvPr id="7" name="icon-bg-325"/>
          <p:cNvSpPr/>
          <p:nvPr/>
        </p:nvSpPr>
        <p:spPr>
          <a:xfrm>
            <a:off x="8275320" y="2011680"/>
            <a:ext cx="457200" cy="457200"/>
          </a:xfrm>
          <a:prstGeom prst="ellipse">
            <a:avLst/>
          </a:prstGeom>
          <a:solidFill>
            <a:srgbClr val="1B2127"/>
          </a:solidFill>
          <a:ln/>
        </p:spPr>
      </p:sp>
      <p:pic>
        <p:nvPicPr>
          <p:cNvPr id="8" name="icon-326" descr="preencoded.png">    </p:cNvPr>
          <p:cNvPicPr>
            <a:picLocks noChangeAspect="1"/>
          </p:cNvPicPr>
          <p:nvPr/>
        </p:nvPicPr>
        <p:blipFill>
          <a:blip r:embed="rId1"/>
          <a:stretch>
            <a:fillRect/>
          </a:stretch>
        </p:blipFill>
        <p:spPr>
          <a:xfrm>
            <a:off x="8375904" y="2112264"/>
            <a:ext cx="256032" cy="256032"/>
          </a:xfrm>
          <a:prstGeom prst="rect">
            <a:avLst/>
          </a:prstGeom>
        </p:spPr>
      </p:pic>
      <p:sp>
        <p:nvSpPr>
          <p:cNvPr id="9" name="qa-big"/>
          <p:cNvSpPr txBox="1"/>
          <p:nvPr/>
        </p:nvSpPr>
        <p:spPr>
          <a:xfrm>
            <a:off x="8275320" y="2606040"/>
            <a:ext cx="3093415" cy="914400"/>
          </a:xfrm>
          <a:prstGeom prst="rect">
            <a:avLst/>
          </a:prstGeom>
          <a:noFill/>
          <a:ln/>
        </p:spPr>
        <p:txBody>
          <a:bodyPr wrap="square" lIns="0" tIns="0" rIns="0" bIns="0" rtlCol="0" anchor="ctr"/>
          <a:lstStyle/>
          <a:p>
            <a:pPr indent="0" marL="0">
              <a:buNone/>
            </a:pPr>
            <a:r>
              <a:rPr lang="en-US" sz="3800" b="1" dirty="0">
                <a:solidFill>
                  <a:srgbClr val="D62828"/>
                </a:solidFill>
              </a:rPr>
              <a:t>3.78</a:t>
            </a:r>
            <a:endParaRPr lang="en-US" sz="3800" dirty="0"/>
          </a:p>
        </p:txBody>
      </p:sp>
      <p:sp>
        <p:nvSpPr>
          <p:cNvPr id="10" name="qa-big-l"/>
          <p:cNvSpPr txBox="1"/>
          <p:nvPr/>
        </p:nvSpPr>
        <p:spPr>
          <a:xfrm>
            <a:off x="8275320" y="3566160"/>
            <a:ext cx="3093415" cy="914400"/>
          </a:xfrm>
          <a:prstGeom prst="rect">
            <a:avLst/>
          </a:prstGeom>
          <a:noFill/>
          <a:ln/>
        </p:spPr>
        <p:txBody>
          <a:bodyPr wrap="square" lIns="0" tIns="0" rIns="0" bIns="0" rtlCol="0" anchor="t"/>
          <a:lstStyle/>
          <a:p>
            <a:pPr indent="0" marL="0">
              <a:buNone/>
            </a:pPr>
            <a:r>
              <a:rPr lang="en-US" sz="1400" dirty="0">
                <a:solidFill>
                  <a:srgbClr val="3A4651"/>
                </a:solidFill>
              </a:rPr>
              <a:t>EDDM false alarms per 1,000 samples (HDDM-A: 0.11)</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alarm-marker-329"/>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BACKUP · EXPECTED QUESTIONS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Is the hybrid's improvement significant? Against what?</a:t>
            </a:r>
            <a:endParaRPr lang="en-US" sz="3200" dirty="0"/>
          </a:p>
        </p:txBody>
      </p:sp>
      <p:sp>
        <p:nvSpPr>
          <p:cNvPr id="5" name="qa-body"/>
          <p:cNvSpPr txBox="1"/>
          <p:nvPr/>
        </p:nvSpPr>
        <p:spPr>
          <a:xfrm>
            <a:off x="548640" y="1783080"/>
            <a:ext cx="694944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127"/>
                </a:solidFill>
              </a:rPr>
              <a:t>vs HDDM-A: significant in all three settings (p = 0.042, p = 0.021, p &lt; 0.001).</a:t>
            </a:r>
            <a:endParaRPr lang="en-US" sz="1700" dirty="0"/>
          </a:p>
          <a:p>
            <a:pPr marL="342900" indent="-342900">
              <a:spcAft>
                <a:spcPts val="1200"/>
              </a:spcAft>
              <a:buSzPct val="100000"/>
              <a:buChar char="•"/>
            </a:pPr>
            <a:r>
              <a:rPr lang="en-US" sz="1700" dirty="0">
                <a:solidFill>
                  <a:srgbClr val="1B2127"/>
                </a:solidFill>
              </a:rPr>
              <a:t>vs ADWIN: significant in the fixed settings, tied in the varied one (p = 0.284).</a:t>
            </a:r>
            <a:endParaRPr lang="en-US" sz="1700" dirty="0"/>
          </a:p>
          <a:p>
            <a:pPr marL="342900" indent="-342900">
              <a:spcAft>
                <a:spcPts val="1200"/>
              </a:spcAft>
              <a:buSzPct val="100000"/>
              <a:buChar char="•"/>
            </a:pPr>
            <a:r>
              <a:rPr lang="en-US" sz="1700" dirty="0">
                <a:solidFill>
                  <a:srgbClr val="1B2127"/>
                </a:solidFill>
              </a:rPr>
              <a:t>vs HDDM-A + refractory only: tied in the fixed settings (p = 0.217), significant when settings vary.</a:t>
            </a:r>
            <a:endParaRPr lang="en-US" sz="1700" dirty="0"/>
          </a:p>
          <a:p>
            <a:pPr marL="342900" indent="-342900">
              <a:spcAft>
                <a:spcPts val="1200"/>
              </a:spcAft>
              <a:buSzPct val="100000"/>
              <a:buChar char="•"/>
            </a:pPr>
            <a:r>
              <a:rPr lang="en-US" sz="1700" dirty="0">
                <a:solidFill>
                  <a:srgbClr val="1B2127"/>
                </a:solidFill>
              </a:rPr>
              <a:t>Defensible claim: at least as good as the best single detector, and more robust across settings than either part.</a:t>
            </a:r>
            <a:endParaRPr lang="en-US" sz="1700" dirty="0"/>
          </a:p>
        </p:txBody>
      </p:sp>
      <p:sp>
        <p:nvSpPr>
          <p:cNvPr id="6" name="card-332"/>
          <p:cNvSpPr/>
          <p:nvPr/>
        </p:nvSpPr>
        <p:spPr>
          <a:xfrm>
            <a:off x="8001000" y="1783080"/>
            <a:ext cx="3642055" cy="2834640"/>
          </a:xfrm>
          <a:prstGeom prst="roundRect">
            <a:avLst>
              <a:gd name="adj" fmla="val 2581"/>
            </a:avLst>
          </a:prstGeom>
          <a:solidFill>
            <a:srgbClr val="EEF2F5"/>
          </a:solidFill>
          <a:ln/>
        </p:spPr>
      </p:sp>
      <p:sp>
        <p:nvSpPr>
          <p:cNvPr id="7" name="icon-bg-333"/>
          <p:cNvSpPr/>
          <p:nvPr/>
        </p:nvSpPr>
        <p:spPr>
          <a:xfrm>
            <a:off x="8275320" y="2011680"/>
            <a:ext cx="457200" cy="457200"/>
          </a:xfrm>
          <a:prstGeom prst="ellipse">
            <a:avLst/>
          </a:prstGeom>
          <a:solidFill>
            <a:srgbClr val="1B2127"/>
          </a:solidFill>
          <a:ln/>
        </p:spPr>
      </p:sp>
      <p:pic>
        <p:nvPicPr>
          <p:cNvPr id="8" name="icon-334" descr="preencoded.png">    </p:cNvPr>
          <p:cNvPicPr>
            <a:picLocks noChangeAspect="1"/>
          </p:cNvPicPr>
          <p:nvPr/>
        </p:nvPicPr>
        <p:blipFill>
          <a:blip r:embed="rId1"/>
          <a:stretch>
            <a:fillRect/>
          </a:stretch>
        </p:blipFill>
        <p:spPr>
          <a:xfrm>
            <a:off x="8375904" y="2112264"/>
            <a:ext cx="256032" cy="256032"/>
          </a:xfrm>
          <a:prstGeom prst="rect">
            <a:avLst/>
          </a:prstGeom>
        </p:spPr>
      </p:pic>
      <p:sp>
        <p:nvSpPr>
          <p:cNvPr id="9" name="qa-big"/>
          <p:cNvSpPr txBox="1"/>
          <p:nvPr/>
        </p:nvSpPr>
        <p:spPr>
          <a:xfrm>
            <a:off x="8275320" y="2606040"/>
            <a:ext cx="3093415" cy="914400"/>
          </a:xfrm>
          <a:prstGeom prst="rect">
            <a:avLst/>
          </a:prstGeom>
          <a:noFill/>
          <a:ln/>
        </p:spPr>
        <p:txBody>
          <a:bodyPr wrap="square" lIns="0" tIns="0" rIns="0" bIns="0" rtlCol="0" anchor="ctr"/>
          <a:lstStyle/>
          <a:p>
            <a:pPr indent="0" marL="0">
              <a:buNone/>
            </a:pPr>
            <a:r>
              <a:rPr lang="en-US" sz="3800" b="1" dirty="0">
                <a:solidFill>
                  <a:srgbClr val="EB6834"/>
                </a:solidFill>
              </a:rPr>
              <a:t>Mixed</a:t>
            </a:r>
            <a:endParaRPr lang="en-US" sz="3800" dirty="0"/>
          </a:p>
        </p:txBody>
      </p:sp>
      <p:sp>
        <p:nvSpPr>
          <p:cNvPr id="10" name="qa-big-l"/>
          <p:cNvSpPr txBox="1"/>
          <p:nvPr/>
        </p:nvSpPr>
        <p:spPr>
          <a:xfrm>
            <a:off x="8275320" y="3566160"/>
            <a:ext cx="3093415" cy="914400"/>
          </a:xfrm>
          <a:prstGeom prst="rect">
            <a:avLst/>
          </a:prstGeom>
          <a:noFill/>
          <a:ln/>
        </p:spPr>
        <p:txBody>
          <a:bodyPr wrap="square" lIns="0" tIns="0" rIns="0" bIns="0" rtlCol="0" anchor="t"/>
          <a:lstStyle/>
          <a:p>
            <a:pPr indent="0" marL="0">
              <a:buNone/>
            </a:pPr>
            <a:r>
              <a:rPr lang="en-US" sz="1400" dirty="0">
                <a:solidFill>
                  <a:srgbClr val="3A4651"/>
                </a:solidFill>
              </a:rPr>
              <a:t>significant against HDDM-A everywhere, tied with ADWIN in the varied setting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alarm-marker-337"/>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BACKUP · EXPECTED QUESTIONS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Why did you change the hybrid from the proposal?</a:t>
            </a:r>
            <a:endParaRPr lang="en-US" sz="3200" dirty="0"/>
          </a:p>
        </p:txBody>
      </p:sp>
      <p:sp>
        <p:nvSpPr>
          <p:cNvPr id="5" name="qa-body"/>
          <p:cNvSpPr txBox="1"/>
          <p:nvPr/>
        </p:nvSpPr>
        <p:spPr>
          <a:xfrm>
            <a:off x="548640" y="1783080"/>
            <a:ext cx="694944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127"/>
                </a:solidFill>
              </a:rPr>
              <a:t>We built the proposed pairing (fast detector + EDDM): F1 0.223 with OR, 0.417 with AND.</a:t>
            </a:r>
            <a:endParaRPr lang="en-US" sz="1700" dirty="0"/>
          </a:p>
          <a:p>
            <a:pPr marL="342900" indent="-342900">
              <a:spcAft>
                <a:spcPts val="1200"/>
              </a:spcAft>
              <a:buSzPct val="100000"/>
              <a:buChar char="•"/>
            </a:pPr>
            <a:r>
              <a:rPr lang="en-US" sz="1700" dirty="0">
                <a:solidFill>
                  <a:srgbClr val="1B2127"/>
                </a:solidFill>
              </a:rPr>
              <a:t>Paper 2's ADWIN + EDDM pair also failed: F1 0.347, below ADWIN alone (0.611).</a:t>
            </a:r>
            <a:endParaRPr lang="en-US" sz="1700" dirty="0"/>
          </a:p>
          <a:p>
            <a:pPr marL="342900" indent="-342900">
              <a:spcAft>
                <a:spcPts val="1200"/>
              </a:spcAft>
              <a:buSzPct val="100000"/>
              <a:buChar char="•"/>
            </a:pPr>
            <a:r>
              <a:rPr lang="en-US" sz="1700" dirty="0">
                <a:solidFill>
                  <a:srgbClr val="1B2127"/>
                </a:solidFill>
              </a:rPr>
              <a:t>We kept the idea (two complementary detectors + a fusion rule) and changed the pair.</a:t>
            </a:r>
            <a:endParaRPr lang="en-US" sz="1700" dirty="0"/>
          </a:p>
          <a:p>
            <a:pPr marL="342900" indent="-342900">
              <a:spcAft>
                <a:spcPts val="1200"/>
              </a:spcAft>
              <a:buSzPct val="100000"/>
              <a:buChar char="•"/>
            </a:pPr>
            <a:r>
              <a:rPr lang="en-US" sz="1700" dirty="0">
                <a:solidFill>
                  <a:srgbClr val="1B2127"/>
                </a:solidFill>
              </a:rPr>
              <a:t>HDDM-A and ADWIN are each reliable but use different tests, so they miss different drifts.</a:t>
            </a:r>
            <a:endParaRPr lang="en-US" sz="1700" dirty="0"/>
          </a:p>
        </p:txBody>
      </p:sp>
      <p:sp>
        <p:nvSpPr>
          <p:cNvPr id="6" name="card-340"/>
          <p:cNvSpPr/>
          <p:nvPr/>
        </p:nvSpPr>
        <p:spPr>
          <a:xfrm>
            <a:off x="8001000" y="1783080"/>
            <a:ext cx="3642055" cy="2834640"/>
          </a:xfrm>
          <a:prstGeom prst="roundRect">
            <a:avLst>
              <a:gd name="adj" fmla="val 2581"/>
            </a:avLst>
          </a:prstGeom>
          <a:solidFill>
            <a:srgbClr val="EEF2F5"/>
          </a:solidFill>
          <a:ln/>
        </p:spPr>
      </p:sp>
      <p:sp>
        <p:nvSpPr>
          <p:cNvPr id="7" name="icon-bg-341"/>
          <p:cNvSpPr/>
          <p:nvPr/>
        </p:nvSpPr>
        <p:spPr>
          <a:xfrm>
            <a:off x="8275320" y="2011680"/>
            <a:ext cx="457200" cy="457200"/>
          </a:xfrm>
          <a:prstGeom prst="ellipse">
            <a:avLst/>
          </a:prstGeom>
          <a:solidFill>
            <a:srgbClr val="1B2127"/>
          </a:solidFill>
          <a:ln/>
        </p:spPr>
      </p:sp>
      <p:pic>
        <p:nvPicPr>
          <p:cNvPr id="8" name="icon-342" descr="preencoded.png">    </p:cNvPr>
          <p:cNvPicPr>
            <a:picLocks noChangeAspect="1"/>
          </p:cNvPicPr>
          <p:nvPr/>
        </p:nvPicPr>
        <p:blipFill>
          <a:blip r:embed="rId1"/>
          <a:stretch>
            <a:fillRect/>
          </a:stretch>
        </p:blipFill>
        <p:spPr>
          <a:xfrm>
            <a:off x="8375904" y="2112264"/>
            <a:ext cx="256032" cy="256032"/>
          </a:xfrm>
          <a:prstGeom prst="rect">
            <a:avLst/>
          </a:prstGeom>
        </p:spPr>
      </p:pic>
      <p:sp>
        <p:nvSpPr>
          <p:cNvPr id="9" name="qa-big"/>
          <p:cNvSpPr txBox="1"/>
          <p:nvPr/>
        </p:nvSpPr>
        <p:spPr>
          <a:xfrm>
            <a:off x="8275320" y="2606040"/>
            <a:ext cx="3093415" cy="914400"/>
          </a:xfrm>
          <a:prstGeom prst="rect">
            <a:avLst/>
          </a:prstGeom>
          <a:noFill/>
          <a:ln/>
        </p:spPr>
        <p:txBody>
          <a:bodyPr wrap="square" lIns="0" tIns="0" rIns="0" bIns="0" rtlCol="0" anchor="ctr"/>
          <a:lstStyle/>
          <a:p>
            <a:pPr indent="0" marL="0">
              <a:buNone/>
            </a:pPr>
            <a:r>
              <a:rPr lang="en-US" sz="3800" b="1" dirty="0">
                <a:solidFill>
                  <a:srgbClr val="D62828"/>
                </a:solidFill>
              </a:rPr>
              <a:t>0.223</a:t>
            </a:r>
            <a:endParaRPr lang="en-US" sz="3800" dirty="0"/>
          </a:p>
        </p:txBody>
      </p:sp>
      <p:sp>
        <p:nvSpPr>
          <p:cNvPr id="10" name="qa-big-l"/>
          <p:cNvSpPr txBox="1"/>
          <p:nvPr/>
        </p:nvSpPr>
        <p:spPr>
          <a:xfrm>
            <a:off x="8275320" y="3566160"/>
            <a:ext cx="3093415" cy="914400"/>
          </a:xfrm>
          <a:prstGeom prst="rect">
            <a:avLst/>
          </a:prstGeom>
          <a:noFill/>
          <a:ln/>
        </p:spPr>
        <p:txBody>
          <a:bodyPr wrap="square" lIns="0" tIns="0" rIns="0" bIns="0" rtlCol="0" anchor="t"/>
          <a:lstStyle/>
          <a:p>
            <a:pPr indent="0" marL="0">
              <a:buNone/>
            </a:pPr>
            <a:r>
              <a:rPr lang="en-US" sz="1400" dirty="0">
                <a:solidFill>
                  <a:srgbClr val="3A4651"/>
                </a:solidFill>
              </a:rPr>
              <a:t>F1 of the proposed HDDM-W OR EDDM pairing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alarm-marker-345"/>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BACKUP · EXPECTED QUESTIONS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Detection F1 on IoTID20 without drift labels?</a:t>
            </a:r>
            <a:endParaRPr lang="en-US" sz="3200" dirty="0"/>
          </a:p>
        </p:txBody>
      </p:sp>
      <p:sp>
        <p:nvSpPr>
          <p:cNvPr id="5" name="qa-body"/>
          <p:cNvSpPr txBox="1"/>
          <p:nvPr/>
        </p:nvSpPr>
        <p:spPr>
          <a:xfrm>
            <a:off x="548640" y="1783080"/>
            <a:ext cx="694944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127"/>
                </a:solidFill>
              </a:rPr>
              <a:t>In natural order we cannot: drift positions are unknown, so we judge it only by downstream accuracy.</a:t>
            </a:r>
            <a:endParaRPr lang="en-US" sz="1700" dirty="0"/>
          </a:p>
          <a:p>
            <a:pPr marL="342900" indent="-342900">
              <a:spcAft>
                <a:spcPts val="1200"/>
              </a:spcAft>
              <a:buSzPct val="100000"/>
              <a:buChar char="•"/>
            </a:pPr>
            <a:r>
              <a:rPr lang="en-US" sz="1700" dirty="0">
                <a:solidFill>
                  <a:srgbClr val="1B2127"/>
                </a:solidFill>
              </a:rPr>
              <a:t>For scoring we shuffle the rows first. Shuffling removes the natural drift, so the only drift left is the one we add.</a:t>
            </a:r>
            <a:endParaRPr lang="en-US" sz="1700" dirty="0"/>
          </a:p>
          <a:p>
            <a:pPr marL="342900" indent="-342900">
              <a:spcAft>
                <a:spcPts val="1200"/>
              </a:spcAft>
              <a:buSzPct val="100000"/>
              <a:buChar char="•"/>
            </a:pPr>
            <a:r>
              <a:rPr lang="en-US" sz="1700" dirty="0">
                <a:solidFill>
                  <a:srgbClr val="1B2127"/>
                </a:solidFill>
              </a:rPr>
              <a:t>Then at 25%, 50% and 75% of the stream the five most important features swap columns (abrupt, abrupt, gradual over 500 rows), like a sensor remapping.</a:t>
            </a:r>
            <a:endParaRPr lang="en-US" sz="1700" dirty="0"/>
          </a:p>
          <a:p>
            <a:pPr marL="342900" indent="-342900">
              <a:spcAft>
                <a:spcPts val="1200"/>
              </a:spcAft>
              <a:buSzPct val="100000"/>
              <a:buChar char="•"/>
            </a:pPr>
            <a:r>
              <a:rPr lang="en-US" sz="1700" dirty="0">
                <a:solidFill>
                  <a:srgbClr val="1B2127"/>
                </a:solidFill>
              </a:rPr>
              <a:t>Known positions give ground truth, but detection F1 is low for every detector (error rises only a few percent).</a:t>
            </a:r>
            <a:endParaRPr lang="en-US" sz="1700" dirty="0"/>
          </a:p>
        </p:txBody>
      </p:sp>
      <p:sp>
        <p:nvSpPr>
          <p:cNvPr id="6" name="card-348"/>
          <p:cNvSpPr/>
          <p:nvPr/>
        </p:nvSpPr>
        <p:spPr>
          <a:xfrm>
            <a:off x="8001000" y="1783080"/>
            <a:ext cx="3642055" cy="2834640"/>
          </a:xfrm>
          <a:prstGeom prst="roundRect">
            <a:avLst>
              <a:gd name="adj" fmla="val 2581"/>
            </a:avLst>
          </a:prstGeom>
          <a:solidFill>
            <a:srgbClr val="EEF2F5"/>
          </a:solidFill>
          <a:ln/>
        </p:spPr>
      </p:sp>
      <p:sp>
        <p:nvSpPr>
          <p:cNvPr id="7" name="icon-bg-349"/>
          <p:cNvSpPr/>
          <p:nvPr/>
        </p:nvSpPr>
        <p:spPr>
          <a:xfrm>
            <a:off x="8275320" y="2011680"/>
            <a:ext cx="457200" cy="457200"/>
          </a:xfrm>
          <a:prstGeom prst="ellipse">
            <a:avLst/>
          </a:prstGeom>
          <a:solidFill>
            <a:srgbClr val="1B2127"/>
          </a:solidFill>
          <a:ln/>
        </p:spPr>
      </p:sp>
      <p:pic>
        <p:nvPicPr>
          <p:cNvPr id="8" name="icon-350" descr="preencoded.png">    </p:cNvPr>
          <p:cNvPicPr>
            <a:picLocks noChangeAspect="1"/>
          </p:cNvPicPr>
          <p:nvPr/>
        </p:nvPicPr>
        <p:blipFill>
          <a:blip r:embed="rId1"/>
          <a:stretch>
            <a:fillRect/>
          </a:stretch>
        </p:blipFill>
        <p:spPr>
          <a:xfrm>
            <a:off x="8375904" y="2112264"/>
            <a:ext cx="256032" cy="256032"/>
          </a:xfrm>
          <a:prstGeom prst="rect">
            <a:avLst/>
          </a:prstGeom>
        </p:spPr>
      </p:pic>
      <p:sp>
        <p:nvSpPr>
          <p:cNvPr id="9" name="qa-big"/>
          <p:cNvSpPr txBox="1"/>
          <p:nvPr/>
        </p:nvSpPr>
        <p:spPr>
          <a:xfrm>
            <a:off x="8275320" y="2606040"/>
            <a:ext cx="3093415" cy="914400"/>
          </a:xfrm>
          <a:prstGeom prst="rect">
            <a:avLst/>
          </a:prstGeom>
          <a:noFill/>
          <a:ln/>
        </p:spPr>
        <p:txBody>
          <a:bodyPr wrap="square" lIns="0" tIns="0" rIns="0" bIns="0" rtlCol="0" anchor="ctr"/>
          <a:lstStyle/>
          <a:p>
            <a:pPr indent="0" marL="0">
              <a:buNone/>
            </a:pPr>
            <a:r>
              <a:rPr lang="en-US" sz="3800" b="1" dirty="0">
                <a:solidFill>
                  <a:srgbClr val="1B2127"/>
                </a:solidFill>
              </a:rPr>
              <a:t>25 / 50 / 75%</a:t>
            </a:r>
            <a:endParaRPr lang="en-US" sz="3800" dirty="0"/>
          </a:p>
        </p:txBody>
      </p:sp>
      <p:sp>
        <p:nvSpPr>
          <p:cNvPr id="10" name="qa-big-l"/>
          <p:cNvSpPr txBox="1"/>
          <p:nvPr/>
        </p:nvSpPr>
        <p:spPr>
          <a:xfrm>
            <a:off x="8275320" y="3566160"/>
            <a:ext cx="3093415" cy="914400"/>
          </a:xfrm>
          <a:prstGeom prst="rect">
            <a:avLst/>
          </a:prstGeom>
          <a:noFill/>
          <a:ln/>
        </p:spPr>
        <p:txBody>
          <a:bodyPr wrap="square" lIns="0" tIns="0" rIns="0" bIns="0" rtlCol="0" anchor="t"/>
          <a:lstStyle/>
          <a:p>
            <a:pPr indent="0" marL="0">
              <a:buNone/>
            </a:pPr>
            <a:r>
              <a:rPr lang="en-US" sz="1400" dirty="0">
                <a:solidFill>
                  <a:srgbClr val="3A4651"/>
                </a:solidFill>
              </a:rPr>
              <a:t>positions of the injected drifts after shuffling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alarm-marker-353"/>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BACKUP · EXPECTED QUESTIONS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Why does the hybrid equal ADWIN on real data?</a:t>
            </a:r>
            <a:endParaRPr lang="en-US" sz="3200" dirty="0"/>
          </a:p>
        </p:txBody>
      </p:sp>
      <p:sp>
        <p:nvSpPr>
          <p:cNvPr id="5" name="qa-body"/>
          <p:cNvSpPr txBox="1"/>
          <p:nvPr/>
        </p:nvSpPr>
        <p:spPr>
          <a:xfrm>
            <a:off x="548640" y="1783080"/>
            <a:ext cx="694944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127"/>
                </a:solidFill>
              </a:rPr>
              <a:t>The injected drift raises the model's error by only a few percent.</a:t>
            </a:r>
            <a:endParaRPr lang="en-US" sz="1700" dirty="0"/>
          </a:p>
          <a:p>
            <a:pPr marL="342900" indent="-342900">
              <a:spcAft>
                <a:spcPts val="1200"/>
              </a:spcAft>
              <a:buSzPct val="100000"/>
              <a:buChar char="•"/>
            </a:pPr>
            <a:r>
              <a:rPr lang="en-US" sz="1700" dirty="0">
                <a:solidFill>
                  <a:srgbClr val="1B2127"/>
                </a:solidFill>
              </a:rPr>
              <a:t>HDDM-A rarely fires at that size: 0.3 alarms per run on IoTID20, 1.3 on CICIDS2017 (mean of 10 seeds).</a:t>
            </a:r>
            <a:endParaRPr lang="en-US" sz="1700" dirty="0"/>
          </a:p>
          <a:p>
            <a:pPr marL="342900" indent="-342900">
              <a:spcAft>
                <a:spcPts val="1200"/>
              </a:spcAft>
              <a:buSzPct val="100000"/>
              <a:buChar char="•"/>
            </a:pPr>
            <a:r>
              <a:rPr lang="en-US" sz="1700" dirty="0">
                <a:solidFill>
                  <a:srgbClr val="1B2127"/>
                </a:solidFill>
              </a:rPr>
              <a:t>With HDDM-A silent, "HDDM-A OR ADWIN" is just ADWIN.</a:t>
            </a:r>
            <a:endParaRPr lang="en-US" sz="1700" dirty="0"/>
          </a:p>
          <a:p>
            <a:pPr marL="342900" indent="-342900">
              <a:spcAft>
                <a:spcPts val="1200"/>
              </a:spcAft>
              <a:buSzPct val="100000"/>
              <a:buChar char="•"/>
            </a:pPr>
            <a:r>
              <a:rPr lang="en-US" sz="1700" dirty="0">
                <a:solidFill>
                  <a:srgbClr val="1B2127"/>
                </a:solidFill>
              </a:rPr>
              <a:t>So their downstream numbers are identical on both injected-drift datasets.</a:t>
            </a:r>
            <a:endParaRPr lang="en-US" sz="1700" dirty="0"/>
          </a:p>
        </p:txBody>
      </p:sp>
      <p:sp>
        <p:nvSpPr>
          <p:cNvPr id="6" name="card-356"/>
          <p:cNvSpPr/>
          <p:nvPr/>
        </p:nvSpPr>
        <p:spPr>
          <a:xfrm>
            <a:off x="8001000" y="1783080"/>
            <a:ext cx="3642055" cy="2834640"/>
          </a:xfrm>
          <a:prstGeom prst="roundRect">
            <a:avLst>
              <a:gd name="adj" fmla="val 2581"/>
            </a:avLst>
          </a:prstGeom>
          <a:solidFill>
            <a:srgbClr val="EEF2F5"/>
          </a:solidFill>
          <a:ln/>
        </p:spPr>
      </p:sp>
      <p:sp>
        <p:nvSpPr>
          <p:cNvPr id="7" name="icon-bg-357"/>
          <p:cNvSpPr/>
          <p:nvPr/>
        </p:nvSpPr>
        <p:spPr>
          <a:xfrm>
            <a:off x="8275320" y="2011680"/>
            <a:ext cx="457200" cy="457200"/>
          </a:xfrm>
          <a:prstGeom prst="ellipse">
            <a:avLst/>
          </a:prstGeom>
          <a:solidFill>
            <a:srgbClr val="1B2127"/>
          </a:solidFill>
          <a:ln/>
        </p:spPr>
      </p:sp>
      <p:pic>
        <p:nvPicPr>
          <p:cNvPr id="8" name="icon-358" descr="preencoded.png">    </p:cNvPr>
          <p:cNvPicPr>
            <a:picLocks noChangeAspect="1"/>
          </p:cNvPicPr>
          <p:nvPr/>
        </p:nvPicPr>
        <p:blipFill>
          <a:blip r:embed="rId1"/>
          <a:stretch>
            <a:fillRect/>
          </a:stretch>
        </p:blipFill>
        <p:spPr>
          <a:xfrm>
            <a:off x="8375904" y="2112264"/>
            <a:ext cx="256032" cy="256032"/>
          </a:xfrm>
          <a:prstGeom prst="rect">
            <a:avLst/>
          </a:prstGeom>
        </p:spPr>
      </p:pic>
      <p:sp>
        <p:nvSpPr>
          <p:cNvPr id="9" name="qa-big"/>
          <p:cNvSpPr txBox="1"/>
          <p:nvPr/>
        </p:nvSpPr>
        <p:spPr>
          <a:xfrm>
            <a:off x="8275320" y="2606040"/>
            <a:ext cx="3093415" cy="914400"/>
          </a:xfrm>
          <a:prstGeom prst="rect">
            <a:avLst/>
          </a:prstGeom>
          <a:noFill/>
          <a:ln/>
        </p:spPr>
        <p:txBody>
          <a:bodyPr wrap="square" lIns="0" tIns="0" rIns="0" bIns="0" rtlCol="0" anchor="ctr"/>
          <a:lstStyle/>
          <a:p>
            <a:pPr indent="0" marL="0">
              <a:buNone/>
            </a:pPr>
            <a:r>
              <a:rPr lang="en-US" sz="3800" b="1" dirty="0">
                <a:solidFill>
                  <a:srgbClr val="1B2127"/>
                </a:solidFill>
              </a:rPr>
              <a:t>0.3</a:t>
            </a:r>
            <a:endParaRPr lang="en-US" sz="3800" dirty="0"/>
          </a:p>
        </p:txBody>
      </p:sp>
      <p:sp>
        <p:nvSpPr>
          <p:cNvPr id="10" name="qa-big-l"/>
          <p:cNvSpPr txBox="1"/>
          <p:nvPr/>
        </p:nvSpPr>
        <p:spPr>
          <a:xfrm>
            <a:off x="8275320" y="3566160"/>
            <a:ext cx="3093415" cy="914400"/>
          </a:xfrm>
          <a:prstGeom prst="rect">
            <a:avLst/>
          </a:prstGeom>
          <a:noFill/>
          <a:ln/>
        </p:spPr>
        <p:txBody>
          <a:bodyPr wrap="square" lIns="0" tIns="0" rIns="0" bIns="0" rtlCol="0" anchor="t"/>
          <a:lstStyle/>
          <a:p>
            <a:pPr indent="0" marL="0">
              <a:buNone/>
            </a:pPr>
            <a:r>
              <a:rPr lang="en-US" sz="1400" dirty="0">
                <a:solidFill>
                  <a:srgbClr val="3A4651"/>
                </a:solidFill>
              </a:rPr>
              <a:t>HDDM-A alarms per run on IoTID20 with injected drift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alarm-marker-361"/>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BACKUP · EXPECTED QUESTIONS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Why LightGBM, and why do online models do so well?</a:t>
            </a:r>
            <a:endParaRPr lang="en-US" sz="3200" dirty="0"/>
          </a:p>
        </p:txBody>
      </p:sp>
      <p:sp>
        <p:nvSpPr>
          <p:cNvPr id="5" name="qa-body"/>
          <p:cNvSpPr txBox="1"/>
          <p:nvPr/>
        </p:nvSpPr>
        <p:spPr>
          <a:xfrm>
            <a:off x="548640" y="1783080"/>
            <a:ext cx="694944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127"/>
                </a:solidFill>
              </a:rPr>
              <a:t>LightGBM follows Paper 3: a fast, accurate batch model retrained only when drift is detected.</a:t>
            </a:r>
            <a:endParaRPr lang="en-US" sz="1700" dirty="0"/>
          </a:p>
          <a:p>
            <a:pPr marL="342900" indent="-342900">
              <a:spcAft>
                <a:spcPts val="1200"/>
              </a:spcAft>
              <a:buSzPct val="100000"/>
              <a:buChar char="•"/>
            </a:pPr>
            <a:r>
              <a:rPr lang="en-US" sz="1700" dirty="0">
                <a:solidFill>
                  <a:srgbClr val="1B2127"/>
                </a:solidFill>
              </a:rPr>
              <a:t>After an alarm we wait 300 samples, retrain on post-alarm data only (up to 500), and reset the detector.</a:t>
            </a:r>
            <a:endParaRPr lang="en-US" sz="1700" dirty="0"/>
          </a:p>
          <a:p>
            <a:pPr marL="342900" indent="-342900">
              <a:spcAft>
                <a:spcPts val="1200"/>
              </a:spcAft>
              <a:buSzPct val="100000"/>
              <a:buChar char="•"/>
            </a:pPr>
            <a:r>
              <a:rPr lang="en-US" sz="1700" dirty="0">
                <a:solidFill>
                  <a:srgbClr val="1B2127"/>
                </a:solidFill>
              </a:rPr>
              <a:t>River's HAT and ARF adapt continuously: they carry their own drift detectors and replace parts of the model as data changes.</a:t>
            </a:r>
            <a:endParaRPr lang="en-US" sz="1700" dirty="0"/>
          </a:p>
          <a:p>
            <a:pPr marL="342900" indent="-342900">
              <a:spcAft>
                <a:spcPts val="1200"/>
              </a:spcAft>
              <a:buSzPct val="100000"/>
              <a:buChar char="•"/>
            </a:pPr>
            <a:r>
              <a:rPr lang="en-US" sz="1700" dirty="0">
                <a:solidFill>
                  <a:srgbClr val="1B2127"/>
                </a:solidFill>
              </a:rPr>
              <a:t>So they are competitive: HAT 0.848 on the simulated stream, ARF attack F1 0.962 on CICIDS2017 natural order.</a:t>
            </a:r>
            <a:endParaRPr lang="en-US" sz="1700" dirty="0"/>
          </a:p>
        </p:txBody>
      </p:sp>
      <p:sp>
        <p:nvSpPr>
          <p:cNvPr id="6" name="card-364"/>
          <p:cNvSpPr/>
          <p:nvPr/>
        </p:nvSpPr>
        <p:spPr>
          <a:xfrm>
            <a:off x="8001000" y="1783080"/>
            <a:ext cx="3642055" cy="2834640"/>
          </a:xfrm>
          <a:prstGeom prst="roundRect">
            <a:avLst>
              <a:gd name="adj" fmla="val 2581"/>
            </a:avLst>
          </a:prstGeom>
          <a:solidFill>
            <a:srgbClr val="EEF2F5"/>
          </a:solidFill>
          <a:ln/>
        </p:spPr>
      </p:sp>
      <p:sp>
        <p:nvSpPr>
          <p:cNvPr id="7" name="icon-bg-365"/>
          <p:cNvSpPr/>
          <p:nvPr/>
        </p:nvSpPr>
        <p:spPr>
          <a:xfrm>
            <a:off x="8275320" y="2011680"/>
            <a:ext cx="457200" cy="457200"/>
          </a:xfrm>
          <a:prstGeom prst="ellipse">
            <a:avLst/>
          </a:prstGeom>
          <a:solidFill>
            <a:srgbClr val="1B2127"/>
          </a:solidFill>
          <a:ln/>
        </p:spPr>
      </p:sp>
      <p:pic>
        <p:nvPicPr>
          <p:cNvPr id="8" name="icon-366" descr="preencoded.png">    </p:cNvPr>
          <p:cNvPicPr>
            <a:picLocks noChangeAspect="1"/>
          </p:cNvPicPr>
          <p:nvPr/>
        </p:nvPicPr>
        <p:blipFill>
          <a:blip r:embed="rId1"/>
          <a:stretch>
            <a:fillRect/>
          </a:stretch>
        </p:blipFill>
        <p:spPr>
          <a:xfrm>
            <a:off x="8375904" y="2112264"/>
            <a:ext cx="256032" cy="256032"/>
          </a:xfrm>
          <a:prstGeom prst="rect">
            <a:avLst/>
          </a:prstGeom>
        </p:spPr>
      </p:pic>
      <p:sp>
        <p:nvSpPr>
          <p:cNvPr id="9" name="qa-big"/>
          <p:cNvSpPr txBox="1"/>
          <p:nvPr/>
        </p:nvSpPr>
        <p:spPr>
          <a:xfrm>
            <a:off x="8275320" y="2606040"/>
            <a:ext cx="3093415" cy="914400"/>
          </a:xfrm>
          <a:prstGeom prst="rect">
            <a:avLst/>
          </a:prstGeom>
          <a:noFill/>
          <a:ln/>
        </p:spPr>
        <p:txBody>
          <a:bodyPr wrap="square" lIns="0" tIns="0" rIns="0" bIns="0" rtlCol="0" anchor="ctr"/>
          <a:lstStyle/>
          <a:p>
            <a:pPr indent="0" marL="0">
              <a:buNone/>
            </a:pPr>
            <a:r>
              <a:rPr lang="en-US" sz="3800" b="1" dirty="0">
                <a:solidFill>
                  <a:srgbClr val="1B2127"/>
                </a:solidFill>
              </a:rPr>
              <a:t>0.962</a:t>
            </a:r>
            <a:endParaRPr lang="en-US" sz="3800" dirty="0"/>
          </a:p>
        </p:txBody>
      </p:sp>
      <p:sp>
        <p:nvSpPr>
          <p:cNvPr id="10" name="qa-big-l"/>
          <p:cNvSpPr txBox="1"/>
          <p:nvPr/>
        </p:nvSpPr>
        <p:spPr>
          <a:xfrm>
            <a:off x="8275320" y="3566160"/>
            <a:ext cx="3093415" cy="914400"/>
          </a:xfrm>
          <a:prstGeom prst="rect">
            <a:avLst/>
          </a:prstGeom>
          <a:noFill/>
          <a:ln/>
        </p:spPr>
        <p:txBody>
          <a:bodyPr wrap="square" lIns="0" tIns="0" rIns="0" bIns="0" rtlCol="0" anchor="t"/>
          <a:lstStyle/>
          <a:p>
            <a:pPr indent="0" marL="0">
              <a:buNone/>
            </a:pPr>
            <a:r>
              <a:rPr lang="en-US" sz="1400" dirty="0">
                <a:solidFill>
                  <a:srgbClr val="3A4651"/>
                </a:solidFill>
              </a:rPr>
              <a:t>River ARF attack F1 on CICIDS2017 natural order, the best of any strategy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alarm-marker-369"/>
          <p:cNvSpPr/>
          <p:nvPr/>
        </p:nvSpPr>
        <p:spPr>
          <a:xfrm flipV="1">
            <a:off x="548640" y="384048"/>
            <a:ext cx="155448" cy="128016"/>
          </a:xfrm>
          <a:prstGeom prst="triangle">
            <a:avLst/>
          </a:prstGeom>
          <a:solidFill>
            <a:srgbClr val="D62828"/>
          </a:solidFill>
          <a:ln/>
        </p:spPr>
      </p:sp>
      <p:sp>
        <p:nvSpPr>
          <p:cNvPr id="3" name="kicker"/>
          <p:cNvSpPr txBox="1"/>
          <p:nvPr/>
        </p:nvSpPr>
        <p:spPr>
          <a:xfrm>
            <a:off x="795528" y="301752"/>
            <a:ext cx="9144000" cy="292608"/>
          </a:xfrm>
          <a:prstGeom prst="rect">
            <a:avLst/>
          </a:prstGeom>
          <a:noFill/>
          <a:ln/>
        </p:spPr>
        <p:txBody>
          <a:bodyPr wrap="square" lIns="0" tIns="0" rIns="0" bIns="0" rtlCol="0" anchor="ctr"/>
          <a:lstStyle/>
          <a:p>
            <a:pPr indent="0" marL="0">
              <a:buNone/>
            </a:pPr>
            <a:r>
              <a:rPr lang="en-US" sz="1200" b="1" spc="200" kern="0" dirty="0">
                <a:solidFill>
                  <a:srgbClr val="3A4651"/>
                </a:solidFill>
              </a:rPr>
              <a:t>BACKUP · EXPECTED QUESTIONS</a:t>
            </a:r>
            <a:endParaRPr lang="en-US" sz="1200" dirty="0"/>
          </a:p>
        </p:txBody>
      </p:sp>
      <p:sp>
        <p:nvSpPr>
          <p:cNvPr id="4"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a:buNone/>
            </a:pPr>
            <a:r>
              <a:rPr lang="en-US" sz="3200" b="1" dirty="0">
                <a:solidFill>
                  <a:srgbClr val="1B2127"/>
                </a:solidFill>
              </a:rPr>
              <a:t>What limits the live pipeline, and how would you scale it?</a:t>
            </a:r>
            <a:endParaRPr lang="en-US" sz="3200" dirty="0"/>
          </a:p>
        </p:txBody>
      </p:sp>
      <p:sp>
        <p:nvSpPr>
          <p:cNvPr id="5" name="qa-body"/>
          <p:cNvSpPr txBox="1"/>
          <p:nvPr/>
        </p:nvSpPr>
        <p:spPr>
          <a:xfrm>
            <a:off x="548640" y="1783080"/>
            <a:ext cx="694944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B2127"/>
                </a:solidFill>
              </a:rPr>
              <a:t>One consumer handled about 820 records/s at full speed; beyond that, records queue in Kafka (from the report).</a:t>
            </a:r>
            <a:endParaRPr lang="en-US" sz="1700" dirty="0"/>
          </a:p>
          <a:p>
            <a:pPr marL="342900" indent="-342900">
              <a:spcAft>
                <a:spcPts val="1200"/>
              </a:spcAft>
              <a:buSzPct val="100000"/>
              <a:buChar char="•"/>
            </a:pPr>
            <a:r>
              <a:rPr lang="en-US" sz="1700" dirty="0">
                <a:solidFill>
                  <a:srgbClr val="1B2127"/>
                </a:solidFill>
              </a:rPr>
              <a:t>The limit is the single-threaded Python consumer with one synchronous InfluxDB write per record, not Kafka.</a:t>
            </a:r>
            <a:endParaRPr lang="en-US" sz="1700" dirty="0"/>
          </a:p>
          <a:p>
            <a:pPr marL="342900" indent="-342900">
              <a:spcAft>
                <a:spcPts val="1200"/>
              </a:spcAft>
              <a:buSzPct val="100000"/>
              <a:buChar char="•"/>
            </a:pPr>
            <a:r>
              <a:rPr lang="en-US" sz="1700" dirty="0">
                <a:solidFill>
                  <a:srgbClr val="1B2127"/>
                </a:solidFill>
              </a:rPr>
              <a:t>Scale out: batch InfluxDB writes, partition the topic and run a consumer group, write asynchronously.</a:t>
            </a:r>
            <a:endParaRPr lang="en-US" sz="1700" dirty="0"/>
          </a:p>
          <a:p>
            <a:pPr marL="342900" indent="-342900">
              <a:spcAft>
                <a:spcPts val="1200"/>
              </a:spcAft>
              <a:buSzPct val="100000"/>
              <a:buChar char="•"/>
            </a:pPr>
            <a:r>
              <a:rPr lang="en-US" sz="1700" dirty="0">
                <a:solidFill>
                  <a:srgbClr val="1B2127"/>
                </a:solidFill>
              </a:rPr>
              <a:t>The detector itself costs microseconds per record and is not the bottleneck.</a:t>
            </a:r>
            <a:endParaRPr lang="en-US" sz="1700" dirty="0"/>
          </a:p>
        </p:txBody>
      </p:sp>
      <p:sp>
        <p:nvSpPr>
          <p:cNvPr id="6" name="card-372"/>
          <p:cNvSpPr/>
          <p:nvPr/>
        </p:nvSpPr>
        <p:spPr>
          <a:xfrm>
            <a:off x="8001000" y="1783080"/>
            <a:ext cx="3642055" cy="2834640"/>
          </a:xfrm>
          <a:prstGeom prst="roundRect">
            <a:avLst>
              <a:gd name="adj" fmla="val 2581"/>
            </a:avLst>
          </a:prstGeom>
          <a:solidFill>
            <a:srgbClr val="EEF2F5"/>
          </a:solidFill>
          <a:ln/>
        </p:spPr>
      </p:sp>
      <p:sp>
        <p:nvSpPr>
          <p:cNvPr id="7" name="icon-bg-373"/>
          <p:cNvSpPr/>
          <p:nvPr/>
        </p:nvSpPr>
        <p:spPr>
          <a:xfrm>
            <a:off x="8275320" y="2011680"/>
            <a:ext cx="457200" cy="457200"/>
          </a:xfrm>
          <a:prstGeom prst="ellipse">
            <a:avLst/>
          </a:prstGeom>
          <a:solidFill>
            <a:srgbClr val="1B2127"/>
          </a:solidFill>
          <a:ln/>
        </p:spPr>
      </p:sp>
      <p:pic>
        <p:nvPicPr>
          <p:cNvPr id="8" name="icon-374" descr="preencoded.png">    </p:cNvPr>
          <p:cNvPicPr>
            <a:picLocks noChangeAspect="1"/>
          </p:cNvPicPr>
          <p:nvPr/>
        </p:nvPicPr>
        <p:blipFill>
          <a:blip r:embed="rId1"/>
          <a:stretch>
            <a:fillRect/>
          </a:stretch>
        </p:blipFill>
        <p:spPr>
          <a:xfrm>
            <a:off x="8375904" y="2112264"/>
            <a:ext cx="256032" cy="256032"/>
          </a:xfrm>
          <a:prstGeom prst="rect">
            <a:avLst/>
          </a:prstGeom>
        </p:spPr>
      </p:pic>
      <p:sp>
        <p:nvSpPr>
          <p:cNvPr id="9" name="qa-big"/>
          <p:cNvSpPr txBox="1"/>
          <p:nvPr/>
        </p:nvSpPr>
        <p:spPr>
          <a:xfrm>
            <a:off x="8275320" y="2606040"/>
            <a:ext cx="3093415" cy="914400"/>
          </a:xfrm>
          <a:prstGeom prst="rect">
            <a:avLst/>
          </a:prstGeom>
          <a:noFill/>
          <a:ln/>
        </p:spPr>
        <p:txBody>
          <a:bodyPr wrap="square" lIns="0" tIns="0" rIns="0" bIns="0" rtlCol="0" anchor="ctr"/>
          <a:lstStyle/>
          <a:p>
            <a:pPr indent="0" marL="0">
              <a:buNone/>
            </a:pPr>
            <a:r>
              <a:rPr lang="en-US" sz="3800" b="1" dirty="0">
                <a:solidFill>
                  <a:srgbClr val="1B2127"/>
                </a:solidFill>
              </a:rPr>
              <a:t>~805</a:t>
            </a:r>
            <a:endParaRPr lang="en-US" sz="3800" dirty="0"/>
          </a:p>
        </p:txBody>
      </p:sp>
      <p:sp>
        <p:nvSpPr>
          <p:cNvPr id="10" name="qa-big-l"/>
          <p:cNvSpPr txBox="1"/>
          <p:nvPr/>
        </p:nvSpPr>
        <p:spPr>
          <a:xfrm>
            <a:off x="8275320" y="3566160"/>
            <a:ext cx="3093415" cy="914400"/>
          </a:xfrm>
          <a:prstGeom prst="rect">
            <a:avLst/>
          </a:prstGeom>
          <a:noFill/>
          <a:ln/>
        </p:spPr>
        <p:txBody>
          <a:bodyPr wrap="square" lIns="0" tIns="0" rIns="0" bIns="0" rtlCol="0" anchor="t"/>
          <a:lstStyle/>
          <a:p>
            <a:pPr indent="0" marL="0">
              <a:buNone/>
            </a:pPr>
            <a:r>
              <a:rPr lang="en-US" sz="1400" dirty="0">
                <a:solidFill>
                  <a:srgbClr val="3A4651"/>
                </a:solidFill>
              </a:rPr>
              <a:t>records/s at a 1,000/s offer; median latency 3.1 ms, p95 20 ms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9D"/>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Drift Signal">
  <a:themeElements>
    <a:clrScheme name="Drift Signal">
      <a:dk1>
        <a:srgbClr val="1B2127"/>
      </a:dk1>
      <a:lt1>
        <a:srgbClr val="FFFFFF"/>
      </a:lt1>
      <a:dk2>
        <a:srgbClr val="3A4651"/>
      </a:dk2>
      <a:lt2>
        <a:srgbClr val="EEF2F5"/>
      </a:lt2>
      <a:accent1>
        <a:srgbClr val="2A78D6"/>
      </a:accent1>
      <a:accent2>
        <a:srgbClr val="EB6834"/>
      </a:accent2>
      <a:accent3>
        <a:srgbClr val="1BAF7A"/>
      </a:accent3>
      <a:accent4>
        <a:srgbClr val="6250D6"/>
      </a:accent4>
      <a:accent5>
        <a:srgbClr val="EDA100"/>
      </a:accent5>
      <a:accent6>
        <a:srgbClr val="D62828"/>
      </a:accent6>
      <a:hlink>
        <a:srgbClr val="2A78D6"/>
      </a:hlink>
      <a:folHlink>
        <a:srgbClr val="6250D6"/>
      </a:folHlink>
    </a:clrScheme>
    <a:fontScheme name="Drift 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Concept Drift in Industrial Data Streams</dc:title>
  <dc:subject>IOE413 Streaming Data Analytics · Topic 12</dc:subject>
  <dc:creator>G. Jeevan Jadhav (lead), K. Akhil, P. Joshua Naik, Mohammed Suhail Ahmed Khan</dc:creator>
  <cp:lastModifiedBy>G. Jeevan Jadhav (lead), K. Akhil, P. Joshua Naik, Mohammed Suhail Ahmed Khan</cp:lastModifiedBy>
  <cp:revision>1</cp:revision>
  <dcterms:created xsi:type="dcterms:W3CDTF">2026-10-16T18:18:39Z</dcterms:created>
  <dcterms:modified xsi:type="dcterms:W3CDTF">2026-10-16T18:18:39Z</dcterms:modified>
</cp:coreProperties>
</file>